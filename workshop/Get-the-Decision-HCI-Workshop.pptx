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8b584b6-7698-053a-2c62-33936a435fcc}">
          <p14:sldIdLst>
            <p14:sldId id="256"/>
            <p14:sldId id="257"/>
            <p14:sldId id="258"/>
            <p14:sldId id="259"/>
            <p14:sldId id="260"/>
          </p14:sldIdLst>
        </p14:section>
        <p14:section name="Move 1 · Answer first" id="{38a95f8a-e7da-4a7a-9bd2-627fb665d568}">
          <p14:sldIdLst>
            <p14:sldId id="261"/>
            <p14:sldId id="262"/>
            <p14:sldId id="263"/>
            <p14:sldId id="264"/>
            <p14:sldId id="265"/>
          </p14:sldIdLst>
        </p14:section>
        <p14:section name="Move 2 · Story in the titles" id="{5b5cf42c-98ec-e395-d044-9a3a6898215c}">
          <p14:sldIdLst>
            <p14:sldId id="266"/>
            <p14:sldId id="267"/>
            <p14:sldId id="268"/>
            <p14:sldId id="269"/>
            <p14:sldId id="270"/>
          </p14:sldIdLst>
        </p14:section>
        <p14:section name="Break" id="{abbef0fd-4457-bf0b-dc52-55ffec7557e6}">
          <p14:sldIdLst>
            <p14:sldId id="271"/>
          </p14:sldIdLst>
        </p14:section>
        <p14:section name="Move 3 · One chart, one number" id="{269b81fb-6702-82bd-976d-a84ed773cc4e}">
          <p14:sldIdLst>
            <p14:sldId id="272"/>
            <p14:sldId id="273"/>
            <p14:sldId id="274"/>
            <p14:sldId id="275"/>
            <p14:sldId id="276"/>
          </p14:sldIdLst>
        </p14:section>
        <p14:section name="Move 4 · Own the room" id="{2d3cd505-d0fa-d887-02e7-67741a63be71}">
          <p14:sldIdLst>
            <p14:sldId id="277"/>
            <p14:sldId id="278"/>
            <p14:sldId id="279"/>
            <p14:sldId id="280"/>
          </p14:sldIdLst>
        </p14:section>
        <p14:section name="Showtime and close" id="{116fa418-f40a-6cda-bc96-4b17956f7ce8}">
          <p14:sldIdLst>
            <p14:sldId id="281"/>
            <p14:sldId id="282"/>
            <p14:sldId id="283"/>
          </p14:sldIdLst>
        </p14:section>
        <p14:section name="Appendix · Handouts" id="{d94f7a27-02ca-e170-fed2-dc23de084020}">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East Java</c:v>
                </c:pt>
              </c:strCache>
            </c:strRef>
          </c:tx>
          <c:spPr>
            <a:solidFill>
              <a:srgbClr val="E3001B"/>
            </a:solidFill>
            <a:ln w="38100" cap="flat">
              <a:solidFill>
                <a:srgbClr val="E3001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3001B"/>
              </a:solidFill>
              <a:ln w="9525" cap="flat">
                <a:solidFill>
                  <a:srgbClr val="E3001B"/>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4.1</c:v>
                </c:pt>
                <c:pt idx="1">
                  <c:v>4.3</c:v>
                </c:pt>
                <c:pt idx="2">
                  <c:v>4.8</c:v>
                </c:pt>
                <c:pt idx="3">
                  <c:v>5.6</c:v>
                </c:pt>
                <c:pt idx="4">
                  <c:v>6.4</c:v>
                </c:pt>
                <c:pt idx="5">
                  <c:v>7.1</c:v>
                </c:pt>
              </c:numCache>
            </c:numRef>
          </c:val>
          <c:smooth val="0"/>
        </c:ser>
        <c:ser>
          <c:idx val="1"/>
          <c:order val="1"/>
          <c:tx>
            <c:strRef>
              <c:f>Sheet1!$C$1</c:f>
              <c:strCache>
                <c:ptCount val="1"/>
                <c:pt idx="0">
                  <c:v>National</c:v>
                </c:pt>
              </c:strCache>
            </c:strRef>
          </c:tx>
          <c:spPr>
            <a:solidFill>
              <a:srgbClr val="BDBDBD"/>
            </a:solidFill>
            <a:ln w="38100" cap="flat">
              <a:solidFill>
                <a:srgbClr val="BDBDBD"/>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BDBDBD"/>
              </a:solidFill>
              <a:ln w="9525" cap="flat">
                <a:solidFill>
                  <a:srgbClr val="BDBDBD"/>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4.2</c:v>
                </c:pt>
                <c:pt idx="1">
                  <c:v>4.2</c:v>
                </c:pt>
                <c:pt idx="2">
                  <c:v>4.1</c:v>
                </c:pt>
                <c:pt idx="3">
                  <c:v>4.2</c:v>
                </c:pt>
                <c:pt idx="4">
                  <c:v>4.3</c:v>
                </c:pt>
                <c:pt idx="5">
                  <c:v>4.2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DBDBD"/>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3333"/>
                </a:solidFill>
                <a:latin typeface="+mn-lt"/>
              </a:defRPr>
            </a:pPr>
            <a:r>
              <a:rPr sz="1400" b="0" i="0" u="none" strike="noStrike">
                <a:solidFill>
                  <a:srgbClr val="333333"/>
                </a:solidFill>
                <a:latin typeface="+mn-lt"/>
              </a:rPr>
              <a:t>Regional DPD Analysis</a:t>
            </a:r>
          </a:p>
        </c:rich>
      </c:tx>
      <c:layout/>
      <c:overlay val="0"/>
    </c:title>
    <c:autoTitleDeleted val="0"/>
    <c:plotArea>
      <c:layout/>
      <c:barChart>
        <c:barDir val="col"/>
        <c:grouping val="clustered"/>
        <c:varyColors val="0"/>
        <c:ser>
          <c:idx val="0"/>
          <c:order val="0"/>
          <c:tx>
            <c:strRef>
              <c:f>Sheet1!$B$1</c:f>
              <c:strCache>
                <c:ptCount val="1"/>
                <c:pt idx="0">
                  <c:v>Q1 2026</c:v>
                </c:pt>
              </c:strCache>
            </c:strRef>
          </c:tx>
          <c:spPr>
            <a:solidFill>
              <a:srgbClr val="4472C4"/>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Sheet1!$B$2:$B$8</c:f>
              <c:numCache>
                <c:formatCode>General</c:formatCode>
                <c:ptCount val="7"/>
                <c:pt idx="0">
                  <c:v>3.9</c:v>
                </c:pt>
                <c:pt idx="1">
                  <c:v>4.2</c:v>
                </c:pt>
                <c:pt idx="2">
                  <c:v>4</c:v>
                </c:pt>
                <c:pt idx="3">
                  <c:v>4.6</c:v>
                </c:pt>
                <c:pt idx="4">
                  <c:v>4.5</c:v>
                </c:pt>
                <c:pt idx="5">
                  <c:v>4.3</c:v>
                </c:pt>
                <c:pt idx="6">
                  <c:v>4.1</c:v>
                </c:pt>
              </c:numCache>
            </c:numRef>
          </c:val>
        </c:ser>
        <c:ser>
          <c:idx val="1"/>
          <c:order val="1"/>
          <c:tx>
            <c:strRef>
              <c:f>Sheet1!$C$1</c:f>
              <c:strCache>
                <c:ptCount val="1"/>
                <c:pt idx="0">
                  <c:v>Q2 2026</c:v>
                </c:pt>
              </c:strCache>
            </c:strRef>
          </c:tx>
          <c:spPr>
            <a:solidFill>
              <a:srgbClr val="ED7D31"/>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Sheet1!$C$2:$C$8</c:f>
              <c:numCache>
                <c:formatCode>General</c:formatCode>
                <c:ptCount val="7"/>
                <c:pt idx="0">
                  <c:v>4</c:v>
                </c:pt>
                <c:pt idx="1">
                  <c:v>4.3</c:v>
                </c:pt>
                <c:pt idx="2">
                  <c:v>4.1</c:v>
                </c:pt>
                <c:pt idx="3">
                  <c:v>7.1</c:v>
                </c:pt>
                <c:pt idx="4">
                  <c:v>4.6</c:v>
                </c:pt>
                <c:pt idx="5">
                  <c:v>4.4</c:v>
                </c:pt>
                <c:pt idx="6">
                  <c:v>4.2</c:v>
                </c:pt>
              </c:numCache>
            </c:numRef>
          </c:val>
        </c:ser>
        <c:ser>
          <c:idx val="2"/>
          <c:order val="2"/>
          <c:tx>
            <c:strRef>
              <c:f>Sheet1!$D$1</c:f>
              <c:strCache>
                <c:ptCount val="1"/>
                <c:pt idx="0">
                  <c:v>Target</c:v>
                </c:pt>
              </c:strCache>
            </c:strRef>
          </c:tx>
          <c:spPr>
            <a:solidFill>
              <a:srgbClr val="70AD47"/>
            </a:solidFill>
            <a:effectLst/>
          </c:spPr>
          <c:invertIfNegative val="0"/>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Sheet1!$D$2:$D$8</c:f>
              <c:numCache>
                <c:formatCode>General</c:formatCode>
                <c:ptCount val="7"/>
                <c:pt idx="0">
                  <c:v>4.5</c:v>
                </c:pt>
                <c:pt idx="1">
                  <c:v>4.5</c:v>
                </c:pt>
                <c:pt idx="2">
                  <c:v>4.5</c:v>
                </c:pt>
                <c:pt idx="3">
                  <c:v>4.5</c:v>
                </c:pt>
                <c:pt idx="4">
                  <c:v>4.5</c:v>
                </c:pt>
                <c:pt idx="5">
                  <c:v>4.5</c:v>
                </c:pt>
                <c:pt idx="6">
                  <c:v>4.5</c:v>
                </c:pt>
              </c:numCache>
            </c:numRef>
          </c:val>
        </c:ser>
        <c:dLbls>
          <c:numFmt formatCode="0.00" sourceLinked="0"/>
          <c:txPr>
            <a:bodyPr/>
            <a:lstStyle/>
            <a:p>
              <a:pPr>
                <a:defRPr b="0" i="0" strike="noStrike" sz="8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BFBFB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Other regions</c:v>
                </c:pt>
              </c:strCache>
            </c:strRef>
          </c:tx>
          <c:spPr>
            <a:solidFill>
              <a:srgbClr val="C8C8C8"/>
            </a:solidFill>
            <a:effectLst/>
          </c:spPr>
          <c:invertIfNegative val="0"/>
          <c:dLbls>
            <c:numFmt formatCode="0.0&quot;%&quot;;;;"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Sheet1!$B$2:$B$8</c:f>
              <c:numCache>
                <c:formatCode>General</c:formatCode>
                <c:ptCount val="7"/>
                <c:pt idx="0">
                  <c:v>4</c:v>
                </c:pt>
                <c:pt idx="1">
                  <c:v>4.3</c:v>
                </c:pt>
                <c:pt idx="2">
                  <c:v>4.1</c:v>
                </c:pt>
                <c:pt idx="3">
                  <c:v>0</c:v>
                </c:pt>
                <c:pt idx="4">
                  <c:v>4.6</c:v>
                </c:pt>
                <c:pt idx="5">
                  <c:v>4.4</c:v>
                </c:pt>
                <c:pt idx="6">
                  <c:v>4.2</c:v>
                </c:pt>
              </c:numCache>
            </c:numRef>
          </c:val>
        </c:ser>
        <c:ser>
          <c:idx val="1"/>
          <c:order val="1"/>
          <c:tx>
            <c:strRef>
              <c:f>Sheet1!$C$1</c:f>
              <c:strCache>
                <c:ptCount val="1"/>
                <c:pt idx="0">
                  <c:v>East Java</c:v>
                </c:pt>
              </c:strCache>
            </c:strRef>
          </c:tx>
          <c:spPr>
            <a:solidFill>
              <a:srgbClr val="E3001B"/>
            </a:solidFill>
            <a:effectLst/>
          </c:spPr>
          <c:invertIfNegative val="0"/>
          <c:dLbls>
            <c:numFmt formatCode="0.0&quot;%&quot;;;;"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Sheet1!$C$2:$C$8</c:f>
              <c:numCache>
                <c:formatCode>General</c:formatCode>
                <c:ptCount val="7"/>
                <c:pt idx="0">
                  <c:v>0</c:v>
                </c:pt>
                <c:pt idx="1">
                  <c:v>0</c:v>
                </c:pt>
                <c:pt idx="2">
                  <c:v>0</c:v>
                </c:pt>
                <c:pt idx="3">
                  <c:v>7.1</c:v>
                </c:pt>
                <c:pt idx="4">
                  <c:v>0</c:v>
                </c:pt>
                <c:pt idx="5">
                  <c:v>0</c:v>
                </c:pt>
                <c:pt idx="6">
                  <c:v>0</c:v>
                </c:pt>
              </c:numCache>
            </c:numRef>
          </c:val>
        </c:ser>
        <c:dLbls>
          <c:numFmt formatCode="0.0&quot;%&quot;;;;"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DBDBD"/>
            </a:solidFill>
            <a:prstDash val="solid"/>
            <a:round/>
          </a:ln>
        </c:spPr>
        <c:txPr>
          <a:bodyPr/>
          <a:lstStyle/>
          <a:p>
            <a:pPr>
              <a:defRPr sz="13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[0:00–0:01 · As people sit down]
SAY: "Selamat pagi. Write on your index card one presentation you must give in the next 30 days. That is what you will practise today."
DO: Every participant gets a red card and a white card for voting. Case cards on each table. Groups of 3–4.
PHOTO SLOT (right half): "young Indonesian professional presenting to executives in a modern boardroom".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[0:01–0:02 · Hook part 1]
SAY (slowly): "Imagine. You have been preparing for two weeks. You walk in. The Director looks at the clock and says: 'I have 30 seconds. Go.'"
PAUSE 3 seconds. "What does your first slide say? Let's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[0:02–0:05 · Hook part 2: vote]
DO: Show it in silence for 10 seconds. "Red card for A. White card for B. Three, two, one, vote!"
ASK a table (not a person): "Why B?" Expect: the answer is in the title, the red line jumps out, the ask is clear.
SAY: "Same data. Slide A is complete. Slide B is useful. Today you learn four moves that turn A into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[0:05–0:07]
SAY: "When a Director reads your slide they ask three silent questions: What's your answer? Why should I care? What do you need from me? Everything else is backup — it lives in the appendix."
ASK: "Think of the last management review. Which of the three was missing?" 30 seconds of silence first, then 2–3 answers from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[0:07–0:10 · Promise + agenda (Patrick Winston: open with an empowerment promise)]
SAY: "My promise: in two hours you will pitch your real topic in three minutes, and leave with a checklist you can use on Monday. Four moves. After each move, you practise it straight away. More than half of today is you talking, not me."
GROUND RULES: no wrong answers; English is fine, a Bahasa word is fine too; feedback = one thing that worked, one thing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SAY: "Move one. Before you open PowerPoint, you need one sentence: what do you want the decision maker to DO?"
PHOTO SLOT (left half): "Indonesian senior manager listening attentively in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[0:10–0:13 · Barbara Minto, The Pyramid Principle]
SAY: "At school we learned: background, analysis, findings, and the conclusion at the end. Leaders need the reverse: the recommendation first, then why, then the proof."
CULTURE NOTE: "In Indonesia we often build up politely to the point. In a decision meeting, saving the leader's time IS the polite thing."
SAY: "If the Director leaves after one minute, they still leave with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[0:13–0:16 · Game]
DO: Read the speech bubble aloud in a slow, monotone 'meeting voice'. Then: "Ten seconds — tables, shout out: what does this person WANT?" Start the countdown.
EXPECT: confusion, then guesses ("more budget?" "pause merchants?").
REVEAL (say it): "I recommend we pause 12 new East Java merchants for 60 days." — "That was hiding in sentence four. Your leaders will not search for it."
KEY LINE: "If the room has to guess, you haven't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[0:16–0:20 · SCQA (Minto)]
SAY: "Here is the tool. Four sentences, 30 seconds. Today — what everyone agrees on. But — what changed. So the question is. I recommend — your answer."
DEMO: Read the East Java version in under 30 seconds and time yourself out loud:
"Today, East Java new-merchant volume is up 25%. But early bad loans jumped from 4.1% to 7.1%. So the question is: how do we keep growth without buying bad risk? I recommend pausing 12 new merchants for 60 days."
TIP: In a decision meeting, start with "I recommend…", then give Today–But–So as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[0:20–0:30 · Exercise 1 — 10 min, pairs]
SET-UP: "Your real topic, or a case card. Fill the four blanks. Then say it out loud to your partner — standing up."
RUN: 6 min writing, 4 min saying. Call "Swap!" at 8 min.
PARTNER RULE: after each version, partner asks only one question: "So what?" Rewrite until the answer is a clear decision.
WALK THE ROOM: look for 'Update on…' answers. Coach: "What do you want the Director to DO? Start with a verb."
DEBRIEF: Ask 2 pairs you saw doing well (ask them while walking: "Boleh share nanti?") to say theirs in 30 seconds. Room claps if it's under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SAY: "Move two. This is the trick consultants use every day. Your slide titles ARE your story."
PHOTO SLOT (left half): "team planning a storyline with sticky notes on a glass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[0:30–0:33 · Headline test (consulting practice) + one Big Idea (Chris Anderson, Nancy Duarte)]
DO: Read the five titles aloud, slowly, left to right. Ask: "Do you know what this person wants, and why — without one chart?" (Yes.)
SAY: "That's the headline test. Write every title as a full sentence with the takeaway. Read only the titles. If the story works, the deck works."
SAY: "Notice the shape: problem today → what could be → proof → risk → the ask. Duarte calls it 'what is vs what could be'."
USE TOMORROW: In PowerPoint, View → Outline: read only your titles before sending any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[0:33–0:39 · Game — tables race]
DO: "Each table: rewrite title 1 as a full sentence with the takeaway. 60 seconds. Go!" Timer. Take one answer per table; the room votes the best with red cards. Repeat for 2 and 3.
INVENT FREELY: teams can make up the takeaway (all data is illustrative) — the point is the form: full sentence, a number or a verb, under two lines.
NEXT SLIDE shows one possible answer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[0:39–0:40 · Reveal]
SAY: "Same topics. Now each title tells the Director what to think. Four rules: full sentence, two lines max, one message, a number or a verb."
ASK: "Which of YOUR team's answers was better than mine?" (There will be some — celebrate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[0:40–0:55 · Exercise 2 — 15 min, groups of 3–4]
SET-UP: "Pick the clearest 30-second opening at your table. Build its deck — titles only — on five sticky notes. Note 1 is the answer. Note 5 is the ask."
RUN: 8 min writing. Then "Swap tables!" — the other table reads titles only, no explaining, and marks each ✓ clear / ? unclear / ✗ topic only (4 min). 3 min to fix every ✗.
COACH: titles like 'Background', 'Data', 'Next steps' → "What's the takeaway of that slide in one sentence?"
TRANSITION: "Break. When you come back, we design the slides under these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[0:55–1:05 · Break]
DO: Countdown on screen. Check one laptop per table is ready with PowerPoint for Move 3.
TIP: Chat with quieter participants — they often speak up more afterwards.
PHOTO SLOT (full bleed): "coffee cups and snacks on a meeting table, warm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SAY: "Move three. Every slide must prove its title in five seconds. One chart, one number that matters."
PHOTO SLOT (left half): "laptop screen showing a clean business chart in an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[1:05–1:09 · Game]
DO: "Tables: find five things wrong with this chart. 30 seconds. Go!" Collect one problem per table, round-robin, until you have them all.
ANSWERS: 1) Title says nothing ('Analysis'). 2) Rainbow colours — no focus. 3) Legend makes your eyes jump back and forth. 4) Gridlines and decimals = clutter. 5) Q1 + Q2 + target bars side by side hide the one story: East Java.
BONUS: "And what's the decision?" — nobody knows. That's problem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[1:09–1:12 · Cole Nussbaumer Knaflic, Storytelling with Data]
SAY: "Same data. Three steps. Delete: everything that isn't information. Grey: everything by default. Highlight: one thing, in red, and say why in the title."
ASK: "Where did your eye go?" (East Java.) "That's the point. Red is our highlight colour — use it for one thing only."
CHART CHOICE (say quickly): compare items → bar · change over time → line · one key number → just show the number, big. Avoid pies and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[1:12–1:15 · Makeover]
SAY: "Before: everything we know, in the order we found it. After: the ask in the title, three numbers a CFO needs, and the decision."
ASK: "Why these three numbers?" (Benefit, saving, payback — exactly what a CFO asks.)
KEY LINE: "For a proposal, big numbers beat any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[1:15–1:25 · Exercise 3 — 10 min, same groups, one laptop per table]
SET-UP: "Take sticky note 2 or 3. Build that one slide on the laptop — or sketch it on A4 if paper is faster."
RUN: 7 min build. Then "Swap laptops!" — the other table gets 5 seconds to look, then says what the slide means. If they can't, fix it (3 min).
DEBRIEF: Ask one table (with permission) to show theirs on the projector. Room: red card = 'got it in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SAY: "Last move. Two things decide the room: how you say your key number, and how you answer the hardest question."
PHOTO SLOT (left half): "speaker answering a question from executives across a table,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[1:25–1:28]
DEMO (this is the whole slide): Say "East Java bad loans are now 7.1%" twice. Once rushed. Once: pause before, look at one person, say it, pause two seconds. Ask: "Which one did you remember?"
REHEARSE: "Out loud, three times — alone, timed, then with a colleague who asks hard questions. Your first run should never be in front of the Director."
NOTE: "Power posing? The research is weak. Skip it. Preparation is what gives you confidence."
WINSTON (MIT, How to Speak): say your Big Idea at the start, the middle and the end. Finish on what you contributed — not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[1:28–1:31]
DEMO: Role-play with a volunteer you briefed before (they read the Director's line, firmly).
SAY: "Acknowledge — no defending. Answer short — one fact. Bridge — back to your ask."
CULTURE NOTE: "Respectful does not mean silent or vague. A short, clear answer IS respect for a senior leader's time."
DON'T KNOW? "I'll confirm the exact number by 3 pm today." Then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[1:31–1:40 · Exercise 4 — 9 min, trios]
ROLES: Presenter (30-second opening from Move 1) · Director (picks a card, asks it firmly — juniors enjoy this role!) · Observer (one tip). Rotate every 3 minutes.
RUN: Call "Rotate!" at 3:00 and 6:00.
DEBRIEF (1 min): "Which question was hardest? Which bridge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[1:40–1:57 · Practice round — 17 min, trios]
SET-UP (2 min): "Your real topic. Three minutes: answer first, two or three titles (sticky notes or your laptop slide), one number, the ask. Then 2 minutes feedback using the form — score 1 to 4."
RUN: 3 rounds × 5 min. Strict: "Feedback now" at 3:00, "Rotate" at 5:00.
FEEDBACK RULE: one thing that worked, then one thing to try — in that order, and specific.
YOU: sit in with each trio for one round; note one great moment to share at the close (ask first).
With 16 people: five trios and one group of four (2.5-minute pitches for that group).
PROTECT THIS BLOCK: if earlier parts ran long, cut there,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[1:57–1:59 · Commitments]
SAY: "Pick ONE of the four moves. Write which presentation, which date, and who will give you feedback."
DO: Trios read their commitment to each other (not to the whole room). Ask people to photograph their card. Send a reminder on day 14; ask for a before/after slide on day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[1:59–2:00 · Close — contributions, not "thank you" (Winston)]
SAY: "We started with two slides of the same data. Now you know the four moves that turn A into B. Your next presentation is your next practice round."
DO: Hand out the cheat sheet, feedback form and 30-day plan (appendix). End on this slide — no 'Thank you' slide.
PHOTO SLOT (right): "diverse Indonesian team applauding at the end of a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Handout: print on A4 landscape, one per participant. Also reproduced in FACILITATOR-GUIDE.md.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Handout: print A4 landscape, 2 copies per participant (one per round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Handout: print A4 landscape. Send a reminder email at day 14 and ask for before/after slides at day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rtlCol="0"/>
          <a:lstStyle>
            <a:lvl1pPr algn="l" indent="0" marL="0">
              <a:buNone/>
              <a:defRPr lang="en-US" sz="3200" b="1" dirty="0">
                <a:solidFill>
                  <a:srgbClr val="1A1A1A"/>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7985455" y="6400800"/>
            <a:ext cx="3200400" cy="274320"/>
          </a:xfrm>
          <a:prstGeom prst="rect">
            <a:avLst/>
          </a:prstGeom>
          <a:noFill/>
          <a:ln/>
        </p:spPr>
        <p:txBody>
          <a:bodyPr wrap="square"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Get the Decision  ·  HCI Talent Pool</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XERCISE">
    <p:bg>
      <p:bgPr>
        <a:solidFill>
          <a:srgbClr val="FDECE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rtlCol="0"/>
          <a:lstStyle>
            <a:lvl1pPr algn="l" indent="0" marL="0">
              <a:buNone/>
              <a:defRPr lang="en-US" sz="3200" b="1" dirty="0">
                <a:solidFill>
                  <a:srgbClr val="9E001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10088575" y="6355080"/>
            <a:ext cx="1097280" cy="329184"/>
          </a:xfrm>
          <a:prstGeom prst="roundRect">
            <a:avLst>
              <a:gd name="adj" fmla="val 50000"/>
            </a:avLst>
          </a:prstGeom>
          <a:solidFill>
            <a:srgbClr val="E3001B"/>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HANDS-ON</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E3001B"/>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9E0012"/>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ANDOU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 the Decision  ·  HCI Talent Pool  ·  Participant handout</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slideLayout" Target="../slideLayouts/slideLayout3.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6.xml"/><Relationship Id="rId6"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339682" y="0"/>
            <a:ext cx="5852014" cy="6858000"/>
          </a:xfrm>
          <a:prstGeom prst="rect">
            <a:avLst/>
          </a:prstGeom>
          <a:solidFill>
            <a:srgbClr val="9E0012"/>
          </a:solidFill>
          <a:ln w="12700">
            <a:solidFill>
              <a:srgbClr val="9E0012"/>
            </a:solidFill>
            <a:prstDash val="solid"/>
          </a:ln>
        </p:spPr>
      </p:sp>
      <p:sp>
        <p:nvSpPr>
          <p:cNvPr id="3" name="Shape 1"/>
          <p:cNvSpPr/>
          <p:nvPr/>
        </p:nvSpPr>
        <p:spPr>
          <a:xfrm>
            <a:off x="6924883" y="1088195"/>
            <a:ext cx="4681611" cy="4681611"/>
          </a:xfrm>
          <a:prstGeom prst="ellipse">
            <a:avLst/>
          </a:prstGeom>
          <a:solidFill>
            <a:srgbClr val="E3001B">
              <a:alpha val="60000"/>
            </a:srgbClr>
          </a:solidFill>
          <a:ln w="12700">
            <a:solidFill>
              <a:srgbClr val="E3001B">
                <a:alpha val="0"/>
              </a:srgbClr>
            </a:solidFill>
            <a:prstDash val="solid"/>
          </a:ln>
        </p:spPr>
      </p:sp>
      <p:pic>
        <p:nvPicPr>
          <p:cNvPr id="4" name="Image 0" descr="young Indonesian professional presenting to executives in a modern boardroom">    </p:cNvPr>
          <p:cNvPicPr>
            <a:picLocks noChangeAspect="1"/>
          </p:cNvPicPr>
          <p:nvPr/>
        </p:nvPicPr>
        <p:blipFill>
          <a:blip r:embed="rId1">
            <a:alphaModFix amt="90000"/>
          </a:blip>
          <a:stretch>
            <a:fillRect/>
          </a:stretch>
        </p:blipFill>
        <p:spPr>
          <a:xfrm>
            <a:off x="8442728" y="2606040"/>
            <a:ext cx="1645920" cy="1645920"/>
          </a:xfrm>
          <a:prstGeom prst="rect">
            <a:avLst/>
          </a:prstGeom>
        </p:spPr>
      </p:pic>
      <p:sp>
        <p:nvSpPr>
          <p:cNvPr id="5" name="Text 2"/>
          <p:cNvSpPr txBox="1"/>
          <p:nvPr/>
        </p:nvSpPr>
        <p:spPr>
          <a:xfrm>
            <a:off x="548640" y="822960"/>
            <a:ext cx="6035040" cy="365760"/>
          </a:xfrm>
          <a:prstGeom prst="rect">
            <a:avLst/>
          </a:prstGeom>
          <a:noFill/>
          <a:ln/>
        </p:spPr>
        <p:txBody>
          <a:bodyPr wrap="square" lIns="635" tIns="635" rIns="635" bIns="635" rtlCol="0" anchor="ctr"/>
          <a:lstStyle/>
          <a:p>
            <a:pPr indent="0" marL="0">
              <a:buNone/>
            </a:pPr>
            <a:r>
              <a:rPr lang="en-US" sz="1300" b="1" spc="200" kern="0" dirty="0">
                <a:solidFill>
                  <a:srgbClr val="FFD6DA"/>
                </a:solidFill>
                <a:latin typeface="Calibri" pitchFamily="34" charset="0"/>
                <a:ea typeface="Calibri" pitchFamily="34" charset="-122"/>
                <a:cs typeface="Calibri" pitchFamily="34" charset="-120"/>
              </a:rPr>
              <a:t>TALENT POOL WORKSHOP  ·  HOME CREDIT INDONESIA</a:t>
            </a:r>
            <a:endParaRPr lang="en-US" sz="1300" dirty="0"/>
          </a:p>
        </p:txBody>
      </p:sp>
      <p:sp>
        <p:nvSpPr>
          <p:cNvPr id="6" name="Text 3"/>
          <p:cNvSpPr txBox="1"/>
          <p:nvPr/>
        </p:nvSpPr>
        <p:spPr>
          <a:xfrm>
            <a:off x="548640" y="1463040"/>
            <a:ext cx="6035040" cy="1737360"/>
          </a:xfrm>
          <a:prstGeom prst="rect">
            <a:avLst/>
          </a:prstGeom>
          <a:noFill/>
          <a:ln/>
        </p:spPr>
        <p:txBody>
          <a:bodyPr wrap="square" lIns="635" tIns="635" rIns="635" bIns="635" rtlCol="0" anchor="t"/>
          <a:lstStyle/>
          <a:p>
            <a:pPr indent="0" marL="0">
              <a:buNone/>
            </a:pPr>
            <a:r>
              <a:rPr lang="en-US" sz="5600" b="1" dirty="0">
                <a:solidFill>
                  <a:srgbClr val="FFFFFF"/>
                </a:solidFill>
                <a:latin typeface="Arial" pitchFamily="34" charset="0"/>
                <a:ea typeface="Arial" pitchFamily="34" charset="-122"/>
                <a:cs typeface="Arial" pitchFamily="34" charset="-120"/>
              </a:rPr>
              <a:t>Get the Decision</a:t>
            </a:r>
            <a:endParaRPr lang="en-US" sz="5600" dirty="0"/>
          </a:p>
        </p:txBody>
      </p:sp>
      <p:sp>
        <p:nvSpPr>
          <p:cNvPr id="7" name="Text 4"/>
          <p:cNvSpPr txBox="1"/>
          <p:nvPr/>
        </p:nvSpPr>
        <p:spPr>
          <a:xfrm>
            <a:off x="548640" y="3291840"/>
            <a:ext cx="5669280" cy="1097280"/>
          </a:xfrm>
          <a:prstGeom prst="rect">
            <a:avLst/>
          </a:prstGeom>
          <a:noFill/>
          <a:ln/>
        </p:spPr>
        <p:txBody>
          <a:bodyPr wrap="square" lIns="635" tIns="635" rIns="635" bIns="635" rtlCol="0" anchor="t"/>
          <a:lstStyle/>
          <a:p>
            <a:pPr indent="0" marL="0">
              <a:buNone/>
            </a:pPr>
            <a:r>
              <a:rPr lang="en-US" sz="2200" dirty="0">
                <a:solidFill>
                  <a:srgbClr val="FFFFFF"/>
                </a:solidFill>
                <a:latin typeface="Calibri" pitchFamily="34" charset="0"/>
                <a:ea typeface="Calibri" pitchFamily="34" charset="-122"/>
                <a:cs typeface="Calibri" pitchFamily="34" charset="-120"/>
              </a:rPr>
              <a:t>2 hours. One real topic. Four moves that make leaders say yes.</a:t>
            </a:r>
            <a:endParaRPr lang="en-US" sz="2200" dirty="0"/>
          </a:p>
        </p:txBody>
      </p:sp>
      <p:sp>
        <p:nvSpPr>
          <p:cNvPr id="8" name="Text 5"/>
          <p:cNvSpPr txBox="1"/>
          <p:nvPr/>
        </p:nvSpPr>
        <p:spPr>
          <a:xfrm>
            <a:off x="548640" y="4846320"/>
            <a:ext cx="2011680"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1300" b="1" dirty="0">
                <a:solidFill>
                  <a:srgbClr val="E3001B"/>
                </a:solidFill>
                <a:latin typeface="Calibri" pitchFamily="34" charset="0"/>
                <a:ea typeface="Calibri" pitchFamily="34" charset="-122"/>
                <a:cs typeface="Calibri" pitchFamily="34" charset="-120"/>
              </a:rPr>
              <a:t>60+ min hands-on</a:t>
            </a:r>
            <a:endParaRPr lang="en-US" sz="1300" dirty="0"/>
          </a:p>
        </p:txBody>
      </p:sp>
      <p:sp>
        <p:nvSpPr>
          <p:cNvPr id="9" name="Text 6"/>
          <p:cNvSpPr txBox="1"/>
          <p:nvPr/>
        </p:nvSpPr>
        <p:spPr>
          <a:xfrm>
            <a:off x="2697480" y="4846320"/>
            <a:ext cx="2286000"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1300" b="1" dirty="0">
                <a:solidFill>
                  <a:srgbClr val="E3001B"/>
                </a:solidFill>
                <a:latin typeface="Calibri" pitchFamily="34" charset="0"/>
                <a:ea typeface="Calibri" pitchFamily="34" charset="-122"/>
                <a:cs typeface="Calibri" pitchFamily="34" charset="-120"/>
              </a:rPr>
              <a:t>Bring your real topic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0" y="914400"/>
            <a:ext cx="12191695" cy="2926080"/>
          </a:xfrm>
          <a:prstGeom prst="rect">
            <a:avLst/>
          </a:prstGeom>
          <a:noFill/>
          <a:ln/>
        </p:spPr>
        <p:txBody>
          <a:bodyPr wrap="square" lIns="635" tIns="635" rIns="635" bIns="635" rtlCol="0" anchor="ctr"/>
          <a:lstStyle/>
          <a:p>
            <a:pPr algn="ctr" indent="0" marL="0">
              <a:buNone/>
            </a:pPr>
            <a:r>
              <a:rPr lang="en-US" sz="20000" b="1" dirty="0">
                <a:solidFill>
                  <a:srgbClr val="FFFFFF"/>
                </a:solidFill>
                <a:latin typeface="Arial" pitchFamily="34" charset="0"/>
                <a:ea typeface="Arial" pitchFamily="34" charset="-122"/>
                <a:cs typeface="Arial" pitchFamily="34" charset="-120"/>
              </a:rPr>
              <a:t>0:30</a:t>
            </a:r>
            <a:endParaRPr lang="en-US" sz="20000" dirty="0"/>
          </a:p>
        </p:txBody>
      </p:sp>
      <p:sp>
        <p:nvSpPr>
          <p:cNvPr id="3" name="Text 1"/>
          <p:cNvSpPr txBox="1"/>
          <p:nvPr/>
        </p:nvSpPr>
        <p:spPr>
          <a:xfrm>
            <a:off x="1371600" y="4023360"/>
            <a:ext cx="9448495" cy="1371600"/>
          </a:xfrm>
          <a:prstGeom prst="rect">
            <a:avLst/>
          </a:prstGeom>
          <a:noFill/>
          <a:ln/>
        </p:spPr>
        <p:txBody>
          <a:bodyPr wrap="square" lIns="635" tIns="635" rIns="635" bIns="635" rtlCol="0" anchor="t"/>
          <a:lstStyle/>
          <a:p>
            <a:pPr algn="ctr" indent="0" marL="0">
              <a:buNone/>
            </a:pPr>
            <a:r>
              <a:rPr lang="en-US" sz="2800" dirty="0">
                <a:solidFill>
                  <a:srgbClr val="FFFFFF"/>
                </a:solidFill>
                <a:latin typeface="Calibri" pitchFamily="34" charset="0"/>
                <a:ea typeface="Calibri" pitchFamily="34" charset="-122"/>
                <a:cs typeface="Calibri" pitchFamily="34" charset="-120"/>
              </a:rPr>
              <a:t>The Director has 30 seconds for your first slide.</a:t>
            </a:r>
            <a:endParaRPr lang="en-US" sz="2800" dirty="0"/>
          </a:p>
          <a:p>
            <a:pPr algn="ctr" indent="0" marL="0">
              <a:buNone/>
            </a:pPr>
            <a:r>
              <a:rPr lang="en-US" sz="2800" dirty="0">
                <a:solidFill>
                  <a:srgbClr val="FFFFFF"/>
                </a:solidFill>
                <a:latin typeface="Calibri" pitchFamily="34" charset="0"/>
                <a:ea typeface="Calibri" pitchFamily="34" charset="-122"/>
                <a:cs typeface="Calibri" pitchFamily="34" charset="-120"/>
              </a:rPr>
              <a:t>What do they see?</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Which slide gets a decision?</a:t>
            </a:r>
            <a:endParaRPr lang="en-US" sz="3200" dirty="0"/>
          </a:p>
        </p:txBody>
      </p:sp>
      <p:sp>
        <p:nvSpPr>
          <p:cNvPr id="4" name="Text 1"/>
          <p:cNvSpPr txBox="1"/>
          <p:nvPr/>
        </p:nvSpPr>
        <p:spPr>
          <a:xfrm>
            <a:off x="548640" y="1463040"/>
            <a:ext cx="640080" cy="329184"/>
          </a:xfrm>
          <a:prstGeom prst="roundRect">
            <a:avLst>
              <a:gd name="adj" fmla="val 50000"/>
            </a:avLst>
          </a:prstGeom>
          <a:solidFill>
            <a:srgbClr val="6B6B6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5" name="Shape 2"/>
          <p:cNvSpPr/>
          <p:nvPr/>
        </p:nvSpPr>
        <p:spPr>
          <a:xfrm>
            <a:off x="548640" y="1874520"/>
            <a:ext cx="5394960" cy="3931920"/>
          </a:xfrm>
          <a:prstGeom prst="roundRect">
            <a:avLst>
              <a:gd name="adj" fmla="val 2326"/>
            </a:avLst>
          </a:prstGeom>
          <a:solidFill>
            <a:srgbClr val="F4F4F4"/>
          </a:solidFill>
          <a:ln w="12700">
            <a:solidFill>
              <a:srgbClr val="F4F4F4"/>
            </a:solidFill>
            <a:prstDash val="solid"/>
          </a:ln>
        </p:spPr>
      </p:sp>
      <p:sp>
        <p:nvSpPr>
          <p:cNvPr id="6" name="Text 3"/>
          <p:cNvSpPr txBox="1"/>
          <p:nvPr/>
        </p:nvSpPr>
        <p:spPr>
          <a:xfrm>
            <a:off x="777240" y="2011680"/>
            <a:ext cx="4937760" cy="411480"/>
          </a:xfrm>
          <a:prstGeom prst="rect">
            <a:avLst/>
          </a:prstGeom>
          <a:noFill/>
          <a:ln/>
        </p:spPr>
        <p:txBody>
          <a:bodyPr wrap="square" lIns="635" tIns="635" rIns="635" bIns="635"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East Java Portfolio Update — June</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2560320"/>
          <a:ext cx="4937760" cy="914400"/>
        </p:xfrm>
        <a:graphic>
          <a:graphicData uri="http://schemas.openxmlformats.org/drawingml/2006/table">
            <a:tbl>
              <a:tblPr/>
              <a:tblGrid>
                <a:gridCol w="1371600"/>
                <a:gridCol w="594360"/>
                <a:gridCol w="594360"/>
                <a:gridCol w="594360"/>
                <a:gridCol w="594360"/>
                <a:gridCol w="594360"/>
                <a:gridCol w="594360"/>
              </a:tblGrid>
              <a:tr h="329184">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Jan</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Feb</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Mar</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Apr</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May</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Jun</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Volume (IDR bn)</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41.2</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43.0</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44.8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47.1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49.5</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51.4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 Contracts</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18,204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18,960</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19,611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20,433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21,350</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22,071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Approval rate</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30+ DPD (MOB3)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New merchants</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Avg ticket (IDR m)</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2.27</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2.31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2.32</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2.33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263640" y="1463040"/>
            <a:ext cx="64008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9" name="Shape 5"/>
          <p:cNvSpPr/>
          <p:nvPr/>
        </p:nvSpPr>
        <p:spPr>
          <a:xfrm>
            <a:off x="6263640" y="1874520"/>
            <a:ext cx="5394960" cy="3931920"/>
          </a:xfrm>
          <a:prstGeom prst="roundRect">
            <a:avLst>
              <a:gd name="adj" fmla="val 2326"/>
            </a:avLst>
          </a:prstGeom>
          <a:solidFill>
            <a:srgbClr val="FFFFFF"/>
          </a:solidFill>
          <a:ln w="19050">
            <a:solidFill>
              <a:srgbClr val="E3001B"/>
            </a:solidFill>
            <a:prstDash val="solid"/>
          </a:ln>
        </p:spPr>
      </p:sp>
      <p:sp>
        <p:nvSpPr>
          <p:cNvPr id="10" name="Text 6"/>
          <p:cNvSpPr txBox="1"/>
          <p:nvPr/>
        </p:nvSpPr>
        <p:spPr>
          <a:xfrm>
            <a:off x="6492240" y="1965960"/>
            <a:ext cx="4937760" cy="777240"/>
          </a:xfrm>
          <a:prstGeom prst="rect">
            <a:avLst/>
          </a:prstGeom>
          <a:noFill/>
          <a:ln/>
        </p:spPr>
        <p:txBody>
          <a:bodyPr wrap="square" lIns="635" tIns="635" rIns="635" bIns="635"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East Java bad loans nearly doubled since January. Pause 12 new merchants now.</a:t>
            </a:r>
            <a:endParaRPr lang="en-US" sz="1600" dirty="0"/>
          </a:p>
        </p:txBody>
      </p:sp>
      <p:graphicFrame>
        <p:nvGraphicFramePr>
          <p:cNvPr id="11" name="Chart 0" descr=""/>
          <p:cNvGraphicFramePr/>
          <p:nvPr/>
        </p:nvGraphicFramePr>
        <p:xfrm>
          <a:off x="6400800" y="2743200"/>
          <a:ext cx="5120640" cy="2926080"/>
        </p:xfrm>
        <a:graphic xmlns:a="http://schemas.openxmlformats.org/drawingml/2006/main">
          <a:graphicData uri="http://schemas.openxmlformats.org/drawingml/2006/chart">
            <c:chart xmlns:c="http://schemas.openxmlformats.org/drawingml/2006/chart" r:id="rId1"/>
          </a:graphicData>
        </a:graphic>
      </p:graphicFrame>
      <p:sp>
        <p:nvSpPr>
          <p:cNvPr id="12" name="Text 7"/>
          <p:cNvSpPr txBox="1"/>
          <p:nvPr/>
        </p:nvSpPr>
        <p:spPr>
          <a:xfrm>
            <a:off x="10652760" y="2697480"/>
            <a:ext cx="914400" cy="365760"/>
          </a:xfrm>
          <a:prstGeom prst="rect">
            <a:avLst/>
          </a:prstGeom>
          <a:noFill/>
          <a:ln/>
        </p:spPr>
        <p:txBody>
          <a:bodyPr wrap="square" lIns="635" tIns="635" rIns="635" bIns="635" rtlCol="0" anchor="ctr"/>
          <a:lstStyle/>
          <a:p>
            <a:pPr algn="r" indent="0" marL="0">
              <a:buNone/>
            </a:pPr>
            <a:r>
              <a:rPr lang="en-US" sz="1600" b="1" dirty="0">
                <a:solidFill>
                  <a:srgbClr val="E3001B"/>
                </a:solidFill>
                <a:latin typeface="Calibri" pitchFamily="34" charset="0"/>
                <a:ea typeface="Calibri" pitchFamily="34" charset="-122"/>
                <a:cs typeface="Calibri" pitchFamily="34" charset="-120"/>
              </a:rPr>
              <a:t>7.1%</a:t>
            </a:r>
            <a:endParaRPr lang="en-US" sz="1600" dirty="0"/>
          </a:p>
        </p:txBody>
      </p:sp>
      <p:sp>
        <p:nvSpPr>
          <p:cNvPr id="13" name="Text 8"/>
          <p:cNvSpPr txBox="1"/>
          <p:nvPr/>
        </p:nvSpPr>
        <p:spPr>
          <a:xfrm>
            <a:off x="548640" y="5943600"/>
            <a:ext cx="5486400" cy="36576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Vote: </a:t>
            </a:r>
            <a:pPr indent="0" marL="0">
              <a:buNone/>
            </a:pPr>
            <a:r>
              <a:rPr lang="en-US" sz="1500" dirty="0">
                <a:solidFill>
                  <a:srgbClr val="1A1A1A"/>
                </a:solidFill>
                <a:latin typeface="Calibri" pitchFamily="34" charset="0"/>
                <a:ea typeface="Calibri" pitchFamily="34" charset="-122"/>
                <a:cs typeface="Calibri" pitchFamily="34" charset="-120"/>
              </a:rPr>
              <a:t>red card = A  ·  white card = B</a:t>
            </a:r>
            <a:endParaRPr lang="en-US" sz="1500" dirty="0"/>
          </a:p>
        </p:txBody>
      </p:sp>
      <p:sp>
        <p:nvSpPr>
          <p:cNvPr id="14" name="Text 9"/>
          <p:cNvSpPr txBox="1"/>
          <p:nvPr/>
        </p:nvSpPr>
        <p:spPr>
          <a:xfrm>
            <a:off x="6263640" y="5943600"/>
            <a:ext cx="5394960" cy="365760"/>
          </a:xfrm>
          <a:prstGeom prst="rect">
            <a:avLst/>
          </a:prstGeom>
          <a:noFill/>
          <a:ln/>
        </p:spPr>
        <p:txBody>
          <a:bodyPr wrap="square" lIns="635" tIns="635" rIns="635" bIns="635" rtlCol="0" anchor="ctr"/>
          <a:lstStyle/>
          <a:p>
            <a:pPr algn="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914400" y="1280160"/>
            <a:ext cx="10362895" cy="4297680"/>
          </a:xfrm>
          <a:prstGeom prst="rect">
            <a:avLst/>
          </a:prstGeom>
          <a:noFill/>
          <a:ln/>
        </p:spPr>
        <p:txBody>
          <a:bodyPr wrap="square" lIns="635" tIns="635" rIns="635" bIns="635" rtlCol="0" anchor="ctr"/>
          <a:lstStyle/>
          <a:p>
            <a:pPr indent="0" marL="0">
              <a:buNone/>
            </a:pPr>
            <a:r>
              <a:rPr lang="en-US" sz="4800" b="1" dirty="0">
                <a:solidFill>
                  <a:srgbClr val="FFB3BB"/>
                </a:solidFill>
                <a:latin typeface="Arial" pitchFamily="34" charset="0"/>
                <a:ea typeface="Arial" pitchFamily="34" charset="-122"/>
                <a:cs typeface="Arial" pitchFamily="34" charset="-120"/>
              </a:rPr>
              <a:t>Leaders don't want your data.</a:t>
            </a:r>
            <a:endParaRPr lang="en-US" sz="4800" dirty="0"/>
          </a:p>
          <a:p>
            <a:pPr indent="0" marL="0">
              <a:buNone/>
            </a:pPr>
            <a:r>
              <a:rPr lang="en-US" sz="4800" b="1" dirty="0">
                <a:solidFill>
                  <a:srgbClr val="FFFFFF"/>
                </a:solidFill>
                <a:latin typeface="Arial" pitchFamily="34" charset="0"/>
                <a:ea typeface="Arial" pitchFamily="34" charset="-122"/>
                <a:cs typeface="Arial" pitchFamily="34" charset="-120"/>
              </a:rPr>
              <a:t>They want your answer.</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Four moves. Then you practise each one.</a:t>
            </a:r>
            <a:endParaRPr lang="en-US" sz="3200" dirty="0"/>
          </a:p>
        </p:txBody>
      </p:sp>
      <p:sp>
        <p:nvSpPr>
          <p:cNvPr id="4" name="Shape 1"/>
          <p:cNvSpPr/>
          <p:nvPr/>
        </p:nvSpPr>
        <p:spPr>
          <a:xfrm>
            <a:off x="548640" y="1600200"/>
            <a:ext cx="2606040" cy="4023360"/>
          </a:xfrm>
          <a:prstGeom prst="roundRect">
            <a:avLst>
              <a:gd name="adj" fmla="val 3509"/>
            </a:avLst>
          </a:prstGeom>
          <a:solidFill>
            <a:srgbClr val="E3001B"/>
          </a:solidFill>
          <a:ln w="12700">
            <a:solidFill>
              <a:srgbClr val="E3001B"/>
            </a:solidFill>
            <a:prstDash val="solid"/>
          </a:ln>
        </p:spPr>
      </p:sp>
      <p:sp>
        <p:nvSpPr>
          <p:cNvPr id="5" name="Text 2"/>
          <p:cNvSpPr txBox="1"/>
          <p:nvPr/>
        </p:nvSpPr>
        <p:spPr>
          <a:xfrm>
            <a:off x="777240" y="1691640"/>
            <a:ext cx="109728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1</a:t>
            </a:r>
            <a:endParaRPr lang="en-US" sz="6000" dirty="0"/>
          </a:p>
        </p:txBody>
      </p:sp>
      <p:pic>
        <p:nvPicPr>
          <p:cNvPr id="6" name="Image 0" descr="preencoded.png">    </p:cNvPr>
          <p:cNvPicPr>
            <a:picLocks noChangeAspect="1"/>
          </p:cNvPicPr>
          <p:nvPr/>
        </p:nvPicPr>
        <p:blipFill>
          <a:blip r:embed="rId1"/>
          <a:stretch>
            <a:fillRect/>
          </a:stretch>
        </p:blipFill>
        <p:spPr>
          <a:xfrm>
            <a:off x="2331720" y="1874520"/>
            <a:ext cx="594360" cy="594360"/>
          </a:xfrm>
          <a:prstGeom prst="rect">
            <a:avLst/>
          </a:prstGeom>
        </p:spPr>
      </p:pic>
      <p:sp>
        <p:nvSpPr>
          <p:cNvPr id="7" name="Text 3"/>
          <p:cNvSpPr txBox="1"/>
          <p:nvPr/>
        </p:nvSpPr>
        <p:spPr>
          <a:xfrm>
            <a:off x="777240" y="2926080"/>
            <a:ext cx="2194560" cy="1097280"/>
          </a:xfrm>
          <a:prstGeom prst="rect">
            <a:avLst/>
          </a:prstGeom>
          <a:noFill/>
          <a:ln/>
        </p:spPr>
        <p:txBody>
          <a:bodyPr wrap="square" lIns="635" tIns="635" rIns="635" bIns="635" rtlCol="0" anchor="t"/>
          <a:lstStyle/>
          <a:p>
            <a:pPr indent="0" marL="0">
              <a:buNone/>
            </a:pPr>
            <a:r>
              <a:rPr lang="en-US" sz="2200" b="1" dirty="0">
                <a:solidFill>
                  <a:srgbClr val="FFFFFF"/>
                </a:solidFill>
                <a:latin typeface="Arial" pitchFamily="34" charset="0"/>
                <a:ea typeface="Arial" pitchFamily="34" charset="-122"/>
                <a:cs typeface="Arial" pitchFamily="34" charset="-120"/>
              </a:rPr>
              <a:t>Answer first</a:t>
            </a:r>
            <a:endParaRPr lang="en-US" sz="2200" dirty="0"/>
          </a:p>
        </p:txBody>
      </p:sp>
      <p:sp>
        <p:nvSpPr>
          <p:cNvPr id="8" name="Text 4"/>
          <p:cNvSpPr txBox="1"/>
          <p:nvPr/>
        </p:nvSpPr>
        <p:spPr>
          <a:xfrm>
            <a:off x="777240" y="4114800"/>
            <a:ext cx="2194560" cy="1097280"/>
          </a:xfrm>
          <a:prstGeom prst="rect">
            <a:avLst/>
          </a:prstGeom>
          <a:noFill/>
          <a:ln/>
        </p:spPr>
        <p:txBody>
          <a:bodyPr wrap="square" lIns="635" tIns="635" rIns="635" bIns="635" rtlCol="0" anchor="t"/>
          <a:lstStyle/>
          <a:p>
            <a:pPr indent="0" marL="0">
              <a:buNone/>
            </a:pPr>
            <a:r>
              <a:rPr lang="en-US" sz="1600" dirty="0">
                <a:solidFill>
                  <a:srgbClr val="FFD6DA"/>
                </a:solidFill>
                <a:latin typeface="Calibri" pitchFamily="34" charset="0"/>
                <a:ea typeface="Calibri" pitchFamily="34" charset="-122"/>
                <a:cs typeface="Calibri" pitchFamily="34" charset="-120"/>
              </a:rPr>
              <a:t>Say the decision in 30 seconds</a:t>
            </a:r>
            <a:endParaRPr lang="en-US" sz="1600" dirty="0"/>
          </a:p>
        </p:txBody>
      </p:sp>
      <p:sp>
        <p:nvSpPr>
          <p:cNvPr id="9" name="Shape 5"/>
          <p:cNvSpPr/>
          <p:nvPr/>
        </p:nvSpPr>
        <p:spPr>
          <a:xfrm>
            <a:off x="3355848" y="1600200"/>
            <a:ext cx="2606040" cy="4023360"/>
          </a:xfrm>
          <a:prstGeom prst="roundRect">
            <a:avLst>
              <a:gd name="adj" fmla="val 3509"/>
            </a:avLst>
          </a:prstGeom>
          <a:solidFill>
            <a:srgbClr val="F4F4F4"/>
          </a:solidFill>
          <a:ln w="12700">
            <a:solidFill>
              <a:srgbClr val="F4F4F4"/>
            </a:solidFill>
            <a:prstDash val="solid"/>
          </a:ln>
        </p:spPr>
      </p:sp>
      <p:sp>
        <p:nvSpPr>
          <p:cNvPr id="10" name="Text 6"/>
          <p:cNvSpPr txBox="1"/>
          <p:nvPr/>
        </p:nvSpPr>
        <p:spPr>
          <a:xfrm>
            <a:off x="3584448" y="1691640"/>
            <a:ext cx="1097280" cy="1005840"/>
          </a:xfrm>
          <a:prstGeom prst="rect">
            <a:avLst/>
          </a:prstGeom>
          <a:noFill/>
          <a:ln/>
        </p:spPr>
        <p:txBody>
          <a:bodyPr wrap="square" lIns="0" tIns="0" rIns="0" bIns="0" rtlCol="0" anchor="ctr"/>
          <a:lstStyle/>
          <a:p>
            <a:pPr indent="0" marL="0">
              <a:buNone/>
            </a:pPr>
            <a:r>
              <a:rPr lang="en-US" sz="6000" b="1" dirty="0">
                <a:solidFill>
                  <a:srgbClr val="E3001B"/>
                </a:solidFill>
                <a:latin typeface="Arial" pitchFamily="34" charset="0"/>
                <a:ea typeface="Arial" pitchFamily="34" charset="-122"/>
                <a:cs typeface="Arial" pitchFamily="34" charset="-120"/>
              </a:rPr>
              <a:t>2</a:t>
            </a:r>
            <a:endParaRPr lang="en-US" sz="6000" dirty="0"/>
          </a:p>
        </p:txBody>
      </p:sp>
      <p:pic>
        <p:nvPicPr>
          <p:cNvPr id="11" name="Image 1" descr="preencoded.png">    </p:cNvPr>
          <p:cNvPicPr>
            <a:picLocks noChangeAspect="1"/>
          </p:cNvPicPr>
          <p:nvPr/>
        </p:nvPicPr>
        <p:blipFill>
          <a:blip r:embed="rId2"/>
          <a:stretch>
            <a:fillRect/>
          </a:stretch>
        </p:blipFill>
        <p:spPr>
          <a:xfrm>
            <a:off x="5138928" y="1874520"/>
            <a:ext cx="594360" cy="594360"/>
          </a:xfrm>
          <a:prstGeom prst="rect">
            <a:avLst/>
          </a:prstGeom>
        </p:spPr>
      </p:pic>
      <p:sp>
        <p:nvSpPr>
          <p:cNvPr id="12" name="Text 7"/>
          <p:cNvSpPr txBox="1"/>
          <p:nvPr/>
        </p:nvSpPr>
        <p:spPr>
          <a:xfrm>
            <a:off x="3584448" y="2926080"/>
            <a:ext cx="2194560" cy="1097280"/>
          </a:xfrm>
          <a:prstGeom prst="rect">
            <a:avLst/>
          </a:prstGeom>
          <a:noFill/>
          <a:ln/>
        </p:spPr>
        <p:txBody>
          <a:bodyPr wrap="square" lIns="635" tIns="635" rIns="635" bIns="635" rtlCol="0" anchor="t"/>
          <a:lstStyle/>
          <a:p>
            <a:pPr indent="0" marL="0">
              <a:buNone/>
            </a:pPr>
            <a:r>
              <a:rPr lang="en-US" sz="2200" b="1" dirty="0">
                <a:solidFill>
                  <a:srgbClr val="1A1A1A"/>
                </a:solidFill>
                <a:latin typeface="Arial" pitchFamily="34" charset="0"/>
                <a:ea typeface="Arial" pitchFamily="34" charset="-122"/>
                <a:cs typeface="Arial" pitchFamily="34" charset="-120"/>
              </a:rPr>
              <a:t>Story in the titles</a:t>
            </a:r>
            <a:endParaRPr lang="en-US" sz="2200" dirty="0"/>
          </a:p>
        </p:txBody>
      </p:sp>
      <p:sp>
        <p:nvSpPr>
          <p:cNvPr id="13" name="Text 8"/>
          <p:cNvSpPr txBox="1"/>
          <p:nvPr/>
        </p:nvSpPr>
        <p:spPr>
          <a:xfrm>
            <a:off x="3584448" y="4114800"/>
            <a:ext cx="2194560" cy="1097280"/>
          </a:xfrm>
          <a:prstGeom prst="rect">
            <a:avLst/>
          </a:prstGeom>
          <a:noFill/>
          <a:ln/>
        </p:spPr>
        <p:txBody>
          <a:bodyPr wrap="square" lIns="635" tIns="635" rIns="635" bIns="635" rtlCol="0" anchor="t"/>
          <a:lstStyle/>
          <a:p>
            <a:pPr indent="0" marL="0">
              <a:buNone/>
            </a:pPr>
            <a:r>
              <a:rPr lang="en-US" sz="1600" dirty="0">
                <a:solidFill>
                  <a:srgbClr val="6B6B6B"/>
                </a:solidFill>
                <a:latin typeface="Calibri" pitchFamily="34" charset="0"/>
                <a:ea typeface="Calibri" pitchFamily="34" charset="-122"/>
                <a:cs typeface="Calibri" pitchFamily="34" charset="-120"/>
              </a:rPr>
              <a:t>Titles alone tell the story</a:t>
            </a:r>
            <a:endParaRPr lang="en-US" sz="1600" dirty="0"/>
          </a:p>
        </p:txBody>
      </p:sp>
      <p:sp>
        <p:nvSpPr>
          <p:cNvPr id="14" name="Shape 9"/>
          <p:cNvSpPr/>
          <p:nvPr/>
        </p:nvSpPr>
        <p:spPr>
          <a:xfrm>
            <a:off x="6163056" y="1600200"/>
            <a:ext cx="2606040" cy="4023360"/>
          </a:xfrm>
          <a:prstGeom prst="roundRect">
            <a:avLst>
              <a:gd name="adj" fmla="val 3509"/>
            </a:avLst>
          </a:prstGeom>
          <a:solidFill>
            <a:srgbClr val="F4F4F4"/>
          </a:solidFill>
          <a:ln w="12700">
            <a:solidFill>
              <a:srgbClr val="F4F4F4"/>
            </a:solidFill>
            <a:prstDash val="solid"/>
          </a:ln>
        </p:spPr>
      </p:sp>
      <p:sp>
        <p:nvSpPr>
          <p:cNvPr id="15" name="Text 10"/>
          <p:cNvSpPr txBox="1"/>
          <p:nvPr/>
        </p:nvSpPr>
        <p:spPr>
          <a:xfrm>
            <a:off x="6391656" y="1691640"/>
            <a:ext cx="1097280" cy="1005840"/>
          </a:xfrm>
          <a:prstGeom prst="rect">
            <a:avLst/>
          </a:prstGeom>
          <a:noFill/>
          <a:ln/>
        </p:spPr>
        <p:txBody>
          <a:bodyPr wrap="square" lIns="0" tIns="0" rIns="0" bIns="0" rtlCol="0" anchor="ctr"/>
          <a:lstStyle/>
          <a:p>
            <a:pPr indent="0" marL="0">
              <a:buNone/>
            </a:pPr>
            <a:r>
              <a:rPr lang="en-US" sz="6000" b="1" dirty="0">
                <a:solidFill>
                  <a:srgbClr val="E3001B"/>
                </a:solidFill>
                <a:latin typeface="Arial" pitchFamily="34" charset="0"/>
                <a:ea typeface="Arial" pitchFamily="34" charset="-122"/>
                <a:cs typeface="Arial" pitchFamily="34" charset="-120"/>
              </a:rPr>
              <a:t>3</a:t>
            </a:r>
            <a:endParaRPr lang="en-US" sz="6000" dirty="0"/>
          </a:p>
        </p:txBody>
      </p:sp>
      <p:pic>
        <p:nvPicPr>
          <p:cNvPr id="16" name="Image 2" descr="preencoded.png">    </p:cNvPr>
          <p:cNvPicPr>
            <a:picLocks noChangeAspect="1"/>
          </p:cNvPicPr>
          <p:nvPr/>
        </p:nvPicPr>
        <p:blipFill>
          <a:blip r:embed="rId3"/>
          <a:stretch>
            <a:fillRect/>
          </a:stretch>
        </p:blipFill>
        <p:spPr>
          <a:xfrm>
            <a:off x="7946136" y="1874520"/>
            <a:ext cx="594360" cy="594360"/>
          </a:xfrm>
          <a:prstGeom prst="rect">
            <a:avLst/>
          </a:prstGeom>
        </p:spPr>
      </p:pic>
      <p:sp>
        <p:nvSpPr>
          <p:cNvPr id="17" name="Text 11"/>
          <p:cNvSpPr txBox="1"/>
          <p:nvPr/>
        </p:nvSpPr>
        <p:spPr>
          <a:xfrm>
            <a:off x="6391656" y="2926080"/>
            <a:ext cx="2194560" cy="1097280"/>
          </a:xfrm>
          <a:prstGeom prst="rect">
            <a:avLst/>
          </a:prstGeom>
          <a:noFill/>
          <a:ln/>
        </p:spPr>
        <p:txBody>
          <a:bodyPr wrap="square" lIns="635" tIns="635" rIns="635" bIns="635" rtlCol="0" anchor="t"/>
          <a:lstStyle/>
          <a:p>
            <a:pPr indent="0" marL="0">
              <a:buNone/>
            </a:pPr>
            <a:r>
              <a:rPr lang="en-US" sz="2200" b="1" dirty="0">
                <a:solidFill>
                  <a:srgbClr val="1A1A1A"/>
                </a:solidFill>
                <a:latin typeface="Arial" pitchFamily="34" charset="0"/>
                <a:ea typeface="Arial" pitchFamily="34" charset="-122"/>
                <a:cs typeface="Arial" pitchFamily="34" charset="-120"/>
              </a:rPr>
              <a:t>One chart, one number</a:t>
            </a:r>
            <a:endParaRPr lang="en-US" sz="2200" dirty="0"/>
          </a:p>
        </p:txBody>
      </p:sp>
      <p:sp>
        <p:nvSpPr>
          <p:cNvPr id="18" name="Text 12"/>
          <p:cNvSpPr txBox="1"/>
          <p:nvPr/>
        </p:nvSpPr>
        <p:spPr>
          <a:xfrm>
            <a:off x="6391656" y="4114800"/>
            <a:ext cx="2194560" cy="1097280"/>
          </a:xfrm>
          <a:prstGeom prst="rect">
            <a:avLst/>
          </a:prstGeom>
          <a:noFill/>
          <a:ln/>
        </p:spPr>
        <p:txBody>
          <a:bodyPr wrap="square" lIns="635" tIns="635" rIns="635" bIns="635" rtlCol="0" anchor="t"/>
          <a:lstStyle/>
          <a:p>
            <a:pPr indent="0" marL="0">
              <a:buNone/>
            </a:pPr>
            <a:r>
              <a:rPr lang="en-US" sz="1600" dirty="0">
                <a:solidFill>
                  <a:srgbClr val="6B6B6B"/>
                </a:solidFill>
                <a:latin typeface="Calibri" pitchFamily="34" charset="0"/>
                <a:ea typeface="Calibri" pitchFamily="34" charset="-122"/>
                <a:cs typeface="Calibri" pitchFamily="34" charset="-120"/>
              </a:rPr>
              <a:t>Kill clutter, highlight one thing</a:t>
            </a:r>
            <a:endParaRPr lang="en-US" sz="1600" dirty="0"/>
          </a:p>
        </p:txBody>
      </p:sp>
      <p:sp>
        <p:nvSpPr>
          <p:cNvPr id="19" name="Shape 13"/>
          <p:cNvSpPr/>
          <p:nvPr/>
        </p:nvSpPr>
        <p:spPr>
          <a:xfrm>
            <a:off x="8970264" y="1600200"/>
            <a:ext cx="2606040" cy="4023360"/>
          </a:xfrm>
          <a:prstGeom prst="roundRect">
            <a:avLst>
              <a:gd name="adj" fmla="val 3509"/>
            </a:avLst>
          </a:prstGeom>
          <a:solidFill>
            <a:srgbClr val="F4F4F4"/>
          </a:solidFill>
          <a:ln w="12700">
            <a:solidFill>
              <a:srgbClr val="F4F4F4"/>
            </a:solidFill>
            <a:prstDash val="solid"/>
          </a:ln>
        </p:spPr>
      </p:sp>
      <p:sp>
        <p:nvSpPr>
          <p:cNvPr id="20" name="Text 14"/>
          <p:cNvSpPr txBox="1"/>
          <p:nvPr/>
        </p:nvSpPr>
        <p:spPr>
          <a:xfrm>
            <a:off x="9198864" y="1691640"/>
            <a:ext cx="1097280" cy="1005840"/>
          </a:xfrm>
          <a:prstGeom prst="rect">
            <a:avLst/>
          </a:prstGeom>
          <a:noFill/>
          <a:ln/>
        </p:spPr>
        <p:txBody>
          <a:bodyPr wrap="square" lIns="0" tIns="0" rIns="0" bIns="0" rtlCol="0" anchor="ctr"/>
          <a:lstStyle/>
          <a:p>
            <a:pPr indent="0" marL="0">
              <a:buNone/>
            </a:pPr>
            <a:r>
              <a:rPr lang="en-US" sz="6000" b="1" dirty="0">
                <a:solidFill>
                  <a:srgbClr val="E3001B"/>
                </a:solidFill>
                <a:latin typeface="Arial" pitchFamily="34" charset="0"/>
                <a:ea typeface="Arial" pitchFamily="34" charset="-122"/>
                <a:cs typeface="Arial" pitchFamily="34" charset="-120"/>
              </a:rPr>
              <a:t>4</a:t>
            </a:r>
            <a:endParaRPr lang="en-US" sz="6000" dirty="0"/>
          </a:p>
        </p:txBody>
      </p:sp>
      <p:pic>
        <p:nvPicPr>
          <p:cNvPr id="21" name="Image 3" descr="preencoded.png">    </p:cNvPr>
          <p:cNvPicPr>
            <a:picLocks noChangeAspect="1"/>
          </p:cNvPicPr>
          <p:nvPr/>
        </p:nvPicPr>
        <p:blipFill>
          <a:blip r:embed="rId4"/>
          <a:stretch>
            <a:fillRect/>
          </a:stretch>
        </p:blipFill>
        <p:spPr>
          <a:xfrm>
            <a:off x="10753344" y="1874520"/>
            <a:ext cx="594360" cy="594360"/>
          </a:xfrm>
          <a:prstGeom prst="rect">
            <a:avLst/>
          </a:prstGeom>
        </p:spPr>
      </p:pic>
      <p:sp>
        <p:nvSpPr>
          <p:cNvPr id="22" name="Text 15"/>
          <p:cNvSpPr txBox="1"/>
          <p:nvPr/>
        </p:nvSpPr>
        <p:spPr>
          <a:xfrm>
            <a:off x="9198864" y="2926080"/>
            <a:ext cx="2194560" cy="1097280"/>
          </a:xfrm>
          <a:prstGeom prst="rect">
            <a:avLst/>
          </a:prstGeom>
          <a:noFill/>
          <a:ln/>
        </p:spPr>
        <p:txBody>
          <a:bodyPr wrap="square" lIns="635" tIns="635" rIns="635" bIns="635" rtlCol="0" anchor="t"/>
          <a:lstStyle/>
          <a:p>
            <a:pPr indent="0" marL="0">
              <a:buNone/>
            </a:pPr>
            <a:r>
              <a:rPr lang="en-US" sz="2200" b="1" dirty="0">
                <a:solidFill>
                  <a:srgbClr val="1A1A1A"/>
                </a:solidFill>
                <a:latin typeface="Arial" pitchFamily="34" charset="0"/>
                <a:ea typeface="Arial" pitchFamily="34" charset="-122"/>
                <a:cs typeface="Arial" pitchFamily="34" charset="-120"/>
              </a:rPr>
              <a:t>Own the room</a:t>
            </a:r>
            <a:endParaRPr lang="en-US" sz="2200" dirty="0"/>
          </a:p>
        </p:txBody>
      </p:sp>
      <p:sp>
        <p:nvSpPr>
          <p:cNvPr id="23" name="Text 16"/>
          <p:cNvSpPr txBox="1"/>
          <p:nvPr/>
        </p:nvSpPr>
        <p:spPr>
          <a:xfrm>
            <a:off x="9198864" y="4114800"/>
            <a:ext cx="2194560" cy="1097280"/>
          </a:xfrm>
          <a:prstGeom prst="rect">
            <a:avLst/>
          </a:prstGeom>
          <a:noFill/>
          <a:ln/>
        </p:spPr>
        <p:txBody>
          <a:bodyPr wrap="square" lIns="635" tIns="635" rIns="635" bIns="635" rtlCol="0" anchor="t"/>
          <a:lstStyle/>
          <a:p>
            <a:pPr indent="0" marL="0">
              <a:buNone/>
            </a:pPr>
            <a:r>
              <a:rPr lang="en-US" sz="1600" dirty="0">
                <a:solidFill>
                  <a:srgbClr val="6B6B6B"/>
                </a:solidFill>
                <a:latin typeface="Calibri" pitchFamily="34" charset="0"/>
                <a:ea typeface="Calibri" pitchFamily="34" charset="-122"/>
                <a:cs typeface="Calibri" pitchFamily="34" charset="-120"/>
              </a:rPr>
              <a:t>Pause, look, handle tough questions</a:t>
            </a:r>
            <a:endParaRPr lang="en-US" sz="1600" dirty="0"/>
          </a:p>
        </p:txBody>
      </p:sp>
      <p:sp>
        <p:nvSpPr>
          <p:cNvPr id="24" name="Text 17"/>
          <p:cNvSpPr txBox="1"/>
          <p:nvPr/>
        </p:nvSpPr>
        <p:spPr>
          <a:xfrm>
            <a:off x="548640" y="5852160"/>
            <a:ext cx="91440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60+ of 120 minutes </a:t>
            </a:r>
            <a:pPr indent="0" marL="0">
              <a:buNone/>
            </a:pPr>
            <a:r>
              <a:rPr lang="en-US" sz="1700" dirty="0">
                <a:solidFill>
                  <a:srgbClr val="1A1A1A"/>
                </a:solidFill>
                <a:latin typeface="Calibri" pitchFamily="34" charset="0"/>
                <a:ea typeface="Calibri" pitchFamily="34" charset="-122"/>
                <a:cs typeface="Calibri" pitchFamily="34" charset="-120"/>
              </a:rPr>
              <a:t>are you practising — not me talking</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Indonesian senior manager listening attentively in a meeting">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371600"/>
            <a:ext cx="5029200" cy="548640"/>
          </a:xfrm>
          <a:prstGeom prst="rect">
            <a:avLst/>
          </a:prstGeom>
          <a:noFill/>
          <a:ln/>
        </p:spPr>
        <p:txBody>
          <a:bodyPr wrap="square" lIns="635" tIns="635" rIns="635" bIns="635" rtlCol="0" anchor="ctr"/>
          <a:lstStyle/>
          <a:p>
            <a:pPr indent="0" marL="0">
              <a:buNone/>
            </a:pPr>
            <a:r>
              <a:rPr lang="en-US" sz="2000" b="1" spc="400" kern="0" dirty="0">
                <a:solidFill>
                  <a:srgbClr val="FFD6DA"/>
                </a:solidFill>
                <a:latin typeface="Calibri" pitchFamily="34" charset="0"/>
                <a:ea typeface="Calibri" pitchFamily="34" charset="-122"/>
                <a:cs typeface="Calibri" pitchFamily="34" charset="-120"/>
              </a:rPr>
              <a:t>MOVE 1</a:t>
            </a:r>
            <a:endParaRPr lang="en-US" sz="2000" dirty="0"/>
          </a:p>
        </p:txBody>
      </p:sp>
      <p:sp>
        <p:nvSpPr>
          <p:cNvPr id="6" name="Text 3"/>
          <p:cNvSpPr txBox="1"/>
          <p:nvPr/>
        </p:nvSpPr>
        <p:spPr>
          <a:xfrm>
            <a:off x="6735928" y="1920240"/>
            <a:ext cx="5120640" cy="2011680"/>
          </a:xfrm>
          <a:prstGeom prst="rect">
            <a:avLst/>
          </a:prstGeom>
          <a:noFill/>
          <a:ln/>
        </p:spPr>
        <p:txBody>
          <a:bodyPr wrap="square" lIns="635" tIns="635" rIns="635" bIns="635" rtlCol="0" anchor="t"/>
          <a:lstStyle/>
          <a:p>
            <a:pPr indent="0" marL="0">
              <a:buNone/>
            </a:pPr>
            <a:r>
              <a:rPr lang="en-US" sz="5400" b="1" dirty="0">
                <a:solidFill>
                  <a:srgbClr val="FFFFFF"/>
                </a:solidFill>
                <a:latin typeface="Arial" pitchFamily="34" charset="0"/>
                <a:ea typeface="Arial" pitchFamily="34" charset="-122"/>
                <a:cs typeface="Arial" pitchFamily="34" charset="-120"/>
              </a:rPr>
              <a:t>Answer first</a:t>
            </a:r>
            <a:endParaRPr lang="en-US" sz="5400" dirty="0"/>
          </a:p>
        </p:txBody>
      </p:sp>
      <p:sp>
        <p:nvSpPr>
          <p:cNvPr id="7" name="Text 4"/>
          <p:cNvSpPr txBox="1"/>
          <p:nvPr/>
        </p:nvSpPr>
        <p:spPr>
          <a:xfrm>
            <a:off x="6735928" y="4206240"/>
            <a:ext cx="5120640" cy="1280160"/>
          </a:xfrm>
          <a:prstGeom prst="rect">
            <a:avLst/>
          </a:prstGeom>
          <a:noFill/>
          <a:ln/>
        </p:spPr>
        <p:txBody>
          <a:bodyPr wrap="square" lIns="635" tIns="635" rIns="635" bIns="635" rtlCol="0" anchor="t"/>
          <a:lstStyle/>
          <a:p>
            <a:pPr indent="0" marL="0">
              <a:buNone/>
            </a:pPr>
            <a:r>
              <a:rPr lang="en-US" sz="2200" i="1" dirty="0">
                <a:solidFill>
                  <a:srgbClr val="FFFFFF"/>
                </a:solidFill>
                <a:latin typeface="Calibri" pitchFamily="34" charset="0"/>
                <a:ea typeface="Calibri" pitchFamily="34" charset="-122"/>
                <a:cs typeface="Calibri" pitchFamily="34" charset="-120"/>
              </a:rPr>
              <a:t>If you can't say it in one sentence, you're not ready.</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Flip it: lead with the recommendation</a:t>
            </a:r>
            <a:endParaRPr lang="en-US" sz="3200" dirty="0"/>
          </a:p>
        </p:txBody>
      </p:sp>
      <p:sp>
        <p:nvSpPr>
          <p:cNvPr id="4" name="Text 1"/>
          <p:cNvSpPr txBox="1"/>
          <p:nvPr/>
        </p:nvSpPr>
        <p:spPr>
          <a:xfrm>
            <a:off x="548640" y="1508760"/>
            <a:ext cx="4206240" cy="411480"/>
          </a:xfrm>
          <a:prstGeom prst="rect">
            <a:avLst/>
          </a:prstGeom>
          <a:noFill/>
          <a:ln/>
        </p:spPr>
        <p:txBody>
          <a:bodyPr wrap="square" lIns="635" tIns="635" rIns="635" bIns="635" rtlCol="0" anchor="ctr"/>
          <a:lstStyle/>
          <a:p>
            <a:pPr indent="0" marL="0">
              <a:buNone/>
            </a:pPr>
            <a:r>
              <a:rPr lang="en-US" sz="1600" b="1" dirty="0">
                <a:solidFill>
                  <a:srgbClr val="6B6B6B"/>
                </a:solidFill>
                <a:latin typeface="Calibri" pitchFamily="34" charset="0"/>
                <a:ea typeface="Calibri" pitchFamily="34" charset="-122"/>
                <a:cs typeface="Calibri" pitchFamily="34" charset="-120"/>
              </a:rPr>
              <a:t>How we were taught</a:t>
            </a:r>
            <a:endParaRPr lang="en-US" sz="1600" dirty="0"/>
          </a:p>
        </p:txBody>
      </p:sp>
      <p:sp>
        <p:nvSpPr>
          <p:cNvPr id="5" name="Shape 2"/>
          <p:cNvSpPr/>
          <p:nvPr/>
        </p:nvSpPr>
        <p:spPr>
          <a:xfrm>
            <a:off x="548640" y="2011680"/>
            <a:ext cx="4206240" cy="777240"/>
          </a:xfrm>
          <a:prstGeom prst="roundRect">
            <a:avLst>
              <a:gd name="adj" fmla="val 11765"/>
            </a:avLst>
          </a:prstGeom>
          <a:solidFill>
            <a:srgbClr val="F4F4F4"/>
          </a:solidFill>
          <a:ln w="12700">
            <a:solidFill>
              <a:srgbClr val="F4F4F4"/>
            </a:solidFill>
            <a:prstDash val="solid"/>
          </a:ln>
        </p:spPr>
      </p:sp>
      <p:sp>
        <p:nvSpPr>
          <p:cNvPr id="6" name="Text 3"/>
          <p:cNvSpPr txBox="1"/>
          <p:nvPr/>
        </p:nvSpPr>
        <p:spPr>
          <a:xfrm>
            <a:off x="777240" y="2011680"/>
            <a:ext cx="3749040" cy="777240"/>
          </a:xfrm>
          <a:prstGeom prst="rect">
            <a:avLst/>
          </a:prstGeom>
          <a:noFill/>
          <a:ln/>
        </p:spPr>
        <p:txBody>
          <a:bodyPr wrap="square" lIns="635" tIns="635" rIns="635" bIns="635" rtlCol="0" anchor="ctr"/>
          <a:lstStyle/>
          <a:p>
            <a:pPr indent="0" marL="0">
              <a:buNone/>
            </a:pPr>
            <a:r>
              <a:rPr lang="en-US" sz="1800" dirty="0">
                <a:solidFill>
                  <a:srgbClr val="6B6B6B"/>
                </a:solidFill>
                <a:latin typeface="Calibri" pitchFamily="34" charset="0"/>
                <a:ea typeface="Calibri" pitchFamily="34" charset="-122"/>
                <a:cs typeface="Calibri" pitchFamily="34" charset="-120"/>
              </a:rPr>
              <a:t>Background</a:t>
            </a:r>
            <a:endParaRPr lang="en-US" sz="1800" dirty="0"/>
          </a:p>
        </p:txBody>
      </p:sp>
      <p:sp>
        <p:nvSpPr>
          <p:cNvPr id="7" name="Shape 4"/>
          <p:cNvSpPr/>
          <p:nvPr/>
        </p:nvSpPr>
        <p:spPr>
          <a:xfrm>
            <a:off x="548640" y="2926080"/>
            <a:ext cx="4206240" cy="777240"/>
          </a:xfrm>
          <a:prstGeom prst="roundRect">
            <a:avLst>
              <a:gd name="adj" fmla="val 11765"/>
            </a:avLst>
          </a:prstGeom>
          <a:solidFill>
            <a:srgbClr val="F4F4F4"/>
          </a:solidFill>
          <a:ln w="12700">
            <a:solidFill>
              <a:srgbClr val="F4F4F4"/>
            </a:solidFill>
            <a:prstDash val="solid"/>
          </a:ln>
        </p:spPr>
      </p:sp>
      <p:sp>
        <p:nvSpPr>
          <p:cNvPr id="8" name="Text 5"/>
          <p:cNvSpPr txBox="1"/>
          <p:nvPr/>
        </p:nvSpPr>
        <p:spPr>
          <a:xfrm>
            <a:off x="777240" y="2926080"/>
            <a:ext cx="3749040" cy="777240"/>
          </a:xfrm>
          <a:prstGeom prst="rect">
            <a:avLst/>
          </a:prstGeom>
          <a:noFill/>
          <a:ln/>
        </p:spPr>
        <p:txBody>
          <a:bodyPr wrap="square" lIns="635" tIns="635" rIns="635" bIns="635" rtlCol="0" anchor="ctr"/>
          <a:lstStyle/>
          <a:p>
            <a:pPr indent="0" marL="0">
              <a:buNone/>
            </a:pPr>
            <a:r>
              <a:rPr lang="en-US" sz="1800" dirty="0">
                <a:solidFill>
                  <a:srgbClr val="6B6B6B"/>
                </a:solidFill>
                <a:latin typeface="Calibri" pitchFamily="34" charset="0"/>
                <a:ea typeface="Calibri" pitchFamily="34" charset="-122"/>
                <a:cs typeface="Calibri" pitchFamily="34" charset="-120"/>
              </a:rPr>
              <a:t>Analysis</a:t>
            </a:r>
            <a:endParaRPr lang="en-US" sz="1800" dirty="0"/>
          </a:p>
        </p:txBody>
      </p:sp>
      <p:sp>
        <p:nvSpPr>
          <p:cNvPr id="9" name="Shape 6"/>
          <p:cNvSpPr/>
          <p:nvPr/>
        </p:nvSpPr>
        <p:spPr>
          <a:xfrm>
            <a:off x="548640" y="3840480"/>
            <a:ext cx="4206240" cy="777240"/>
          </a:xfrm>
          <a:prstGeom prst="roundRect">
            <a:avLst>
              <a:gd name="adj" fmla="val 11765"/>
            </a:avLst>
          </a:prstGeom>
          <a:solidFill>
            <a:srgbClr val="F4F4F4"/>
          </a:solidFill>
          <a:ln w="12700">
            <a:solidFill>
              <a:srgbClr val="F4F4F4"/>
            </a:solidFill>
            <a:prstDash val="solid"/>
          </a:ln>
        </p:spPr>
      </p:sp>
      <p:sp>
        <p:nvSpPr>
          <p:cNvPr id="10" name="Text 7"/>
          <p:cNvSpPr txBox="1"/>
          <p:nvPr/>
        </p:nvSpPr>
        <p:spPr>
          <a:xfrm>
            <a:off x="777240" y="3840480"/>
            <a:ext cx="3749040" cy="777240"/>
          </a:xfrm>
          <a:prstGeom prst="rect">
            <a:avLst/>
          </a:prstGeom>
          <a:noFill/>
          <a:ln/>
        </p:spPr>
        <p:txBody>
          <a:bodyPr wrap="square" lIns="635" tIns="635" rIns="635" bIns="635" rtlCol="0" anchor="ctr"/>
          <a:lstStyle/>
          <a:p>
            <a:pPr indent="0" marL="0">
              <a:buNone/>
            </a:pPr>
            <a:r>
              <a:rPr lang="en-US" sz="1800" dirty="0">
                <a:solidFill>
                  <a:srgbClr val="6B6B6B"/>
                </a:solidFill>
                <a:latin typeface="Calibri" pitchFamily="34" charset="0"/>
                <a:ea typeface="Calibri" pitchFamily="34" charset="-122"/>
                <a:cs typeface="Calibri" pitchFamily="34" charset="-120"/>
              </a:rPr>
              <a:t>Findings</a:t>
            </a:r>
            <a:endParaRPr lang="en-US" sz="1800" dirty="0"/>
          </a:p>
        </p:txBody>
      </p:sp>
      <p:sp>
        <p:nvSpPr>
          <p:cNvPr id="11" name="Shape 8"/>
          <p:cNvSpPr/>
          <p:nvPr/>
        </p:nvSpPr>
        <p:spPr>
          <a:xfrm>
            <a:off x="548640" y="4754880"/>
            <a:ext cx="4206240" cy="777240"/>
          </a:xfrm>
          <a:prstGeom prst="roundRect">
            <a:avLst>
              <a:gd name="adj" fmla="val 11765"/>
            </a:avLst>
          </a:prstGeom>
          <a:solidFill>
            <a:srgbClr val="D9D9D9"/>
          </a:solidFill>
          <a:ln w="12700">
            <a:solidFill>
              <a:srgbClr val="D9D9D9"/>
            </a:solidFill>
            <a:prstDash val="solid"/>
          </a:ln>
        </p:spPr>
      </p:sp>
      <p:sp>
        <p:nvSpPr>
          <p:cNvPr id="12" name="Text 9"/>
          <p:cNvSpPr txBox="1"/>
          <p:nvPr/>
        </p:nvSpPr>
        <p:spPr>
          <a:xfrm>
            <a:off x="777240" y="4754880"/>
            <a:ext cx="3749040" cy="777240"/>
          </a:xfrm>
          <a:prstGeom prst="rect">
            <a:avLst/>
          </a:prstGeom>
          <a:noFill/>
          <a:ln/>
        </p:spPr>
        <p:txBody>
          <a:bodyPr wrap="square" lIns="635" tIns="635" rIns="635" bIns="635" rtlCol="0" anchor="ctr"/>
          <a:lstStyle/>
          <a:p>
            <a:pPr indent="0" marL="0">
              <a:buNone/>
            </a:pPr>
            <a:r>
              <a:rPr lang="en-US" sz="1800" dirty="0">
                <a:solidFill>
                  <a:srgbClr val="6B6B6B"/>
                </a:solidFill>
                <a:latin typeface="Calibri" pitchFamily="34" charset="0"/>
                <a:ea typeface="Calibri" pitchFamily="34" charset="-122"/>
                <a:cs typeface="Calibri" pitchFamily="34" charset="-120"/>
              </a:rPr>
              <a:t>Recommendation</a:t>
            </a:r>
            <a:endParaRPr lang="en-US" sz="1800" dirty="0"/>
          </a:p>
        </p:txBody>
      </p:sp>
      <p:sp>
        <p:nvSpPr>
          <p:cNvPr id="13" name="Shape 10"/>
          <p:cNvSpPr/>
          <p:nvPr/>
        </p:nvSpPr>
        <p:spPr>
          <a:xfrm>
            <a:off x="5349240" y="3246120"/>
            <a:ext cx="1188720" cy="1188720"/>
          </a:xfrm>
          <a:prstGeom prst="ellipse">
            <a:avLst/>
          </a:prstGeom>
          <a:solidFill>
            <a:srgbClr val="E3001B"/>
          </a:solidFill>
          <a:ln w="12700">
            <a:solidFill>
              <a:srgbClr val="E3001B"/>
            </a:solidFill>
            <a:prstDash val="solid"/>
          </a:ln>
        </p:spPr>
      </p:sp>
      <p:pic>
        <p:nvPicPr>
          <p:cNvPr id="14" name="Image 0" descr="preencoded.png">    </p:cNvPr>
          <p:cNvPicPr>
            <a:picLocks noChangeAspect="1"/>
          </p:cNvPicPr>
          <p:nvPr/>
        </p:nvPicPr>
        <p:blipFill>
          <a:blip r:embed="rId1"/>
          <a:stretch>
            <a:fillRect/>
          </a:stretch>
        </p:blipFill>
        <p:spPr>
          <a:xfrm>
            <a:off x="5682082" y="3578962"/>
            <a:ext cx="523037" cy="523037"/>
          </a:xfrm>
          <a:prstGeom prst="rect">
            <a:avLst/>
          </a:prstGeom>
        </p:spPr>
      </p:pic>
      <p:sp>
        <p:nvSpPr>
          <p:cNvPr id="15" name="Text 11"/>
          <p:cNvSpPr txBox="1"/>
          <p:nvPr/>
        </p:nvSpPr>
        <p:spPr>
          <a:xfrm>
            <a:off x="7178040" y="1508760"/>
            <a:ext cx="4480560" cy="41148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What leaders need</a:t>
            </a:r>
            <a:endParaRPr lang="en-US" sz="1600" dirty="0"/>
          </a:p>
        </p:txBody>
      </p:sp>
      <p:sp>
        <p:nvSpPr>
          <p:cNvPr id="16" name="Shape 12"/>
          <p:cNvSpPr/>
          <p:nvPr/>
        </p:nvSpPr>
        <p:spPr>
          <a:xfrm>
            <a:off x="7178040" y="2011680"/>
            <a:ext cx="4480560" cy="1691640"/>
          </a:xfrm>
          <a:prstGeom prst="roundRect">
            <a:avLst>
              <a:gd name="adj" fmla="val 5405"/>
            </a:avLst>
          </a:prstGeom>
          <a:solidFill>
            <a:srgbClr val="E3001B"/>
          </a:solidFill>
          <a:ln w="12700">
            <a:solidFill>
              <a:srgbClr val="E3001B"/>
            </a:solidFill>
            <a:prstDash val="solid"/>
          </a:ln>
        </p:spPr>
      </p:sp>
      <p:sp>
        <p:nvSpPr>
          <p:cNvPr id="17" name="Text 13"/>
          <p:cNvSpPr txBox="1"/>
          <p:nvPr/>
        </p:nvSpPr>
        <p:spPr>
          <a:xfrm>
            <a:off x="7406640" y="2057400"/>
            <a:ext cx="4114800" cy="1600200"/>
          </a:xfrm>
          <a:prstGeom prst="rect">
            <a:avLst/>
          </a:prstGeom>
          <a:noFill/>
          <a:ln/>
        </p:spPr>
        <p:txBody>
          <a:bodyPr wrap="square" lIns="635" tIns="635" rIns="635" bIns="635"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  Recommendation</a:t>
            </a:r>
            <a:endParaRPr lang="en-US" sz="1500" dirty="0"/>
          </a:p>
          <a:p>
            <a:pPr indent="0" marL="0">
              <a:buNone/>
            </a:pPr>
            <a:r>
              <a:rPr lang="en-US" sz="1500" dirty="0">
                <a:solidFill>
                  <a:srgbClr val="FFD6DA"/>
                </a:solidFill>
                <a:latin typeface="Calibri" pitchFamily="34" charset="0"/>
                <a:ea typeface="Calibri" pitchFamily="34" charset="-122"/>
                <a:cs typeface="Calibri" pitchFamily="34" charset="-120"/>
              </a:rPr>
              <a:t>The decision you want, in one sentence</a:t>
            </a:r>
            <a:endParaRPr lang="en-US" sz="1500" dirty="0"/>
          </a:p>
        </p:txBody>
      </p:sp>
      <p:sp>
        <p:nvSpPr>
          <p:cNvPr id="18" name="Shape 14"/>
          <p:cNvSpPr/>
          <p:nvPr/>
        </p:nvSpPr>
        <p:spPr>
          <a:xfrm>
            <a:off x="7178040" y="3840480"/>
            <a:ext cx="4480560" cy="777240"/>
          </a:xfrm>
          <a:prstGeom prst="roundRect">
            <a:avLst>
              <a:gd name="adj" fmla="val 11765"/>
            </a:avLst>
          </a:prstGeom>
          <a:solidFill>
            <a:srgbClr val="B5101F"/>
          </a:solidFill>
          <a:ln w="12700">
            <a:solidFill>
              <a:srgbClr val="B5101F"/>
            </a:solidFill>
            <a:prstDash val="solid"/>
          </a:ln>
        </p:spPr>
      </p:sp>
      <p:sp>
        <p:nvSpPr>
          <p:cNvPr id="19" name="Text 15"/>
          <p:cNvSpPr txBox="1"/>
          <p:nvPr/>
        </p:nvSpPr>
        <p:spPr>
          <a:xfrm>
            <a:off x="7406640" y="3840480"/>
            <a:ext cx="4114800" cy="777240"/>
          </a:xfrm>
          <a:prstGeom prst="rect">
            <a:avLst/>
          </a:prstGeom>
          <a:noFill/>
          <a:ln/>
        </p:spPr>
        <p:txBody>
          <a:bodyPr wrap="square" lIns="635" tIns="635" rIns="635" bIns="635"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2  Three reasons why</a:t>
            </a:r>
            <a:endParaRPr lang="en-US" sz="1800" dirty="0"/>
          </a:p>
        </p:txBody>
      </p:sp>
      <p:sp>
        <p:nvSpPr>
          <p:cNvPr id="20" name="Shape 16"/>
          <p:cNvSpPr/>
          <p:nvPr/>
        </p:nvSpPr>
        <p:spPr>
          <a:xfrm>
            <a:off x="7178040" y="4754880"/>
            <a:ext cx="4480560" cy="777240"/>
          </a:xfrm>
          <a:prstGeom prst="roundRect">
            <a:avLst>
              <a:gd name="adj" fmla="val 11765"/>
            </a:avLst>
          </a:prstGeom>
          <a:solidFill>
            <a:srgbClr val="5C5C5C"/>
          </a:solidFill>
          <a:ln w="12700">
            <a:solidFill>
              <a:srgbClr val="5C5C5C"/>
            </a:solidFill>
            <a:prstDash val="solid"/>
          </a:ln>
        </p:spPr>
      </p:sp>
      <p:sp>
        <p:nvSpPr>
          <p:cNvPr id="21" name="Text 17"/>
          <p:cNvSpPr txBox="1"/>
          <p:nvPr/>
        </p:nvSpPr>
        <p:spPr>
          <a:xfrm>
            <a:off x="7406640" y="4754880"/>
            <a:ext cx="4114800" cy="777240"/>
          </a:xfrm>
          <a:prstGeom prst="rect">
            <a:avLst/>
          </a:prstGeom>
          <a:noFill/>
          <a:ln/>
        </p:spPr>
        <p:txBody>
          <a:bodyPr wrap="square" lIns="635" tIns="635" rIns="635" bIns="635"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  Proof (data)</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Game: what's the point? You have 10 seconds</a:t>
            </a:r>
            <a:endParaRPr lang="en-US" sz="3200" dirty="0"/>
          </a:p>
        </p:txBody>
      </p:sp>
      <p:sp>
        <p:nvSpPr>
          <p:cNvPr id="4" name="Shape 1"/>
          <p:cNvSpPr/>
          <p:nvPr/>
        </p:nvSpPr>
        <p:spPr>
          <a:xfrm>
            <a:off x="548640" y="1600200"/>
            <a:ext cx="7315200" cy="3931920"/>
          </a:xfrm>
          <a:prstGeom prst="roundRect">
            <a:avLst>
              <a:gd name="adj" fmla="val 2326"/>
            </a:avLst>
          </a:prstGeom>
          <a:solidFill>
            <a:srgbClr val="F4F4F4"/>
          </a:solidFill>
          <a:ln w="12700">
            <a:solidFill>
              <a:srgbClr val="F4F4F4"/>
            </a:solidFill>
            <a:prstDash val="solid"/>
          </a:ln>
        </p:spPr>
      </p:sp>
      <p:sp>
        <p:nvSpPr>
          <p:cNvPr id="5" name="Text 2"/>
          <p:cNvSpPr txBox="1"/>
          <p:nvPr/>
        </p:nvSpPr>
        <p:spPr>
          <a:xfrm>
            <a:off x="868680" y="1783080"/>
            <a:ext cx="6675120" cy="3566160"/>
          </a:xfrm>
          <a:prstGeom prst="rect">
            <a:avLst/>
          </a:prstGeom>
          <a:noFill/>
          <a:ln/>
        </p:spPr>
        <p:txBody>
          <a:bodyPr wrap="square" lIns="635" tIns="635" rIns="635" bIns="635" rtlCol="0" anchor="ctr"/>
          <a:lstStyle/>
          <a:p>
            <a:pPr indent="0" marL="0">
              <a:buNone/>
            </a:pPr>
            <a:r>
              <a:rPr lang="en-US" sz="2000" i="1" dirty="0">
                <a:solidFill>
                  <a:srgbClr val="555555"/>
                </a:solidFill>
                <a:latin typeface="Calibri" pitchFamily="34" charset="0"/>
                <a:ea typeface="Calibri" pitchFamily="34" charset="-122"/>
                <a:cs typeface="Calibri" pitchFamily="34" charset="-120"/>
              </a:rPr>
              <a:t>“So, as you know, East Java has been growing quite well this year, especially in the new-merchant segment. However, we have been monitoring some indicators, and there are some movements in early delinquency, mainly in some partner stores, which the team is analysing in more detail, so maybe we could consider some adjustments going forward...”</a:t>
            </a:r>
            <a:endParaRPr lang="en-US" sz="2000" dirty="0"/>
          </a:p>
        </p:txBody>
      </p:sp>
      <p:sp>
        <p:nvSpPr>
          <p:cNvPr id="6" name="Shape 3"/>
          <p:cNvSpPr/>
          <p:nvPr/>
        </p:nvSpPr>
        <p:spPr>
          <a:xfrm rot="10800000">
            <a:off x="1463040" y="5486400"/>
            <a:ext cx="548640" cy="365760"/>
          </a:xfrm>
          <a:prstGeom prst="triangle">
            <a:avLst/>
          </a:prstGeom>
          <a:solidFill>
            <a:srgbClr val="F4F4F4"/>
          </a:solidFill>
          <a:ln w="12700">
            <a:solidFill>
              <a:srgbClr val="F4F4F4"/>
            </a:solidFill>
            <a:prstDash val="solid"/>
          </a:ln>
        </p:spPr>
      </p:sp>
      <p:sp>
        <p:nvSpPr>
          <p:cNvPr id="7" name="Shape 4"/>
          <p:cNvSpPr/>
          <p:nvPr/>
        </p:nvSpPr>
        <p:spPr>
          <a:xfrm>
            <a:off x="8229600" y="1600200"/>
            <a:ext cx="3429000" cy="3931920"/>
          </a:xfrm>
          <a:prstGeom prst="roundRect">
            <a:avLst>
              <a:gd name="adj" fmla="val 2667"/>
            </a:avLst>
          </a:prstGeom>
          <a:solidFill>
            <a:srgbClr val="E3001B"/>
          </a:solidFill>
          <a:ln w="12700">
            <a:solidFill>
              <a:srgbClr val="E3001B"/>
            </a:solidFill>
            <a:prstDash val="solid"/>
          </a:ln>
        </p:spPr>
      </p:sp>
      <p:sp>
        <p:nvSpPr>
          <p:cNvPr id="8" name="Text 5"/>
          <p:cNvSpPr txBox="1"/>
          <p:nvPr/>
        </p:nvSpPr>
        <p:spPr>
          <a:xfrm>
            <a:off x="8229600" y="1737360"/>
            <a:ext cx="3429000" cy="2103120"/>
          </a:xfrm>
          <a:prstGeom prst="rect">
            <a:avLst/>
          </a:prstGeom>
          <a:noFill/>
          <a:ln/>
        </p:spPr>
        <p:txBody>
          <a:bodyPr wrap="square" lIns="635" tIns="635" rIns="635" bIns="635" rtlCol="0" anchor="ctr"/>
          <a:lstStyle/>
          <a:p>
            <a:pPr algn="ctr" indent="0" marL="0">
              <a:buNone/>
            </a:pPr>
            <a:r>
              <a:rPr lang="en-US" sz="14000" b="1" dirty="0">
                <a:solidFill>
                  <a:srgbClr val="FFFFFF"/>
                </a:solidFill>
                <a:latin typeface="Arial" pitchFamily="34" charset="0"/>
                <a:ea typeface="Arial" pitchFamily="34" charset="-122"/>
                <a:cs typeface="Arial" pitchFamily="34" charset="-120"/>
              </a:rPr>
              <a:t>?</a:t>
            </a:r>
            <a:endParaRPr lang="en-US" sz="14000" dirty="0"/>
          </a:p>
        </p:txBody>
      </p:sp>
      <p:sp>
        <p:nvSpPr>
          <p:cNvPr id="9" name="Text 6"/>
          <p:cNvSpPr txBox="1"/>
          <p:nvPr/>
        </p:nvSpPr>
        <p:spPr>
          <a:xfrm>
            <a:off x="8458200" y="3931920"/>
            <a:ext cx="2971800" cy="1097280"/>
          </a:xfrm>
          <a:prstGeom prst="rect">
            <a:avLst/>
          </a:prstGeom>
          <a:noFill/>
          <a:ln/>
        </p:spPr>
        <p:txBody>
          <a:bodyPr wrap="square" lIns="635" tIns="635" rIns="635" bIns="635" rtlCol="0" anchor="t"/>
          <a:lstStyle/>
          <a:p>
            <a:pPr algn="ctr" indent="0" marL="0">
              <a:buNone/>
            </a:pPr>
            <a:r>
              <a:rPr lang="en-US" sz="1900" b="1" dirty="0">
                <a:solidFill>
                  <a:srgbClr val="FFFFFF"/>
                </a:solidFill>
                <a:latin typeface="Calibri" pitchFamily="34" charset="0"/>
                <a:ea typeface="Calibri" pitchFamily="34" charset="-122"/>
                <a:cs typeface="Calibri" pitchFamily="34" charset="-120"/>
              </a:rPr>
              <a:t>Shout it out: what do they want?</a:t>
            </a:r>
            <a:endParaRPr lang="en-US" sz="1900" dirty="0"/>
          </a:p>
        </p:txBody>
      </p:sp>
      <p:pic>
        <p:nvPicPr>
          <p:cNvPr id="10" name="Image 0" descr="preencoded.png">    </p:cNvPr>
          <p:cNvPicPr>
            <a:picLocks noChangeAspect="1"/>
          </p:cNvPicPr>
          <p:nvPr/>
        </p:nvPicPr>
        <p:blipFill>
          <a:blip r:embed="rId1"/>
          <a:stretch>
            <a:fillRect/>
          </a:stretch>
        </p:blipFill>
        <p:spPr>
          <a:xfrm>
            <a:off x="9326880" y="4937760"/>
            <a:ext cx="457200" cy="457200"/>
          </a:xfrm>
          <a:prstGeom prst="rect">
            <a:avLst/>
          </a:prstGeom>
        </p:spPr>
      </p:pic>
      <p:sp>
        <p:nvSpPr>
          <p:cNvPr id="11" name="Text 7"/>
          <p:cNvSpPr txBox="1"/>
          <p:nvPr/>
        </p:nvSpPr>
        <p:spPr>
          <a:xfrm>
            <a:off x="9875520" y="4892040"/>
            <a:ext cx="1371600" cy="548640"/>
          </a:xfrm>
          <a:prstGeom prst="rect">
            <a:avLst/>
          </a:prstGeom>
          <a:noFill/>
          <a:ln/>
        </p:spPr>
        <p:txBody>
          <a:bodyPr wrap="square" lIns="635" tIns="635" rIns="635" bIns="635" rtlCol="0" anchor="ctr"/>
          <a:lstStyle/>
          <a:p>
            <a:pPr indent="0" marL="0">
              <a:buNone/>
            </a:pPr>
            <a:r>
              <a:rPr lang="en-US" sz="2600" b="1" dirty="0">
                <a:solidFill>
                  <a:srgbClr val="FFFFFF"/>
                </a:solidFill>
                <a:latin typeface="Arial" pitchFamily="34" charset="0"/>
                <a:ea typeface="Arial" pitchFamily="34" charset="-122"/>
                <a:cs typeface="Arial" pitchFamily="34" charset="-120"/>
              </a:rPr>
              <a:t>0:10</a:t>
            </a:r>
            <a:endParaRPr lang="en-US" sz="2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Your 30-second opening: fill in four blanks</a:t>
            </a:r>
            <a:endParaRPr lang="en-US" sz="3200" dirty="0"/>
          </a:p>
        </p:txBody>
      </p:sp>
      <p:sp>
        <p:nvSpPr>
          <p:cNvPr id="4" name="Text 1"/>
          <p:cNvSpPr txBox="1"/>
          <p:nvPr/>
        </p:nvSpPr>
        <p:spPr>
          <a:xfrm>
            <a:off x="548640" y="1645920"/>
            <a:ext cx="777240" cy="777240"/>
          </a:xfrm>
          <a:prstGeom prst="ellipse">
            <a:avLst/>
          </a:prstGeom>
          <a:solidFill>
            <a:srgbClr val="F4F4F4"/>
          </a:solidFill>
          <a:ln/>
        </p:spPr>
        <p:txBody>
          <a:bodyPr wrap="square" lIns="0" tIns="0" rIns="0" bIns="0" rtlCol="0" anchor="ctr"/>
          <a:lstStyle/>
          <a:p>
            <a:pPr algn="ctr" indent="0" marL="0">
              <a:buNone/>
            </a:pPr>
            <a:r>
              <a:rPr lang="en-US" sz="2400" b="1" dirty="0">
                <a:solidFill>
                  <a:srgbClr val="E3001B"/>
                </a:solidFill>
                <a:latin typeface="Calibri" pitchFamily="34" charset="0"/>
                <a:ea typeface="Calibri" pitchFamily="34" charset="-122"/>
                <a:cs typeface="Calibri" pitchFamily="34" charset="-120"/>
              </a:rPr>
              <a:t>S</a:t>
            </a:r>
            <a:endParaRPr lang="en-US" sz="2400" dirty="0"/>
          </a:p>
        </p:txBody>
      </p:sp>
      <p:sp>
        <p:nvSpPr>
          <p:cNvPr id="5" name="Text 2"/>
          <p:cNvSpPr txBox="1"/>
          <p:nvPr/>
        </p:nvSpPr>
        <p:spPr>
          <a:xfrm>
            <a:off x="1554480" y="1645920"/>
            <a:ext cx="6766560" cy="777240"/>
          </a:xfrm>
          <a:prstGeom prst="rect">
            <a:avLst/>
          </a:prstGeom>
          <a:noFill/>
          <a:ln/>
        </p:spPr>
        <p:txBody>
          <a:bodyPr wrap="square" lIns="635" tIns="635" rIns="635" bIns="635"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Today, </a:t>
            </a:r>
            <a:pPr indent="0" marL="0">
              <a:buNone/>
            </a:pPr>
            <a:r>
              <a:rPr lang="en-US" sz="2800" dirty="0">
                <a:solidFill>
                  <a:srgbClr val="BDBDBD"/>
                </a:solidFill>
                <a:latin typeface="Calibri" pitchFamily="34" charset="0"/>
                <a:ea typeface="Calibri" pitchFamily="34" charset="-122"/>
                <a:cs typeface="Calibri" pitchFamily="34" charset="-120"/>
              </a:rPr>
              <a:t>________________________</a:t>
            </a:r>
            <a:endParaRPr lang="en-US" sz="2800" dirty="0"/>
          </a:p>
        </p:txBody>
      </p:sp>
      <p:sp>
        <p:nvSpPr>
          <p:cNvPr id="6" name="Text 3"/>
          <p:cNvSpPr txBox="1"/>
          <p:nvPr/>
        </p:nvSpPr>
        <p:spPr>
          <a:xfrm>
            <a:off x="8229600" y="1645920"/>
            <a:ext cx="3383280" cy="777240"/>
          </a:xfrm>
          <a:prstGeom prst="rect">
            <a:avLst/>
          </a:prstGeom>
          <a:noFill/>
          <a:ln/>
        </p:spPr>
        <p:txBody>
          <a:bodyPr wrap="square" lIns="635" tIns="635" rIns="635" bIns="635"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what everyone agrees on</a:t>
            </a:r>
            <a:endParaRPr lang="en-US" sz="1600" dirty="0"/>
          </a:p>
        </p:txBody>
      </p:sp>
      <p:sp>
        <p:nvSpPr>
          <p:cNvPr id="7" name="Text 4"/>
          <p:cNvSpPr txBox="1"/>
          <p:nvPr/>
        </p:nvSpPr>
        <p:spPr>
          <a:xfrm>
            <a:off x="548640" y="2697480"/>
            <a:ext cx="777240" cy="777240"/>
          </a:xfrm>
          <a:prstGeom prst="ellipse">
            <a:avLst/>
          </a:prstGeom>
          <a:solidFill>
            <a:srgbClr val="F4F4F4"/>
          </a:solidFill>
          <a:ln/>
        </p:spPr>
        <p:txBody>
          <a:bodyPr wrap="square" lIns="0" tIns="0" rIns="0" bIns="0" rtlCol="0" anchor="ctr"/>
          <a:lstStyle/>
          <a:p>
            <a:pPr algn="ctr" indent="0" marL="0">
              <a:buNone/>
            </a:pPr>
            <a:r>
              <a:rPr lang="en-US" sz="2400" b="1" dirty="0">
                <a:solidFill>
                  <a:srgbClr val="E3001B"/>
                </a:solidFill>
                <a:latin typeface="Calibri" pitchFamily="34" charset="0"/>
                <a:ea typeface="Calibri" pitchFamily="34" charset="-122"/>
                <a:cs typeface="Calibri" pitchFamily="34" charset="-120"/>
              </a:rPr>
              <a:t>C</a:t>
            </a:r>
            <a:endParaRPr lang="en-US" sz="2400" dirty="0"/>
          </a:p>
        </p:txBody>
      </p:sp>
      <p:sp>
        <p:nvSpPr>
          <p:cNvPr id="8" name="Text 5"/>
          <p:cNvSpPr txBox="1"/>
          <p:nvPr/>
        </p:nvSpPr>
        <p:spPr>
          <a:xfrm>
            <a:off x="1554480" y="2697480"/>
            <a:ext cx="6766560" cy="777240"/>
          </a:xfrm>
          <a:prstGeom prst="rect">
            <a:avLst/>
          </a:prstGeom>
          <a:noFill/>
          <a:ln/>
        </p:spPr>
        <p:txBody>
          <a:bodyPr wrap="square" lIns="635" tIns="635" rIns="635" bIns="635"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But </a:t>
            </a:r>
            <a:pPr indent="0" marL="0">
              <a:buNone/>
            </a:pPr>
            <a:r>
              <a:rPr lang="en-US" sz="2800" dirty="0">
                <a:solidFill>
                  <a:srgbClr val="BDBDBD"/>
                </a:solidFill>
                <a:latin typeface="Calibri" pitchFamily="34" charset="0"/>
                <a:ea typeface="Calibri" pitchFamily="34" charset="-122"/>
                <a:cs typeface="Calibri" pitchFamily="34" charset="-120"/>
              </a:rPr>
              <a:t>________________________</a:t>
            </a:r>
            <a:endParaRPr lang="en-US" sz="2800" dirty="0"/>
          </a:p>
        </p:txBody>
      </p:sp>
      <p:sp>
        <p:nvSpPr>
          <p:cNvPr id="9" name="Text 6"/>
          <p:cNvSpPr txBox="1"/>
          <p:nvPr/>
        </p:nvSpPr>
        <p:spPr>
          <a:xfrm>
            <a:off x="8229600" y="2697480"/>
            <a:ext cx="3383280" cy="777240"/>
          </a:xfrm>
          <a:prstGeom prst="rect">
            <a:avLst/>
          </a:prstGeom>
          <a:noFill/>
          <a:ln/>
        </p:spPr>
        <p:txBody>
          <a:bodyPr wrap="square" lIns="635" tIns="635" rIns="635" bIns="635"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what changed</a:t>
            </a:r>
            <a:endParaRPr lang="en-US" sz="1600" dirty="0"/>
          </a:p>
        </p:txBody>
      </p:sp>
      <p:sp>
        <p:nvSpPr>
          <p:cNvPr id="10" name="Text 7"/>
          <p:cNvSpPr txBox="1"/>
          <p:nvPr/>
        </p:nvSpPr>
        <p:spPr>
          <a:xfrm>
            <a:off x="548640" y="3749040"/>
            <a:ext cx="777240" cy="777240"/>
          </a:xfrm>
          <a:prstGeom prst="ellipse">
            <a:avLst/>
          </a:prstGeom>
          <a:solidFill>
            <a:srgbClr val="F4F4F4"/>
          </a:solidFill>
          <a:ln/>
        </p:spPr>
        <p:txBody>
          <a:bodyPr wrap="square" lIns="0" tIns="0" rIns="0" bIns="0" rtlCol="0" anchor="ctr"/>
          <a:lstStyle/>
          <a:p>
            <a:pPr algn="ctr" indent="0" marL="0">
              <a:buNone/>
            </a:pPr>
            <a:r>
              <a:rPr lang="en-US" sz="2400" b="1" dirty="0">
                <a:solidFill>
                  <a:srgbClr val="E3001B"/>
                </a:solidFill>
                <a:latin typeface="Calibri" pitchFamily="34" charset="0"/>
                <a:ea typeface="Calibri" pitchFamily="34" charset="-122"/>
                <a:cs typeface="Calibri" pitchFamily="34" charset="-120"/>
              </a:rPr>
              <a:t>Q</a:t>
            </a:r>
            <a:endParaRPr lang="en-US" sz="2400" dirty="0"/>
          </a:p>
        </p:txBody>
      </p:sp>
      <p:sp>
        <p:nvSpPr>
          <p:cNvPr id="11" name="Text 8"/>
          <p:cNvSpPr txBox="1"/>
          <p:nvPr/>
        </p:nvSpPr>
        <p:spPr>
          <a:xfrm>
            <a:off x="1554480" y="3749040"/>
            <a:ext cx="6766560" cy="777240"/>
          </a:xfrm>
          <a:prstGeom prst="rect">
            <a:avLst/>
          </a:prstGeom>
          <a:noFill/>
          <a:ln/>
        </p:spPr>
        <p:txBody>
          <a:bodyPr wrap="square" lIns="635" tIns="635" rIns="635" bIns="635"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So the question is: </a:t>
            </a:r>
            <a:pPr indent="0" marL="0">
              <a:buNone/>
            </a:pPr>
            <a:r>
              <a:rPr lang="en-US" sz="2800" dirty="0">
                <a:solidFill>
                  <a:srgbClr val="BDBDBD"/>
                </a:solidFill>
                <a:latin typeface="Calibri" pitchFamily="34" charset="0"/>
                <a:ea typeface="Calibri" pitchFamily="34" charset="-122"/>
                <a:cs typeface="Calibri" pitchFamily="34" charset="-120"/>
              </a:rPr>
              <a:t>____________</a:t>
            </a:r>
            <a:endParaRPr lang="en-US" sz="2800" dirty="0"/>
          </a:p>
        </p:txBody>
      </p:sp>
      <p:sp>
        <p:nvSpPr>
          <p:cNvPr id="12" name="Text 9"/>
          <p:cNvSpPr txBox="1"/>
          <p:nvPr/>
        </p:nvSpPr>
        <p:spPr>
          <a:xfrm>
            <a:off x="8229600" y="3749040"/>
            <a:ext cx="3383280" cy="777240"/>
          </a:xfrm>
          <a:prstGeom prst="rect">
            <a:avLst/>
          </a:prstGeom>
          <a:noFill/>
          <a:ln/>
        </p:spPr>
        <p:txBody>
          <a:bodyPr wrap="square" lIns="635" tIns="635" rIns="635" bIns="635"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the question it raises</a:t>
            </a:r>
            <a:endParaRPr lang="en-US" sz="1600" dirty="0"/>
          </a:p>
        </p:txBody>
      </p:sp>
      <p:sp>
        <p:nvSpPr>
          <p:cNvPr id="13" name="Text 10"/>
          <p:cNvSpPr txBox="1"/>
          <p:nvPr/>
        </p:nvSpPr>
        <p:spPr>
          <a:xfrm>
            <a:off x="548640" y="4800600"/>
            <a:ext cx="777240" cy="777240"/>
          </a:xfrm>
          <a:prstGeom prst="ellipse">
            <a:avLst/>
          </a:prstGeom>
          <a:solidFill>
            <a:srgbClr val="E3001B"/>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14" name="Text 11"/>
          <p:cNvSpPr txBox="1"/>
          <p:nvPr/>
        </p:nvSpPr>
        <p:spPr>
          <a:xfrm>
            <a:off x="1554480" y="4800600"/>
            <a:ext cx="6766560" cy="777240"/>
          </a:xfrm>
          <a:prstGeom prst="rect">
            <a:avLst/>
          </a:prstGeom>
          <a:noFill/>
          <a:ln/>
        </p:spPr>
        <p:txBody>
          <a:bodyPr wrap="square" lIns="635" tIns="635" rIns="635" bIns="635" rtlCol="0" anchor="ctr"/>
          <a:lstStyle/>
          <a:p>
            <a:pPr indent="0" marL="0">
              <a:buNone/>
            </a:pPr>
            <a:r>
              <a:rPr lang="en-US" sz="2800" b="1" dirty="0">
                <a:solidFill>
                  <a:srgbClr val="E3001B"/>
                </a:solidFill>
                <a:latin typeface="Calibri" pitchFamily="34" charset="0"/>
                <a:ea typeface="Calibri" pitchFamily="34" charset="-122"/>
                <a:cs typeface="Calibri" pitchFamily="34" charset="-120"/>
              </a:rPr>
              <a:t>I recommend </a:t>
            </a:r>
            <a:pPr indent="0" marL="0">
              <a:buNone/>
            </a:pPr>
            <a:r>
              <a:rPr lang="en-US" sz="2800" dirty="0">
                <a:solidFill>
                  <a:srgbClr val="BDBDBD"/>
                </a:solidFill>
                <a:latin typeface="Calibri" pitchFamily="34" charset="0"/>
                <a:ea typeface="Calibri" pitchFamily="34" charset="-122"/>
                <a:cs typeface="Calibri" pitchFamily="34" charset="-120"/>
              </a:rPr>
              <a:t>________________________</a:t>
            </a:r>
            <a:endParaRPr lang="en-US" sz="2800" dirty="0"/>
          </a:p>
        </p:txBody>
      </p:sp>
      <p:sp>
        <p:nvSpPr>
          <p:cNvPr id="15" name="Text 12"/>
          <p:cNvSpPr txBox="1"/>
          <p:nvPr/>
        </p:nvSpPr>
        <p:spPr>
          <a:xfrm>
            <a:off x="8229600" y="4800600"/>
            <a:ext cx="3383280" cy="777240"/>
          </a:xfrm>
          <a:prstGeom prst="rect">
            <a:avLst/>
          </a:prstGeom>
          <a:noFill/>
          <a:ln/>
        </p:spPr>
        <p:txBody>
          <a:bodyPr wrap="square" lIns="635" tIns="635" rIns="635" bIns="635"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your decision</a:t>
            </a:r>
            <a:endParaRPr lang="en-US" sz="1600" dirty="0"/>
          </a:p>
        </p:txBody>
      </p:sp>
      <p:pic>
        <p:nvPicPr>
          <p:cNvPr id="16" name="Image 0" descr="preencoded.png">    </p:cNvPr>
          <p:cNvPicPr>
            <a:picLocks noChangeAspect="1"/>
          </p:cNvPicPr>
          <p:nvPr/>
        </p:nvPicPr>
        <p:blipFill>
          <a:blip r:embed="rId1"/>
          <a:stretch>
            <a:fillRect/>
          </a:stretch>
        </p:blipFill>
        <p:spPr>
          <a:xfrm>
            <a:off x="548640" y="5852160"/>
            <a:ext cx="457200" cy="457200"/>
          </a:xfrm>
          <a:prstGeom prst="rect">
            <a:avLst/>
          </a:prstGeom>
        </p:spPr>
      </p:pic>
      <p:sp>
        <p:nvSpPr>
          <p:cNvPr id="17" name="Text 13"/>
          <p:cNvSpPr txBox="1"/>
          <p:nvPr/>
        </p:nvSpPr>
        <p:spPr>
          <a:xfrm>
            <a:off x="1097280" y="5806440"/>
            <a:ext cx="2377440" cy="548640"/>
          </a:xfrm>
          <a:prstGeom prst="rect">
            <a:avLst/>
          </a:prstGeom>
          <a:noFill/>
          <a:ln/>
        </p:spPr>
        <p:txBody>
          <a:bodyPr wrap="square" lIns="635" tIns="635" rIns="635" bIns="635" rtlCol="0" anchor="ctr"/>
          <a:lstStyle/>
          <a:p>
            <a:pPr indent="0" marL="0">
              <a:buNone/>
            </a:pPr>
            <a:r>
              <a:rPr lang="en-US" sz="2600" b="1" dirty="0">
                <a:solidFill>
                  <a:srgbClr val="E3001B"/>
                </a:solidFill>
                <a:latin typeface="Arial" pitchFamily="34" charset="0"/>
                <a:ea typeface="Arial" pitchFamily="34" charset="-122"/>
                <a:cs typeface="Arial" pitchFamily="34" charset="-120"/>
              </a:rPr>
              <a:t>0:30</a:t>
            </a:r>
            <a:endParaRPr lang="en-US" sz="2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9E0012"/>
                </a:solidFill>
                <a:latin typeface="Arial" pitchFamily="34" charset="0"/>
                <a:ea typeface="Arial" pitchFamily="34" charset="-122"/>
                <a:cs typeface="Arial" pitchFamily="34" charset="-120"/>
              </a:rPr>
              <a:t>Your turn: 30-second opening</a:t>
            </a:r>
            <a:endParaRPr lang="en-US" sz="3200" dirty="0"/>
          </a:p>
        </p:txBody>
      </p:sp>
      <p:sp>
        <p:nvSpPr>
          <p:cNvPr id="4" name="Text 1"/>
          <p:cNvSpPr txBox="1"/>
          <p:nvPr/>
        </p:nvSpPr>
        <p:spPr>
          <a:xfrm>
            <a:off x="548640" y="173736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2"/>
          <p:cNvSpPr txBox="1"/>
          <p:nvPr/>
        </p:nvSpPr>
        <p:spPr>
          <a:xfrm>
            <a:off x="1143000" y="169164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Fill the 4 blanks</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Your real topic, or case card A, B or C</a:t>
            </a:r>
            <a:endParaRPr lang="en-US" sz="1500" dirty="0"/>
          </a:p>
        </p:txBody>
      </p:sp>
      <p:sp>
        <p:nvSpPr>
          <p:cNvPr id="6" name="Text 3"/>
          <p:cNvSpPr txBox="1"/>
          <p:nvPr/>
        </p:nvSpPr>
        <p:spPr>
          <a:xfrm>
            <a:off x="548640" y="297180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1143000" y="292608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Stand up. Say it in 30 seconds</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Partner times you</a:t>
            </a:r>
            <a:endParaRPr lang="en-US" sz="1500" dirty="0"/>
          </a:p>
        </p:txBody>
      </p:sp>
      <p:sp>
        <p:nvSpPr>
          <p:cNvPr id="8" name="Text 5"/>
          <p:cNvSpPr txBox="1"/>
          <p:nvPr/>
        </p:nvSpPr>
        <p:spPr>
          <a:xfrm>
            <a:off x="548640" y="420624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9" name="Text 6"/>
          <p:cNvSpPr txBox="1"/>
          <p:nvPr/>
        </p:nvSpPr>
        <p:spPr>
          <a:xfrm>
            <a:off x="1143000" y="416052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Partner asks: “So what?”</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Rewrite until the answer is a decision</a:t>
            </a:r>
            <a:endParaRPr lang="en-US" sz="1500" dirty="0"/>
          </a:p>
        </p:txBody>
      </p:sp>
      <p:sp>
        <p:nvSpPr>
          <p:cNvPr id="10" name="Text 7"/>
          <p:cNvSpPr txBox="1"/>
          <p:nvPr/>
        </p:nvSpPr>
        <p:spPr>
          <a:xfrm>
            <a:off x="7086600" y="1600200"/>
            <a:ext cx="4572000" cy="365760"/>
          </a:xfrm>
          <a:prstGeom prst="rect">
            <a:avLst/>
          </a:prstGeom>
          <a:noFill/>
          <a:ln/>
        </p:spPr>
        <p:txBody>
          <a:bodyPr wrap="square" lIns="635" tIns="635" rIns="635" bIns="635" rtlCol="0" anchor="ctr"/>
          <a:lstStyle/>
          <a:p>
            <a:pPr indent="0" marL="0">
              <a:buNone/>
            </a:pPr>
            <a:r>
              <a:rPr lang="en-US" sz="1500" b="1" dirty="0">
                <a:solidFill>
                  <a:srgbClr val="9E0012"/>
                </a:solidFill>
                <a:latin typeface="Calibri" pitchFamily="34" charset="0"/>
                <a:ea typeface="Calibri" pitchFamily="34" charset="-122"/>
                <a:cs typeface="Calibri" pitchFamily="34" charset="-120"/>
              </a:rPr>
              <a:t>Or use a case card</a:t>
            </a:r>
            <a:endParaRPr lang="en-US" sz="1500" dirty="0"/>
          </a:p>
        </p:txBody>
      </p:sp>
      <p:sp>
        <p:nvSpPr>
          <p:cNvPr id="11" name="Shape 8"/>
          <p:cNvSpPr/>
          <p:nvPr/>
        </p:nvSpPr>
        <p:spPr>
          <a:xfrm>
            <a:off x="7086600" y="2057400"/>
            <a:ext cx="4572000"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2" name="Shape 9"/>
          <p:cNvSpPr/>
          <p:nvPr/>
        </p:nvSpPr>
        <p:spPr>
          <a:xfrm>
            <a:off x="7223760" y="2194560"/>
            <a:ext cx="640080" cy="640080"/>
          </a:xfrm>
          <a:prstGeom prst="ellipse">
            <a:avLst/>
          </a:prstGeom>
          <a:solidFill>
            <a:srgbClr val="E3001B"/>
          </a:solidFill>
          <a:ln w="12700">
            <a:solidFill>
              <a:srgbClr val="E3001B"/>
            </a:solidFill>
            <a:prstDash val="solid"/>
          </a:ln>
        </p:spPr>
      </p:sp>
      <p:pic>
        <p:nvPicPr>
          <p:cNvPr id="13" name="Image 0" descr="preencoded.png">    </p:cNvPr>
          <p:cNvPicPr>
            <a:picLocks noChangeAspect="1"/>
          </p:cNvPicPr>
          <p:nvPr/>
        </p:nvPicPr>
        <p:blipFill>
          <a:blip r:embed="rId1"/>
          <a:stretch>
            <a:fillRect/>
          </a:stretch>
        </p:blipFill>
        <p:spPr>
          <a:xfrm>
            <a:off x="7402982" y="2373782"/>
            <a:ext cx="281635" cy="281635"/>
          </a:xfrm>
          <a:prstGeom prst="rect">
            <a:avLst/>
          </a:prstGeom>
        </p:spPr>
      </p:pic>
      <p:sp>
        <p:nvSpPr>
          <p:cNvPr id="14" name="Text 10"/>
          <p:cNvSpPr txBox="1"/>
          <p:nvPr/>
        </p:nvSpPr>
        <p:spPr>
          <a:xfrm>
            <a:off x="8046720" y="2057400"/>
            <a:ext cx="3520440" cy="91440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A · East Java bad loans rising</a:t>
            </a:r>
            <a:endParaRPr lang="en-US" sz="1600" dirty="0"/>
          </a:p>
        </p:txBody>
      </p:sp>
      <p:sp>
        <p:nvSpPr>
          <p:cNvPr id="15" name="Shape 11"/>
          <p:cNvSpPr/>
          <p:nvPr/>
        </p:nvSpPr>
        <p:spPr>
          <a:xfrm>
            <a:off x="7086600" y="3154680"/>
            <a:ext cx="4572000"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6" name="Shape 12"/>
          <p:cNvSpPr/>
          <p:nvPr/>
        </p:nvSpPr>
        <p:spPr>
          <a:xfrm>
            <a:off x="7223760" y="3291840"/>
            <a:ext cx="640080" cy="640080"/>
          </a:xfrm>
          <a:prstGeom prst="ellipse">
            <a:avLst/>
          </a:prstGeom>
          <a:solidFill>
            <a:srgbClr val="E3001B"/>
          </a:solidFill>
          <a:ln w="12700">
            <a:solidFill>
              <a:srgbClr val="E3001B"/>
            </a:solidFill>
            <a:prstDash val="solid"/>
          </a:ln>
        </p:spPr>
      </p:sp>
      <p:pic>
        <p:nvPicPr>
          <p:cNvPr id="17" name="Image 1" descr="preencoded.png">    </p:cNvPr>
          <p:cNvPicPr>
            <a:picLocks noChangeAspect="1"/>
          </p:cNvPicPr>
          <p:nvPr/>
        </p:nvPicPr>
        <p:blipFill>
          <a:blip r:embed="rId2"/>
          <a:stretch>
            <a:fillRect/>
          </a:stretch>
        </p:blipFill>
        <p:spPr>
          <a:xfrm>
            <a:off x="7402982" y="3471062"/>
            <a:ext cx="281635" cy="281635"/>
          </a:xfrm>
          <a:prstGeom prst="rect">
            <a:avLst/>
          </a:prstGeom>
        </p:spPr>
      </p:pic>
      <p:sp>
        <p:nvSpPr>
          <p:cNvPr id="18" name="Text 13"/>
          <p:cNvSpPr txBox="1"/>
          <p:nvPr/>
        </p:nvSpPr>
        <p:spPr>
          <a:xfrm>
            <a:off x="8046720" y="3154680"/>
            <a:ext cx="3520440" cy="91440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B · 1-tap payment reminder in the app</a:t>
            </a:r>
            <a:endParaRPr lang="en-US" sz="1600" dirty="0"/>
          </a:p>
        </p:txBody>
      </p:sp>
      <p:sp>
        <p:nvSpPr>
          <p:cNvPr id="19" name="Shape 14"/>
          <p:cNvSpPr/>
          <p:nvPr/>
        </p:nvSpPr>
        <p:spPr>
          <a:xfrm>
            <a:off x="7086600" y="4251960"/>
            <a:ext cx="4572000"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20" name="Shape 15"/>
          <p:cNvSpPr/>
          <p:nvPr/>
        </p:nvSpPr>
        <p:spPr>
          <a:xfrm>
            <a:off x="7223760" y="4389120"/>
            <a:ext cx="640080" cy="640080"/>
          </a:xfrm>
          <a:prstGeom prst="ellipse">
            <a:avLst/>
          </a:prstGeom>
          <a:solidFill>
            <a:srgbClr val="E3001B"/>
          </a:solidFill>
          <a:ln w="12700">
            <a:solidFill>
              <a:srgbClr val="E3001B"/>
            </a:solidFill>
            <a:prstDash val="solid"/>
          </a:ln>
        </p:spPr>
      </p:sp>
      <p:pic>
        <p:nvPicPr>
          <p:cNvPr id="21" name="Image 2" descr="preencoded.png">    </p:cNvPr>
          <p:cNvPicPr>
            <a:picLocks noChangeAspect="1"/>
          </p:cNvPicPr>
          <p:nvPr/>
        </p:nvPicPr>
        <p:blipFill>
          <a:blip r:embed="rId3"/>
          <a:stretch>
            <a:fillRect/>
          </a:stretch>
        </p:blipFill>
        <p:spPr>
          <a:xfrm>
            <a:off x="7402982" y="4568342"/>
            <a:ext cx="281635" cy="281635"/>
          </a:xfrm>
          <a:prstGeom prst="rect">
            <a:avLst/>
          </a:prstGeom>
        </p:spPr>
      </p:pic>
      <p:sp>
        <p:nvSpPr>
          <p:cNvPr id="22" name="Text 16"/>
          <p:cNvSpPr txBox="1"/>
          <p:nvPr/>
        </p:nvSpPr>
        <p:spPr>
          <a:xfrm>
            <a:off x="8046720" y="4251960"/>
            <a:ext cx="3520440" cy="91440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 · Sulawesi partner sales drop</a:t>
            </a:r>
            <a:endParaRPr lang="en-US" sz="1600" dirty="0"/>
          </a:p>
        </p:txBody>
      </p:sp>
      <p:pic>
        <p:nvPicPr>
          <p:cNvPr id="23" name="Image 3" descr="preencoded.png">    </p:cNvPr>
          <p:cNvPicPr>
            <a:picLocks noChangeAspect="1"/>
          </p:cNvPicPr>
          <p:nvPr/>
        </p:nvPicPr>
        <p:blipFill>
          <a:blip r:embed="rId4"/>
          <a:stretch>
            <a:fillRect/>
          </a:stretch>
        </p:blipFill>
        <p:spPr>
          <a:xfrm>
            <a:off x="548640" y="5623560"/>
            <a:ext cx="457200" cy="457200"/>
          </a:xfrm>
          <a:prstGeom prst="rect">
            <a:avLst/>
          </a:prstGeom>
        </p:spPr>
      </p:pic>
      <p:sp>
        <p:nvSpPr>
          <p:cNvPr id="24" name="Text 17"/>
          <p:cNvSpPr txBox="1"/>
          <p:nvPr/>
        </p:nvSpPr>
        <p:spPr>
          <a:xfrm>
            <a:off x="1097280" y="5577840"/>
            <a:ext cx="2377440" cy="548640"/>
          </a:xfrm>
          <a:prstGeom prst="rect">
            <a:avLst/>
          </a:prstGeom>
          <a:noFill/>
          <a:ln/>
        </p:spPr>
        <p:txBody>
          <a:bodyPr wrap="square" lIns="635" tIns="635" rIns="635" bIns="635" rtlCol="0" anchor="ctr"/>
          <a:lstStyle/>
          <a:p>
            <a:pPr indent="0" marL="0">
              <a:buNone/>
            </a:pPr>
            <a:r>
              <a:rPr lang="en-US" sz="2600" b="1" dirty="0">
                <a:solidFill>
                  <a:srgbClr val="E3001B"/>
                </a:solidFill>
                <a:latin typeface="Arial" pitchFamily="34" charset="0"/>
                <a:ea typeface="Arial" pitchFamily="34" charset="-122"/>
                <a:cs typeface="Arial" pitchFamily="34" charset="-120"/>
              </a:rPr>
              <a:t>10:00</a:t>
            </a:r>
            <a:endParaRPr lang="en-US" sz="2600" dirty="0"/>
          </a:p>
        </p:txBody>
      </p:sp>
      <p:sp>
        <p:nvSpPr>
          <p:cNvPr id="25" name="Text 18"/>
          <p:cNvSpPr txBox="1"/>
          <p:nvPr/>
        </p:nvSpPr>
        <p:spPr>
          <a:xfrm>
            <a:off x="2926080" y="5669280"/>
            <a:ext cx="109728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Pairs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team planning a storyline with sticky notes on a glass wall">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371600"/>
            <a:ext cx="5029200" cy="548640"/>
          </a:xfrm>
          <a:prstGeom prst="rect">
            <a:avLst/>
          </a:prstGeom>
          <a:noFill/>
          <a:ln/>
        </p:spPr>
        <p:txBody>
          <a:bodyPr wrap="square" lIns="635" tIns="635" rIns="635" bIns="635" rtlCol="0" anchor="ctr"/>
          <a:lstStyle/>
          <a:p>
            <a:pPr indent="0" marL="0">
              <a:buNone/>
            </a:pPr>
            <a:r>
              <a:rPr lang="en-US" sz="2000" b="1" spc="400" kern="0" dirty="0">
                <a:solidFill>
                  <a:srgbClr val="FFD6DA"/>
                </a:solidFill>
                <a:latin typeface="Calibri" pitchFamily="34" charset="0"/>
                <a:ea typeface="Calibri" pitchFamily="34" charset="-122"/>
                <a:cs typeface="Calibri" pitchFamily="34" charset="-120"/>
              </a:rPr>
              <a:t>MOVE 2</a:t>
            </a:r>
            <a:endParaRPr lang="en-US" sz="2000" dirty="0"/>
          </a:p>
        </p:txBody>
      </p:sp>
      <p:sp>
        <p:nvSpPr>
          <p:cNvPr id="6" name="Text 3"/>
          <p:cNvSpPr txBox="1"/>
          <p:nvPr/>
        </p:nvSpPr>
        <p:spPr>
          <a:xfrm>
            <a:off x="6735928" y="1920240"/>
            <a:ext cx="5120640" cy="2011680"/>
          </a:xfrm>
          <a:prstGeom prst="rect">
            <a:avLst/>
          </a:prstGeom>
          <a:noFill/>
          <a:ln/>
        </p:spPr>
        <p:txBody>
          <a:bodyPr wrap="square" lIns="635" tIns="635" rIns="635" bIns="635" rtlCol="0" anchor="t"/>
          <a:lstStyle/>
          <a:p>
            <a:pPr indent="0" marL="0">
              <a:buNone/>
            </a:pPr>
            <a:r>
              <a:rPr lang="en-US" sz="5400" b="1" dirty="0">
                <a:solidFill>
                  <a:srgbClr val="FFFFFF"/>
                </a:solidFill>
                <a:latin typeface="Arial" pitchFamily="34" charset="0"/>
                <a:ea typeface="Arial" pitchFamily="34" charset="-122"/>
                <a:cs typeface="Arial" pitchFamily="34" charset="-120"/>
              </a:rPr>
              <a:t>Story in the titles</a:t>
            </a:r>
            <a:endParaRPr lang="en-US" sz="5400" dirty="0"/>
          </a:p>
        </p:txBody>
      </p:sp>
      <p:sp>
        <p:nvSpPr>
          <p:cNvPr id="7" name="Text 4"/>
          <p:cNvSpPr txBox="1"/>
          <p:nvPr/>
        </p:nvSpPr>
        <p:spPr>
          <a:xfrm>
            <a:off x="6735928" y="4206240"/>
            <a:ext cx="5120640" cy="1280160"/>
          </a:xfrm>
          <a:prstGeom prst="rect">
            <a:avLst/>
          </a:prstGeom>
          <a:noFill/>
          <a:ln/>
        </p:spPr>
        <p:txBody>
          <a:bodyPr wrap="square" lIns="635" tIns="635" rIns="635" bIns="635" rtlCol="0" anchor="t"/>
          <a:lstStyle/>
          <a:p>
            <a:pPr indent="0" marL="0">
              <a:buNone/>
            </a:pPr>
            <a:r>
              <a:rPr lang="en-US" sz="2200" i="1" dirty="0">
                <a:solidFill>
                  <a:srgbClr val="FFFFFF"/>
                </a:solidFill>
                <a:latin typeface="Calibri" pitchFamily="34" charset="0"/>
                <a:ea typeface="Calibri" pitchFamily="34" charset="-122"/>
                <a:cs typeface="Calibri" pitchFamily="34" charset="-120"/>
              </a:rPr>
              <a:t>Leaders read titles. Make the titles tell the story.</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Read only the titles. Do you get the story?</a:t>
            </a:r>
            <a:endParaRPr lang="en-US" sz="3200" dirty="0"/>
          </a:p>
        </p:txBody>
      </p:sp>
      <p:sp>
        <p:nvSpPr>
          <p:cNvPr id="4" name="Shape 1"/>
          <p:cNvSpPr/>
          <p:nvPr/>
        </p:nvSpPr>
        <p:spPr>
          <a:xfrm>
            <a:off x="548640" y="1691640"/>
            <a:ext cx="2057400" cy="27432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685800" y="1783080"/>
            <a:ext cx="548640" cy="45720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1</a:t>
            </a:r>
            <a:endParaRPr lang="en-US" sz="2200" dirty="0"/>
          </a:p>
        </p:txBody>
      </p:sp>
      <p:sp>
        <p:nvSpPr>
          <p:cNvPr id="6" name="Text 3"/>
          <p:cNvSpPr txBox="1"/>
          <p:nvPr/>
        </p:nvSpPr>
        <p:spPr>
          <a:xfrm>
            <a:off x="685800" y="2286000"/>
            <a:ext cx="1783080" cy="2011680"/>
          </a:xfrm>
          <a:prstGeom prst="rect">
            <a:avLst/>
          </a:prstGeom>
          <a:noFill/>
          <a:ln/>
        </p:spPr>
        <p:txBody>
          <a:bodyPr wrap="square" lIns="635" tIns="635" rIns="635" bIns="635"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Forgotten due dates cause 4 in 10 missed first payments</a:t>
            </a:r>
            <a:endParaRPr lang="en-US" sz="1800" dirty="0"/>
          </a:p>
        </p:txBody>
      </p:sp>
      <p:sp>
        <p:nvSpPr>
          <p:cNvPr id="7" name="Shape 4"/>
          <p:cNvSpPr/>
          <p:nvPr/>
        </p:nvSpPr>
        <p:spPr>
          <a:xfrm>
            <a:off x="2798064" y="1691640"/>
            <a:ext cx="2057400" cy="27432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935224" y="1783080"/>
            <a:ext cx="548640" cy="45720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2</a:t>
            </a:r>
            <a:endParaRPr lang="en-US" sz="2200" dirty="0"/>
          </a:p>
        </p:txBody>
      </p:sp>
      <p:sp>
        <p:nvSpPr>
          <p:cNvPr id="9" name="Text 6"/>
          <p:cNvSpPr txBox="1"/>
          <p:nvPr/>
        </p:nvSpPr>
        <p:spPr>
          <a:xfrm>
            <a:off x="2935224" y="2286000"/>
            <a:ext cx="1783080" cy="2011680"/>
          </a:xfrm>
          <a:prstGeom prst="rect">
            <a:avLst/>
          </a:prstGeom>
          <a:noFill/>
          <a:ln/>
        </p:spPr>
        <p:txBody>
          <a:bodyPr wrap="square" lIns="635" tIns="635" rIns="635" bIns="635"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A 1-tap reminder lifted on-time payment 3.5 pts in a pilot</a:t>
            </a:r>
            <a:endParaRPr lang="en-US" sz="1800" dirty="0"/>
          </a:p>
        </p:txBody>
      </p:sp>
      <p:sp>
        <p:nvSpPr>
          <p:cNvPr id="10" name="Shape 7"/>
          <p:cNvSpPr/>
          <p:nvPr/>
        </p:nvSpPr>
        <p:spPr>
          <a:xfrm>
            <a:off x="5047488" y="1691640"/>
            <a:ext cx="2057400" cy="27432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5184648" y="1783080"/>
            <a:ext cx="548640" cy="45720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3</a:t>
            </a:r>
            <a:endParaRPr lang="en-US" sz="2200" dirty="0"/>
          </a:p>
        </p:txBody>
      </p:sp>
      <p:sp>
        <p:nvSpPr>
          <p:cNvPr id="12" name="Text 9"/>
          <p:cNvSpPr txBox="1"/>
          <p:nvPr/>
        </p:nvSpPr>
        <p:spPr>
          <a:xfrm>
            <a:off x="5184648" y="2286000"/>
            <a:ext cx="1783080" cy="2011680"/>
          </a:xfrm>
          <a:prstGeom prst="rect">
            <a:avLst/>
          </a:prstGeom>
          <a:noFill/>
          <a:ln/>
        </p:spPr>
        <p:txBody>
          <a:bodyPr wrap="square" lIns="635" tIns="635" rIns="635" bIns="635"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Rollout pays back in under 6 months</a:t>
            </a:r>
            <a:endParaRPr lang="en-US" sz="1800" dirty="0"/>
          </a:p>
        </p:txBody>
      </p:sp>
      <p:sp>
        <p:nvSpPr>
          <p:cNvPr id="13" name="Shape 10"/>
          <p:cNvSpPr/>
          <p:nvPr/>
        </p:nvSpPr>
        <p:spPr>
          <a:xfrm>
            <a:off x="7296912" y="1691640"/>
            <a:ext cx="2057400" cy="27432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7434072" y="1783080"/>
            <a:ext cx="548640" cy="45720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4</a:t>
            </a:r>
            <a:endParaRPr lang="en-US" sz="2200" dirty="0"/>
          </a:p>
        </p:txBody>
      </p:sp>
      <p:sp>
        <p:nvSpPr>
          <p:cNvPr id="15" name="Text 12"/>
          <p:cNvSpPr txBox="1"/>
          <p:nvPr/>
        </p:nvSpPr>
        <p:spPr>
          <a:xfrm>
            <a:off x="7434072" y="2286000"/>
            <a:ext cx="1783080" cy="2011680"/>
          </a:xfrm>
          <a:prstGeom prst="rect">
            <a:avLst/>
          </a:prstGeom>
          <a:noFill/>
          <a:ln/>
        </p:spPr>
        <p:txBody>
          <a:bodyPr wrap="square" lIns="635" tIns="635" rIns="635" bIns="635"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Main risk is too many messages: we cap it at 2</a:t>
            </a:r>
            <a:endParaRPr lang="en-US" sz="1800" dirty="0"/>
          </a:p>
        </p:txBody>
      </p:sp>
      <p:sp>
        <p:nvSpPr>
          <p:cNvPr id="16" name="Shape 13"/>
          <p:cNvSpPr/>
          <p:nvPr/>
        </p:nvSpPr>
        <p:spPr>
          <a:xfrm>
            <a:off x="9546336" y="1691640"/>
            <a:ext cx="2057400" cy="2743200"/>
          </a:xfrm>
          <a:prstGeom prst="roundRect">
            <a:avLst>
              <a:gd name="adj" fmla="val 4444"/>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9683496" y="1783080"/>
            <a:ext cx="548640" cy="457200"/>
          </a:xfrm>
          <a:prstGeom prst="rect">
            <a:avLst/>
          </a:prstGeom>
          <a:noFill/>
          <a:ln/>
        </p:spPr>
        <p:txBody>
          <a:bodyPr wrap="square" lIns="635" tIns="635" rIns="635" bIns="635" rtlCol="0" anchor="ctr"/>
          <a:lstStyle/>
          <a:p>
            <a:pP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18" name="Text 15"/>
          <p:cNvSpPr txBox="1"/>
          <p:nvPr/>
        </p:nvSpPr>
        <p:spPr>
          <a:xfrm>
            <a:off x="9683496" y="2286000"/>
            <a:ext cx="1783080" cy="2011680"/>
          </a:xfrm>
          <a:prstGeom prst="rect">
            <a:avLst/>
          </a:prstGeom>
          <a:noFill/>
          <a:ln/>
        </p:spPr>
        <p:txBody>
          <a:bodyPr wrap="square" lIns="635" tIns="635" rIns="635" bIns="635"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We ask for IDR 1.2 bn and a July launch</a:t>
            </a:r>
            <a:endParaRPr lang="en-US" sz="1800" dirty="0"/>
          </a:p>
        </p:txBody>
      </p:sp>
      <p:sp>
        <p:nvSpPr>
          <p:cNvPr id="19" name="Shape 16"/>
          <p:cNvSpPr/>
          <p:nvPr/>
        </p:nvSpPr>
        <p:spPr>
          <a:xfrm>
            <a:off x="548640" y="4754880"/>
            <a:ext cx="10972800" cy="0"/>
          </a:xfrm>
          <a:prstGeom prst="line">
            <a:avLst/>
          </a:prstGeom>
          <a:noFill/>
          <a:ln w="31750">
            <a:solidFill>
              <a:srgbClr val="E3001B"/>
            </a:solidFill>
            <a:prstDash val="solid"/>
            <a:tailEnd type="triangle"/>
          </a:ln>
        </p:spPr>
      </p:sp>
      <p:sp>
        <p:nvSpPr>
          <p:cNvPr id="20" name="Text 17"/>
          <p:cNvSpPr txBox="1"/>
          <p:nvPr/>
        </p:nvSpPr>
        <p:spPr>
          <a:xfrm>
            <a:off x="548640" y="4892040"/>
            <a:ext cx="10972800" cy="502920"/>
          </a:xfrm>
          <a:prstGeom prst="rect">
            <a:avLst/>
          </a:prstGeom>
          <a:noFill/>
          <a:ln/>
        </p:spPr>
        <p:txBody>
          <a:bodyPr wrap="square" lIns="635" tIns="635" rIns="635" bIns="635" rtlCol="0" anchor="ctr"/>
          <a:lstStyle/>
          <a:p>
            <a:pPr algn="ctr" indent="0" marL="0">
              <a:buNone/>
            </a:pPr>
            <a:r>
              <a:rPr lang="en-US" sz="2200" b="1" dirty="0">
                <a:solidFill>
                  <a:srgbClr val="E3001B"/>
                </a:solidFill>
                <a:latin typeface="Calibri" pitchFamily="34" charset="0"/>
                <a:ea typeface="Calibri" pitchFamily="34" charset="-122"/>
                <a:cs typeface="Calibri" pitchFamily="34" charset="-120"/>
              </a:rPr>
              <a:t>Titles only = the whole story</a:t>
            </a:r>
            <a:endParaRPr lang="en-US" sz="2200" dirty="0"/>
          </a:p>
        </p:txBody>
      </p:sp>
      <p:sp>
        <p:nvSpPr>
          <p:cNvPr id="21" name="Text 18"/>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Game: fix these titles. 60 seconds each.</a:t>
            </a:r>
            <a:endParaRPr lang="en-US" sz="3200" dirty="0"/>
          </a:p>
        </p:txBody>
      </p:sp>
      <p:sp>
        <p:nvSpPr>
          <p:cNvPr id="4" name="Text 1"/>
          <p:cNvSpPr txBox="1"/>
          <p:nvPr/>
        </p:nvSpPr>
        <p:spPr>
          <a:xfrm>
            <a:off x="548640" y="1783080"/>
            <a:ext cx="822960" cy="822960"/>
          </a:xfrm>
          <a:prstGeom prst="ellipse">
            <a:avLst/>
          </a:prstGeom>
          <a:solidFill>
            <a:srgbClr val="E3001B"/>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5" name="Shape 2"/>
          <p:cNvSpPr/>
          <p:nvPr/>
        </p:nvSpPr>
        <p:spPr>
          <a:xfrm>
            <a:off x="1645920" y="1645920"/>
            <a:ext cx="5120640" cy="1097280"/>
          </a:xfrm>
          <a:prstGeom prst="roundRect">
            <a:avLst>
              <a:gd name="adj" fmla="val 8333"/>
            </a:avLst>
          </a:prstGeom>
          <a:solidFill>
            <a:srgbClr val="F4F4F4"/>
          </a:solidFill>
          <a:ln w="12700">
            <a:solidFill>
              <a:srgbClr val="F4F4F4"/>
            </a:solidFill>
            <a:prstDash val="solid"/>
          </a:ln>
        </p:spPr>
      </p:sp>
      <p:sp>
        <p:nvSpPr>
          <p:cNvPr id="6" name="Text 3"/>
          <p:cNvSpPr txBox="1"/>
          <p:nvPr/>
        </p:nvSpPr>
        <p:spPr>
          <a:xfrm>
            <a:off x="1874520" y="1645920"/>
            <a:ext cx="4754880" cy="1097280"/>
          </a:xfrm>
          <a:prstGeom prst="rect">
            <a:avLst/>
          </a:prstGeom>
          <a:noFill/>
          <a:ln/>
        </p:spPr>
        <p:txBody>
          <a:bodyPr wrap="square" lIns="635" tIns="635" rIns="635" bIns="635" rtlCol="0" anchor="ctr"/>
          <a:lstStyle/>
          <a:p>
            <a:pPr indent="0" marL="0">
              <a:buNone/>
            </a:pPr>
            <a:r>
              <a:rPr lang="en-US" sz="2400" dirty="0">
                <a:solidFill>
                  <a:srgbClr val="6B6B6B"/>
                </a:solidFill>
                <a:latin typeface="Calibri" pitchFamily="34" charset="0"/>
                <a:ea typeface="Calibri" pitchFamily="34" charset="-122"/>
                <a:cs typeface="Calibri" pitchFamily="34" charset="-120"/>
              </a:rPr>
              <a:t>Collections performance Q2</a:t>
            </a:r>
            <a:endParaRPr lang="en-US" sz="2400" dirty="0"/>
          </a:p>
        </p:txBody>
      </p:sp>
      <p:sp>
        <p:nvSpPr>
          <p:cNvPr id="7" name="Text 4"/>
          <p:cNvSpPr txBox="1"/>
          <p:nvPr/>
        </p:nvSpPr>
        <p:spPr>
          <a:xfrm>
            <a:off x="6858000" y="1645920"/>
            <a:ext cx="731520" cy="1097280"/>
          </a:xfrm>
          <a:prstGeom prst="rect">
            <a:avLst/>
          </a:prstGeom>
          <a:noFill/>
          <a:ln/>
        </p:spPr>
        <p:txBody>
          <a:bodyPr wrap="square" lIns="635" tIns="635" rIns="635" bIns="635" rtlCol="0" anchor="ctr"/>
          <a:lstStyle/>
          <a:p>
            <a:pPr algn="ctr" indent="0" marL="0">
              <a:buNone/>
            </a:pPr>
            <a:r>
              <a:rPr lang="en-US" sz="3600" b="1" dirty="0">
                <a:solidFill>
                  <a:srgbClr val="E3001B"/>
                </a:solidFill>
                <a:latin typeface="Calibri" pitchFamily="34" charset="0"/>
                <a:ea typeface="Calibri" pitchFamily="34" charset="-122"/>
                <a:cs typeface="Calibri" pitchFamily="34" charset="-120"/>
              </a:rPr>
              <a:t>→</a:t>
            </a:r>
            <a:endParaRPr lang="en-US" sz="3600" dirty="0"/>
          </a:p>
        </p:txBody>
      </p:sp>
      <p:sp>
        <p:nvSpPr>
          <p:cNvPr id="8" name="Shape 5"/>
          <p:cNvSpPr/>
          <p:nvPr/>
        </p:nvSpPr>
        <p:spPr>
          <a:xfrm>
            <a:off x="7680960" y="1645920"/>
            <a:ext cx="3977640" cy="1097280"/>
          </a:xfrm>
          <a:prstGeom prst="roundRect">
            <a:avLst>
              <a:gd name="adj" fmla="val 8333"/>
            </a:avLst>
          </a:prstGeom>
          <a:solidFill>
            <a:srgbClr val="FFFFFF"/>
          </a:solidFill>
          <a:ln w="19050">
            <a:solidFill>
              <a:srgbClr val="E3001B"/>
            </a:solidFill>
            <a:prstDash val="dash"/>
          </a:ln>
        </p:spPr>
      </p:sp>
      <p:sp>
        <p:nvSpPr>
          <p:cNvPr id="9" name="Text 6"/>
          <p:cNvSpPr txBox="1"/>
          <p:nvPr/>
        </p:nvSpPr>
        <p:spPr>
          <a:xfrm>
            <a:off x="7680960" y="1645920"/>
            <a:ext cx="3977640" cy="1097280"/>
          </a:xfrm>
          <a:prstGeom prst="rect">
            <a:avLst/>
          </a:prstGeom>
          <a:noFill/>
          <a:ln/>
        </p:spPr>
        <p:txBody>
          <a:bodyPr wrap="square" lIns="635" tIns="635" rIns="635" bIns="635" rtlCol="0" anchor="ctr"/>
          <a:lstStyle/>
          <a:p>
            <a:pPr algn="ctr" indent="0" marL="0">
              <a:buNone/>
            </a:pPr>
            <a:r>
              <a:rPr lang="en-US" sz="3600" b="1" dirty="0">
                <a:solidFill>
                  <a:srgbClr val="E3001B"/>
                </a:solidFill>
                <a:latin typeface="Calibri" pitchFamily="34" charset="0"/>
                <a:ea typeface="Calibri" pitchFamily="34" charset="-122"/>
                <a:cs typeface="Calibri" pitchFamily="34" charset="-120"/>
              </a:rPr>
              <a:t>?</a:t>
            </a:r>
            <a:endParaRPr lang="en-US" sz="3600" dirty="0"/>
          </a:p>
        </p:txBody>
      </p:sp>
      <p:sp>
        <p:nvSpPr>
          <p:cNvPr id="10" name="Text 7"/>
          <p:cNvSpPr txBox="1"/>
          <p:nvPr/>
        </p:nvSpPr>
        <p:spPr>
          <a:xfrm>
            <a:off x="548640" y="3154680"/>
            <a:ext cx="822960" cy="822960"/>
          </a:xfrm>
          <a:prstGeom prst="ellipse">
            <a:avLst/>
          </a:prstGeom>
          <a:solidFill>
            <a:srgbClr val="E3001B"/>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1" name="Shape 8"/>
          <p:cNvSpPr/>
          <p:nvPr/>
        </p:nvSpPr>
        <p:spPr>
          <a:xfrm>
            <a:off x="1645920" y="3017520"/>
            <a:ext cx="5120640" cy="1097280"/>
          </a:xfrm>
          <a:prstGeom prst="roundRect">
            <a:avLst>
              <a:gd name="adj" fmla="val 8333"/>
            </a:avLst>
          </a:prstGeom>
          <a:solidFill>
            <a:srgbClr val="F4F4F4"/>
          </a:solidFill>
          <a:ln w="12700">
            <a:solidFill>
              <a:srgbClr val="F4F4F4"/>
            </a:solidFill>
            <a:prstDash val="solid"/>
          </a:ln>
        </p:spPr>
      </p:sp>
      <p:sp>
        <p:nvSpPr>
          <p:cNvPr id="12" name="Text 9"/>
          <p:cNvSpPr txBox="1"/>
          <p:nvPr/>
        </p:nvSpPr>
        <p:spPr>
          <a:xfrm>
            <a:off x="1874520" y="3017520"/>
            <a:ext cx="4754880" cy="1097280"/>
          </a:xfrm>
          <a:prstGeom prst="rect">
            <a:avLst/>
          </a:prstGeom>
          <a:noFill/>
          <a:ln/>
        </p:spPr>
        <p:txBody>
          <a:bodyPr wrap="square" lIns="635" tIns="635" rIns="635" bIns="635" rtlCol="0" anchor="ctr"/>
          <a:lstStyle/>
          <a:p>
            <a:pPr indent="0" marL="0">
              <a:buNone/>
            </a:pPr>
            <a:r>
              <a:rPr lang="en-US" sz="2400" dirty="0">
                <a:solidFill>
                  <a:srgbClr val="6B6B6B"/>
                </a:solidFill>
                <a:latin typeface="Calibri" pitchFamily="34" charset="0"/>
                <a:ea typeface="Calibri" pitchFamily="34" charset="-122"/>
                <a:cs typeface="Calibri" pitchFamily="34" charset="-120"/>
              </a:rPr>
              <a:t>Partner channel overview</a:t>
            </a:r>
            <a:endParaRPr lang="en-US" sz="2400" dirty="0"/>
          </a:p>
        </p:txBody>
      </p:sp>
      <p:sp>
        <p:nvSpPr>
          <p:cNvPr id="13" name="Text 10"/>
          <p:cNvSpPr txBox="1"/>
          <p:nvPr/>
        </p:nvSpPr>
        <p:spPr>
          <a:xfrm>
            <a:off x="6858000" y="3017520"/>
            <a:ext cx="731520" cy="1097280"/>
          </a:xfrm>
          <a:prstGeom prst="rect">
            <a:avLst/>
          </a:prstGeom>
          <a:noFill/>
          <a:ln/>
        </p:spPr>
        <p:txBody>
          <a:bodyPr wrap="square" lIns="635" tIns="635" rIns="635" bIns="635" rtlCol="0" anchor="ctr"/>
          <a:lstStyle/>
          <a:p>
            <a:pPr algn="ctr" indent="0" marL="0">
              <a:buNone/>
            </a:pPr>
            <a:r>
              <a:rPr lang="en-US" sz="3600" b="1" dirty="0">
                <a:solidFill>
                  <a:srgbClr val="E3001B"/>
                </a:solidFill>
                <a:latin typeface="Calibri" pitchFamily="34" charset="0"/>
                <a:ea typeface="Calibri" pitchFamily="34" charset="-122"/>
                <a:cs typeface="Calibri" pitchFamily="34" charset="-120"/>
              </a:rPr>
              <a:t>→</a:t>
            </a:r>
            <a:endParaRPr lang="en-US" sz="3600" dirty="0"/>
          </a:p>
        </p:txBody>
      </p:sp>
      <p:sp>
        <p:nvSpPr>
          <p:cNvPr id="14" name="Shape 11"/>
          <p:cNvSpPr/>
          <p:nvPr/>
        </p:nvSpPr>
        <p:spPr>
          <a:xfrm>
            <a:off x="7680960" y="3017520"/>
            <a:ext cx="3977640" cy="1097280"/>
          </a:xfrm>
          <a:prstGeom prst="roundRect">
            <a:avLst>
              <a:gd name="adj" fmla="val 8333"/>
            </a:avLst>
          </a:prstGeom>
          <a:solidFill>
            <a:srgbClr val="FFFFFF"/>
          </a:solidFill>
          <a:ln w="19050">
            <a:solidFill>
              <a:srgbClr val="E3001B"/>
            </a:solidFill>
            <a:prstDash val="dash"/>
          </a:ln>
        </p:spPr>
      </p:sp>
      <p:sp>
        <p:nvSpPr>
          <p:cNvPr id="15" name="Text 12"/>
          <p:cNvSpPr txBox="1"/>
          <p:nvPr/>
        </p:nvSpPr>
        <p:spPr>
          <a:xfrm>
            <a:off x="7680960" y="3017520"/>
            <a:ext cx="3977640" cy="1097280"/>
          </a:xfrm>
          <a:prstGeom prst="rect">
            <a:avLst/>
          </a:prstGeom>
          <a:noFill/>
          <a:ln/>
        </p:spPr>
        <p:txBody>
          <a:bodyPr wrap="square" lIns="635" tIns="635" rIns="635" bIns="635" rtlCol="0" anchor="ctr"/>
          <a:lstStyle/>
          <a:p>
            <a:pPr algn="ctr" indent="0" marL="0">
              <a:buNone/>
            </a:pPr>
            <a:r>
              <a:rPr lang="en-US" sz="3600" b="1" dirty="0">
                <a:solidFill>
                  <a:srgbClr val="E3001B"/>
                </a:solidFill>
                <a:latin typeface="Calibri" pitchFamily="34" charset="0"/>
                <a:ea typeface="Calibri" pitchFamily="34" charset="-122"/>
                <a:cs typeface="Calibri" pitchFamily="34" charset="-120"/>
              </a:rPr>
              <a:t>?</a:t>
            </a:r>
            <a:endParaRPr lang="en-US" sz="3600" dirty="0"/>
          </a:p>
        </p:txBody>
      </p:sp>
      <p:sp>
        <p:nvSpPr>
          <p:cNvPr id="16" name="Text 13"/>
          <p:cNvSpPr txBox="1"/>
          <p:nvPr/>
        </p:nvSpPr>
        <p:spPr>
          <a:xfrm>
            <a:off x="548640" y="4526280"/>
            <a:ext cx="822960" cy="822960"/>
          </a:xfrm>
          <a:prstGeom prst="ellipse">
            <a:avLst/>
          </a:prstGeom>
          <a:solidFill>
            <a:srgbClr val="E3001B"/>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Shape 14"/>
          <p:cNvSpPr/>
          <p:nvPr/>
        </p:nvSpPr>
        <p:spPr>
          <a:xfrm>
            <a:off x="1645920" y="4389120"/>
            <a:ext cx="5120640" cy="1097280"/>
          </a:xfrm>
          <a:prstGeom prst="roundRect">
            <a:avLst>
              <a:gd name="adj" fmla="val 8333"/>
            </a:avLst>
          </a:prstGeom>
          <a:solidFill>
            <a:srgbClr val="F4F4F4"/>
          </a:solidFill>
          <a:ln w="12700">
            <a:solidFill>
              <a:srgbClr val="F4F4F4"/>
            </a:solidFill>
            <a:prstDash val="solid"/>
          </a:ln>
        </p:spPr>
      </p:sp>
      <p:sp>
        <p:nvSpPr>
          <p:cNvPr id="18" name="Text 15"/>
          <p:cNvSpPr txBox="1"/>
          <p:nvPr/>
        </p:nvSpPr>
        <p:spPr>
          <a:xfrm>
            <a:off x="1874520" y="4389120"/>
            <a:ext cx="4754880" cy="1097280"/>
          </a:xfrm>
          <a:prstGeom prst="rect">
            <a:avLst/>
          </a:prstGeom>
          <a:noFill/>
          <a:ln/>
        </p:spPr>
        <p:txBody>
          <a:bodyPr wrap="square" lIns="635" tIns="635" rIns="635" bIns="635" rtlCol="0" anchor="ctr"/>
          <a:lstStyle/>
          <a:p>
            <a:pPr indent="0" marL="0">
              <a:buNone/>
            </a:pPr>
            <a:r>
              <a:rPr lang="en-US" sz="2400" dirty="0">
                <a:solidFill>
                  <a:srgbClr val="6B6B6B"/>
                </a:solidFill>
                <a:latin typeface="Calibri" pitchFamily="34" charset="0"/>
                <a:ea typeface="Calibri" pitchFamily="34" charset="-122"/>
                <a:cs typeface="Calibri" pitchFamily="34" charset="-120"/>
              </a:rPr>
              <a:t>Approval rate trend</a:t>
            </a:r>
            <a:endParaRPr lang="en-US" sz="2400" dirty="0"/>
          </a:p>
        </p:txBody>
      </p:sp>
      <p:sp>
        <p:nvSpPr>
          <p:cNvPr id="19" name="Text 16"/>
          <p:cNvSpPr txBox="1"/>
          <p:nvPr/>
        </p:nvSpPr>
        <p:spPr>
          <a:xfrm>
            <a:off x="6858000" y="4389120"/>
            <a:ext cx="731520" cy="1097280"/>
          </a:xfrm>
          <a:prstGeom prst="rect">
            <a:avLst/>
          </a:prstGeom>
          <a:noFill/>
          <a:ln/>
        </p:spPr>
        <p:txBody>
          <a:bodyPr wrap="square" lIns="635" tIns="635" rIns="635" bIns="635" rtlCol="0" anchor="ctr"/>
          <a:lstStyle/>
          <a:p>
            <a:pPr algn="ctr" indent="0" marL="0">
              <a:buNone/>
            </a:pPr>
            <a:r>
              <a:rPr lang="en-US" sz="3600" b="1" dirty="0">
                <a:solidFill>
                  <a:srgbClr val="E300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7680960" y="4389120"/>
            <a:ext cx="3977640" cy="1097280"/>
          </a:xfrm>
          <a:prstGeom prst="roundRect">
            <a:avLst>
              <a:gd name="adj" fmla="val 8333"/>
            </a:avLst>
          </a:prstGeom>
          <a:solidFill>
            <a:srgbClr val="FFFFFF"/>
          </a:solidFill>
          <a:ln w="19050">
            <a:solidFill>
              <a:srgbClr val="E3001B"/>
            </a:solidFill>
            <a:prstDash val="dash"/>
          </a:ln>
        </p:spPr>
      </p:sp>
      <p:sp>
        <p:nvSpPr>
          <p:cNvPr id="21" name="Text 18"/>
          <p:cNvSpPr txBox="1"/>
          <p:nvPr/>
        </p:nvSpPr>
        <p:spPr>
          <a:xfrm>
            <a:off x="7680960" y="4389120"/>
            <a:ext cx="3977640" cy="1097280"/>
          </a:xfrm>
          <a:prstGeom prst="rect">
            <a:avLst/>
          </a:prstGeom>
          <a:noFill/>
          <a:ln/>
        </p:spPr>
        <p:txBody>
          <a:bodyPr wrap="square" lIns="635" tIns="635" rIns="635" bIns="635" rtlCol="0" anchor="ctr"/>
          <a:lstStyle/>
          <a:p>
            <a:pPr algn="ctr" indent="0" marL="0">
              <a:buNone/>
            </a:pPr>
            <a:r>
              <a:rPr lang="en-US" sz="3600" b="1" dirty="0">
                <a:solidFill>
                  <a:srgbClr val="E3001B"/>
                </a:solidFill>
                <a:latin typeface="Calibri" pitchFamily="34" charset="0"/>
                <a:ea typeface="Calibri" pitchFamily="34" charset="-122"/>
                <a:cs typeface="Calibri" pitchFamily="34" charset="-120"/>
              </a:rPr>
              <a:t>?</a:t>
            </a:r>
            <a:endParaRPr lang="en-US" sz="3600" dirty="0"/>
          </a:p>
        </p:txBody>
      </p:sp>
      <p:pic>
        <p:nvPicPr>
          <p:cNvPr id="22" name="Image 0" descr="preencoded.png">    </p:cNvPr>
          <p:cNvPicPr>
            <a:picLocks noChangeAspect="1"/>
          </p:cNvPicPr>
          <p:nvPr/>
        </p:nvPicPr>
        <p:blipFill>
          <a:blip r:embed="rId1"/>
          <a:stretch>
            <a:fillRect/>
          </a:stretch>
        </p:blipFill>
        <p:spPr>
          <a:xfrm>
            <a:off x="548640" y="5852160"/>
            <a:ext cx="457200" cy="457200"/>
          </a:xfrm>
          <a:prstGeom prst="rect">
            <a:avLst/>
          </a:prstGeom>
        </p:spPr>
      </p:pic>
      <p:sp>
        <p:nvSpPr>
          <p:cNvPr id="23" name="Text 19"/>
          <p:cNvSpPr txBox="1"/>
          <p:nvPr/>
        </p:nvSpPr>
        <p:spPr>
          <a:xfrm>
            <a:off x="1097280" y="5806440"/>
            <a:ext cx="2377440" cy="548640"/>
          </a:xfrm>
          <a:prstGeom prst="rect">
            <a:avLst/>
          </a:prstGeom>
          <a:noFill/>
          <a:ln/>
        </p:spPr>
        <p:txBody>
          <a:bodyPr wrap="square" lIns="635" tIns="635" rIns="635" bIns="635" rtlCol="0" anchor="ctr"/>
          <a:lstStyle/>
          <a:p>
            <a:pPr indent="0" marL="0">
              <a:buNone/>
            </a:pPr>
            <a:r>
              <a:rPr lang="en-US" sz="2600" b="1" dirty="0">
                <a:solidFill>
                  <a:srgbClr val="E3001B"/>
                </a:solidFill>
                <a:latin typeface="Arial" pitchFamily="34" charset="0"/>
                <a:ea typeface="Arial" pitchFamily="34" charset="-122"/>
                <a:cs typeface="Arial" pitchFamily="34" charset="-120"/>
              </a:rPr>
              <a:t>1:00</a:t>
            </a:r>
            <a:endParaRPr lang="en-US" sz="2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One possible answer for each</a:t>
            </a:r>
            <a:endParaRPr lang="en-US" sz="3200" dirty="0"/>
          </a:p>
        </p:txBody>
      </p:sp>
      <p:pic>
        <p:nvPicPr>
          <p:cNvPr id="4" name="Image 0" descr="preencoded.png">    </p:cNvPr>
          <p:cNvPicPr>
            <a:picLocks noChangeAspect="1"/>
          </p:cNvPicPr>
          <p:nvPr/>
        </p:nvPicPr>
        <p:blipFill>
          <a:blip r:embed="rId1"/>
          <a:stretch>
            <a:fillRect/>
          </a:stretch>
        </p:blipFill>
        <p:spPr>
          <a:xfrm>
            <a:off x="548640" y="1874520"/>
            <a:ext cx="640080" cy="640080"/>
          </a:xfrm>
          <a:prstGeom prst="rect">
            <a:avLst/>
          </a:prstGeom>
        </p:spPr>
      </p:pic>
      <p:sp>
        <p:nvSpPr>
          <p:cNvPr id="5" name="Text 1"/>
          <p:cNvSpPr txBox="1"/>
          <p:nvPr/>
        </p:nvSpPr>
        <p:spPr>
          <a:xfrm>
            <a:off x="1463040" y="1645920"/>
            <a:ext cx="3291840" cy="1097280"/>
          </a:xfrm>
          <a:prstGeom prst="rect">
            <a:avLst/>
          </a:prstGeom>
          <a:noFill/>
          <a:ln/>
        </p:spPr>
        <p:txBody>
          <a:bodyPr wrap="square" lIns="635" tIns="635" rIns="635" bIns="635" rtlCol="0" anchor="ctr"/>
          <a:lstStyle/>
          <a:p>
            <a:pPr indent="0" marL="0">
              <a:buNone/>
            </a:pPr>
            <a:r>
              <a:rPr lang="en-US" sz="1700" strike="sngStrike" dirty="0">
                <a:solidFill>
                  <a:srgbClr val="BDBDBD"/>
                </a:solidFill>
                <a:latin typeface="Calibri" pitchFamily="34" charset="0"/>
                <a:ea typeface="Calibri" pitchFamily="34" charset="-122"/>
                <a:cs typeface="Calibri" pitchFamily="34" charset="-120"/>
              </a:rPr>
              <a:t>Collections performance Q2</a:t>
            </a:r>
            <a:endParaRPr lang="en-US" sz="1700" dirty="0"/>
          </a:p>
        </p:txBody>
      </p:sp>
      <p:sp>
        <p:nvSpPr>
          <p:cNvPr id="6" name="Shape 2"/>
          <p:cNvSpPr/>
          <p:nvPr/>
        </p:nvSpPr>
        <p:spPr>
          <a:xfrm>
            <a:off x="4572000" y="1645920"/>
            <a:ext cx="7086600" cy="1097280"/>
          </a:xfrm>
          <a:prstGeom prst="roundRect">
            <a:avLst>
              <a:gd name="adj" fmla="val 8333"/>
            </a:avLst>
          </a:prstGeom>
          <a:solidFill>
            <a:srgbClr val="FDECEE"/>
          </a:solidFill>
          <a:ln w="12700">
            <a:solidFill>
              <a:srgbClr val="FDECEE"/>
            </a:solidFill>
            <a:prstDash val="solid"/>
          </a:ln>
        </p:spPr>
      </p:sp>
      <p:sp>
        <p:nvSpPr>
          <p:cNvPr id="7" name="Text 3"/>
          <p:cNvSpPr txBox="1"/>
          <p:nvPr/>
        </p:nvSpPr>
        <p:spPr>
          <a:xfrm>
            <a:off x="4800600" y="1645920"/>
            <a:ext cx="6675120" cy="10972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Field collections recovered 8% more in Q2 thanks to the early-call script</a:t>
            </a:r>
            <a:endParaRPr lang="en-US" sz="1900" dirty="0"/>
          </a:p>
        </p:txBody>
      </p:sp>
      <p:pic>
        <p:nvPicPr>
          <p:cNvPr id="8" name="Image 1" descr="preencoded.png">    </p:cNvPr>
          <p:cNvPicPr>
            <a:picLocks noChangeAspect="1"/>
          </p:cNvPicPr>
          <p:nvPr/>
        </p:nvPicPr>
        <p:blipFill>
          <a:blip r:embed="rId2"/>
          <a:stretch>
            <a:fillRect/>
          </a:stretch>
        </p:blipFill>
        <p:spPr>
          <a:xfrm>
            <a:off x="548640" y="3246120"/>
            <a:ext cx="640080" cy="640080"/>
          </a:xfrm>
          <a:prstGeom prst="rect">
            <a:avLst/>
          </a:prstGeom>
        </p:spPr>
      </p:pic>
      <p:sp>
        <p:nvSpPr>
          <p:cNvPr id="9" name="Text 4"/>
          <p:cNvSpPr txBox="1"/>
          <p:nvPr/>
        </p:nvSpPr>
        <p:spPr>
          <a:xfrm>
            <a:off x="1463040" y="3017520"/>
            <a:ext cx="3291840" cy="1097280"/>
          </a:xfrm>
          <a:prstGeom prst="rect">
            <a:avLst/>
          </a:prstGeom>
          <a:noFill/>
          <a:ln/>
        </p:spPr>
        <p:txBody>
          <a:bodyPr wrap="square" lIns="635" tIns="635" rIns="635" bIns="635" rtlCol="0" anchor="ctr"/>
          <a:lstStyle/>
          <a:p>
            <a:pPr indent="0" marL="0">
              <a:buNone/>
            </a:pPr>
            <a:r>
              <a:rPr lang="en-US" sz="1700" strike="sngStrike" dirty="0">
                <a:solidFill>
                  <a:srgbClr val="BDBDBD"/>
                </a:solidFill>
                <a:latin typeface="Calibri" pitchFamily="34" charset="0"/>
                <a:ea typeface="Calibri" pitchFamily="34" charset="-122"/>
                <a:cs typeface="Calibri" pitchFamily="34" charset="-120"/>
              </a:rPr>
              <a:t>Partner channel overview</a:t>
            </a:r>
            <a:endParaRPr lang="en-US" sz="1700" dirty="0"/>
          </a:p>
        </p:txBody>
      </p:sp>
      <p:sp>
        <p:nvSpPr>
          <p:cNvPr id="10" name="Shape 5"/>
          <p:cNvSpPr/>
          <p:nvPr/>
        </p:nvSpPr>
        <p:spPr>
          <a:xfrm>
            <a:off x="4572000" y="3017520"/>
            <a:ext cx="7086600" cy="1097280"/>
          </a:xfrm>
          <a:prstGeom prst="roundRect">
            <a:avLst>
              <a:gd name="adj" fmla="val 8333"/>
            </a:avLst>
          </a:prstGeom>
          <a:solidFill>
            <a:srgbClr val="FDECEE"/>
          </a:solidFill>
          <a:ln w="12700">
            <a:solidFill>
              <a:srgbClr val="FDECEE"/>
            </a:solidFill>
            <a:prstDash val="solid"/>
          </a:ln>
        </p:spPr>
      </p:sp>
      <p:sp>
        <p:nvSpPr>
          <p:cNvPr id="11" name="Text 6"/>
          <p:cNvSpPr txBox="1"/>
          <p:nvPr/>
        </p:nvSpPr>
        <p:spPr>
          <a:xfrm>
            <a:off x="4800600" y="3017520"/>
            <a:ext cx="6675120" cy="10972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Sulawesi partner sales fell 18% after a competitor launched 0% instalments</a:t>
            </a:r>
            <a:endParaRPr lang="en-US" sz="1900" dirty="0"/>
          </a:p>
        </p:txBody>
      </p:sp>
      <p:pic>
        <p:nvPicPr>
          <p:cNvPr id="12" name="Image 2" descr="preencoded.png">    </p:cNvPr>
          <p:cNvPicPr>
            <a:picLocks noChangeAspect="1"/>
          </p:cNvPicPr>
          <p:nvPr/>
        </p:nvPicPr>
        <p:blipFill>
          <a:blip r:embed="rId3"/>
          <a:stretch>
            <a:fillRect/>
          </a:stretch>
        </p:blipFill>
        <p:spPr>
          <a:xfrm>
            <a:off x="548640" y="4617720"/>
            <a:ext cx="640080" cy="640080"/>
          </a:xfrm>
          <a:prstGeom prst="rect">
            <a:avLst/>
          </a:prstGeom>
        </p:spPr>
      </p:pic>
      <p:sp>
        <p:nvSpPr>
          <p:cNvPr id="13" name="Text 7"/>
          <p:cNvSpPr txBox="1"/>
          <p:nvPr/>
        </p:nvSpPr>
        <p:spPr>
          <a:xfrm>
            <a:off x="1463040" y="4389120"/>
            <a:ext cx="3291840" cy="1097280"/>
          </a:xfrm>
          <a:prstGeom prst="rect">
            <a:avLst/>
          </a:prstGeom>
          <a:noFill/>
          <a:ln/>
        </p:spPr>
        <p:txBody>
          <a:bodyPr wrap="square" lIns="635" tIns="635" rIns="635" bIns="635" rtlCol="0" anchor="ctr"/>
          <a:lstStyle/>
          <a:p>
            <a:pPr indent="0" marL="0">
              <a:buNone/>
            </a:pPr>
            <a:r>
              <a:rPr lang="en-US" sz="1700" strike="sngStrike" dirty="0">
                <a:solidFill>
                  <a:srgbClr val="BDBDBD"/>
                </a:solidFill>
                <a:latin typeface="Calibri" pitchFamily="34" charset="0"/>
                <a:ea typeface="Calibri" pitchFamily="34" charset="-122"/>
                <a:cs typeface="Calibri" pitchFamily="34" charset="-120"/>
              </a:rPr>
              <a:t>Approval rate trend</a:t>
            </a:r>
            <a:endParaRPr lang="en-US" sz="1700" dirty="0"/>
          </a:p>
        </p:txBody>
      </p:sp>
      <p:sp>
        <p:nvSpPr>
          <p:cNvPr id="14" name="Shape 8"/>
          <p:cNvSpPr/>
          <p:nvPr/>
        </p:nvSpPr>
        <p:spPr>
          <a:xfrm>
            <a:off x="4572000" y="4389120"/>
            <a:ext cx="7086600" cy="1097280"/>
          </a:xfrm>
          <a:prstGeom prst="roundRect">
            <a:avLst>
              <a:gd name="adj" fmla="val 8333"/>
            </a:avLst>
          </a:prstGeom>
          <a:solidFill>
            <a:srgbClr val="FDECEE"/>
          </a:solidFill>
          <a:ln w="12700">
            <a:solidFill>
              <a:srgbClr val="FDECEE"/>
            </a:solidFill>
            <a:prstDash val="solid"/>
          </a:ln>
        </p:spPr>
      </p:sp>
      <p:sp>
        <p:nvSpPr>
          <p:cNvPr id="15" name="Text 9"/>
          <p:cNvSpPr txBox="1"/>
          <p:nvPr/>
        </p:nvSpPr>
        <p:spPr>
          <a:xfrm>
            <a:off x="4800600" y="4389120"/>
            <a:ext cx="6675120" cy="10972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Approval rate fell 5 pts in May because of the new score cut-off</a:t>
            </a:r>
            <a:endParaRPr lang="en-US" sz="1900" dirty="0"/>
          </a:p>
        </p:txBody>
      </p:sp>
      <p:sp>
        <p:nvSpPr>
          <p:cNvPr id="16" name="Text 10"/>
          <p:cNvSpPr txBox="1"/>
          <p:nvPr/>
        </p:nvSpPr>
        <p:spPr>
          <a:xfrm>
            <a:off x="548640" y="5806440"/>
            <a:ext cx="109728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Rules: </a:t>
            </a:r>
            <a:pPr indent="0" marL="0">
              <a:buNone/>
            </a:pPr>
            <a:r>
              <a:rPr lang="en-US" sz="1700" dirty="0">
                <a:solidFill>
                  <a:srgbClr val="1A1A1A"/>
                </a:solidFill>
                <a:latin typeface="Calibri" pitchFamily="34" charset="0"/>
                <a:ea typeface="Calibri" pitchFamily="34" charset="-122"/>
                <a:cs typeface="Calibri" pitchFamily="34" charset="-120"/>
              </a:rPr>
              <a:t>full sentence · max 2 lines · one message · a number or a verb</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9E0012"/>
                </a:solidFill>
                <a:latin typeface="Arial" pitchFamily="34" charset="0"/>
                <a:ea typeface="Arial" pitchFamily="34" charset="-122"/>
                <a:cs typeface="Arial" pitchFamily="34" charset="-120"/>
              </a:rPr>
              <a:t>Your turn: 5 sticky notes = 5 titles</a:t>
            </a:r>
            <a:endParaRPr lang="en-US" sz="3200" dirty="0"/>
          </a:p>
        </p:txBody>
      </p:sp>
      <p:sp>
        <p:nvSpPr>
          <p:cNvPr id="4" name="Text 1"/>
          <p:cNvSpPr txBox="1"/>
          <p:nvPr/>
        </p:nvSpPr>
        <p:spPr>
          <a:xfrm>
            <a:off x="548640" y="173736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2"/>
          <p:cNvSpPr txBox="1"/>
          <p:nvPr/>
        </p:nvSpPr>
        <p:spPr>
          <a:xfrm>
            <a:off x="1143000" y="169164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Write 5 titles on 5 sticky notes</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Note 1 = the answer. Note 5 = the ask</a:t>
            </a:r>
            <a:endParaRPr lang="en-US" sz="1500" dirty="0"/>
          </a:p>
        </p:txBody>
      </p:sp>
      <p:sp>
        <p:nvSpPr>
          <p:cNvPr id="6" name="Text 3"/>
          <p:cNvSpPr txBox="1"/>
          <p:nvPr/>
        </p:nvSpPr>
        <p:spPr>
          <a:xfrm>
            <a:off x="548640" y="297180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1143000" y="292608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Swap tables. Read titles only</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No explaining allowed</a:t>
            </a:r>
            <a:endParaRPr lang="en-US" sz="1500" dirty="0"/>
          </a:p>
        </p:txBody>
      </p:sp>
      <p:sp>
        <p:nvSpPr>
          <p:cNvPr id="8" name="Text 5"/>
          <p:cNvSpPr txBox="1"/>
          <p:nvPr/>
        </p:nvSpPr>
        <p:spPr>
          <a:xfrm>
            <a:off x="548640" y="420624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9" name="Text 6"/>
          <p:cNvSpPr txBox="1"/>
          <p:nvPr/>
        </p:nvSpPr>
        <p:spPr>
          <a:xfrm>
            <a:off x="1143000" y="416052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Mark each: ✓ clear  ?  unclear  ✗ topic</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Fix every ✗</a:t>
            </a:r>
            <a:endParaRPr lang="en-US" sz="1500" dirty="0"/>
          </a:p>
        </p:txBody>
      </p:sp>
      <p:sp>
        <p:nvSpPr>
          <p:cNvPr id="10" name="Shape 7"/>
          <p:cNvSpPr/>
          <p:nvPr/>
        </p:nvSpPr>
        <p:spPr>
          <a:xfrm rot="-180000">
            <a:off x="6949440" y="1737360"/>
            <a:ext cx="1417320" cy="1417320"/>
          </a:xfrm>
          <a:prstGeom prst="rect">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7040880" y="2148840"/>
            <a:ext cx="1234440" cy="54864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p>
        </p:txBody>
      </p:sp>
      <p:sp>
        <p:nvSpPr>
          <p:cNvPr id="12" name="Shape 9"/>
          <p:cNvSpPr/>
          <p:nvPr/>
        </p:nvSpPr>
        <p:spPr>
          <a:xfrm rot="120000">
            <a:off x="8549640" y="1737360"/>
            <a:ext cx="1417320" cy="1417320"/>
          </a:xfrm>
          <a:prstGeom prst="rect">
            <a:avLst/>
          </a:prstGeom>
          <a:solidFill>
            <a:srgbClr val="F28C96"/>
          </a:solidFill>
          <a:ln w="12700">
            <a:solidFill>
              <a:srgbClr val="F28C96"/>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8641080" y="2148840"/>
            <a:ext cx="1234440" cy="54864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Why 1</a:t>
            </a:r>
            <a:endParaRPr lang="en-US" sz="1600" dirty="0"/>
          </a:p>
        </p:txBody>
      </p:sp>
      <p:sp>
        <p:nvSpPr>
          <p:cNvPr id="14" name="Shape 11"/>
          <p:cNvSpPr/>
          <p:nvPr/>
        </p:nvSpPr>
        <p:spPr>
          <a:xfrm rot="-120000">
            <a:off x="10149840" y="1737360"/>
            <a:ext cx="1417320"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5" name="Text 12"/>
          <p:cNvSpPr txBox="1"/>
          <p:nvPr/>
        </p:nvSpPr>
        <p:spPr>
          <a:xfrm>
            <a:off x="10241280" y="2148840"/>
            <a:ext cx="1234440" cy="548640"/>
          </a:xfrm>
          <a:prstGeom prst="rect">
            <a:avLst/>
          </a:prstGeom>
          <a:noFill/>
          <a:ln/>
        </p:spPr>
        <p:txBody>
          <a:bodyPr wrap="square" lIns="635" tIns="635" rIns="635" bIns="635" rtlCol="0" anchor="ctr"/>
          <a:lstStyle/>
          <a:p>
            <a:pPr algn="ctr" indent="0" marL="0">
              <a:buNone/>
            </a:pPr>
            <a:r>
              <a:rPr lang="en-US" sz="1600" b="1" dirty="0">
                <a:solidFill>
                  <a:srgbClr val="E3001B"/>
                </a:solidFill>
                <a:latin typeface="Calibri" pitchFamily="34" charset="0"/>
                <a:ea typeface="Calibri" pitchFamily="34" charset="-122"/>
                <a:cs typeface="Calibri" pitchFamily="34" charset="-120"/>
              </a:rPr>
              <a:t>Why 2</a:t>
            </a:r>
            <a:endParaRPr lang="en-US" sz="1600" dirty="0"/>
          </a:p>
        </p:txBody>
      </p:sp>
      <p:sp>
        <p:nvSpPr>
          <p:cNvPr id="16" name="Shape 13"/>
          <p:cNvSpPr/>
          <p:nvPr/>
        </p:nvSpPr>
        <p:spPr>
          <a:xfrm rot="180000">
            <a:off x="6949440" y="3474720"/>
            <a:ext cx="1417320" cy="1417320"/>
          </a:xfrm>
          <a:prstGeom prst="rect">
            <a:avLst/>
          </a:prstGeom>
          <a:solidFill>
            <a:srgbClr val="F28C96"/>
          </a:solidFill>
          <a:ln w="12700">
            <a:solidFill>
              <a:srgbClr val="F28C96"/>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7040880" y="3886200"/>
            <a:ext cx="1234440" cy="54864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Proof</a:t>
            </a:r>
            <a:endParaRPr lang="en-US" sz="1600" dirty="0"/>
          </a:p>
        </p:txBody>
      </p:sp>
      <p:sp>
        <p:nvSpPr>
          <p:cNvPr id="18" name="Shape 15"/>
          <p:cNvSpPr/>
          <p:nvPr/>
        </p:nvSpPr>
        <p:spPr>
          <a:xfrm rot="-60000">
            <a:off x="8549640" y="3474720"/>
            <a:ext cx="1417320" cy="1417320"/>
          </a:xfrm>
          <a:prstGeom prst="rect">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8641080" y="3886200"/>
            <a:ext cx="1234440" cy="54864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ask</a:t>
            </a:r>
            <a:endParaRPr lang="en-US" sz="1600" dirty="0"/>
          </a:p>
        </p:txBody>
      </p:sp>
      <p:pic>
        <p:nvPicPr>
          <p:cNvPr id="20" name="Image 0" descr="preencoded.png">    </p:cNvPr>
          <p:cNvPicPr>
            <a:picLocks noChangeAspect="1"/>
          </p:cNvPicPr>
          <p:nvPr/>
        </p:nvPicPr>
        <p:blipFill>
          <a:blip r:embed="rId1"/>
          <a:stretch>
            <a:fillRect/>
          </a:stretch>
        </p:blipFill>
        <p:spPr>
          <a:xfrm>
            <a:off x="548640" y="5623560"/>
            <a:ext cx="457200" cy="457200"/>
          </a:xfrm>
          <a:prstGeom prst="rect">
            <a:avLst/>
          </a:prstGeom>
        </p:spPr>
      </p:pic>
      <p:sp>
        <p:nvSpPr>
          <p:cNvPr id="21" name="Text 17"/>
          <p:cNvSpPr txBox="1"/>
          <p:nvPr/>
        </p:nvSpPr>
        <p:spPr>
          <a:xfrm>
            <a:off x="1097280" y="5577840"/>
            <a:ext cx="2377440" cy="548640"/>
          </a:xfrm>
          <a:prstGeom prst="rect">
            <a:avLst/>
          </a:prstGeom>
          <a:noFill/>
          <a:ln/>
        </p:spPr>
        <p:txBody>
          <a:bodyPr wrap="square" lIns="635" tIns="635" rIns="635" bIns="635" rtlCol="0" anchor="ctr"/>
          <a:lstStyle/>
          <a:p>
            <a:pPr indent="0" marL="0">
              <a:buNone/>
            </a:pPr>
            <a:r>
              <a:rPr lang="en-US" sz="2600" b="1" dirty="0">
                <a:solidFill>
                  <a:srgbClr val="E3001B"/>
                </a:solidFill>
                <a:latin typeface="Arial" pitchFamily="34" charset="0"/>
                <a:ea typeface="Arial" pitchFamily="34" charset="-122"/>
                <a:cs typeface="Arial" pitchFamily="34" charset="-120"/>
              </a:rPr>
              <a:t>15:00</a:t>
            </a:r>
            <a:endParaRPr lang="en-US" sz="2600" dirty="0"/>
          </a:p>
        </p:txBody>
      </p:sp>
      <p:sp>
        <p:nvSpPr>
          <p:cNvPr id="22" name="Text 18"/>
          <p:cNvSpPr txBox="1"/>
          <p:nvPr/>
        </p:nvSpPr>
        <p:spPr>
          <a:xfrm>
            <a:off x="2926080" y="5669280"/>
            <a:ext cx="182880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Groups of 3–4</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E0012"/>
          </a:solidFill>
          <a:ln w="12700">
            <a:solidFill>
              <a:srgbClr val="9E0012"/>
            </a:solidFill>
            <a:prstDash val="solid"/>
          </a:ln>
        </p:spPr>
      </p:sp>
      <p:sp>
        <p:nvSpPr>
          <p:cNvPr id="3" name="Shape 1"/>
          <p:cNvSpPr/>
          <p:nvPr/>
        </p:nvSpPr>
        <p:spPr>
          <a:xfrm>
            <a:off x="3352648" y="685800"/>
            <a:ext cx="5486400" cy="5486400"/>
          </a:xfrm>
          <a:prstGeom prst="ellipse">
            <a:avLst/>
          </a:prstGeom>
          <a:solidFill>
            <a:srgbClr val="E3001B">
              <a:alpha val="60000"/>
            </a:srgbClr>
          </a:solidFill>
          <a:ln w="12700">
            <a:solidFill>
              <a:srgbClr val="E3001B">
                <a:alpha val="0"/>
              </a:srgbClr>
            </a:solidFill>
            <a:prstDash val="solid"/>
          </a:ln>
        </p:spPr>
      </p:sp>
      <p:pic>
        <p:nvPicPr>
          <p:cNvPr id="4" name="Image 0" descr="coffee cups and snacks on a meeting table, warm light">    </p:cNvPr>
          <p:cNvPicPr>
            <a:picLocks noChangeAspect="1"/>
          </p:cNvPicPr>
          <p:nvPr/>
        </p:nvPicPr>
        <p:blipFill>
          <a:blip r:embed="rId1">
            <a:alphaModFix amt="90000"/>
          </a:blip>
          <a:stretch>
            <a:fillRect/>
          </a:stretch>
        </p:blipFill>
        <p:spPr>
          <a:xfrm>
            <a:off x="5272888" y="2606040"/>
            <a:ext cx="1645920" cy="1645920"/>
          </a:xfrm>
          <a:prstGeom prst="rect">
            <a:avLst/>
          </a:prstGeom>
        </p:spPr>
      </p:pic>
      <p:sp>
        <p:nvSpPr>
          <p:cNvPr id="5" name="Shape 2"/>
          <p:cNvSpPr/>
          <p:nvPr/>
        </p:nvSpPr>
        <p:spPr>
          <a:xfrm>
            <a:off x="3566160" y="2194560"/>
            <a:ext cx="5029200" cy="2468880"/>
          </a:xfrm>
          <a:prstGeom prst="roundRect">
            <a:avLst>
              <a:gd name="adj" fmla="val 3704"/>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6" name="Text 3"/>
          <p:cNvSpPr txBox="1"/>
          <p:nvPr/>
        </p:nvSpPr>
        <p:spPr>
          <a:xfrm>
            <a:off x="3749040" y="2377440"/>
            <a:ext cx="4663440" cy="914400"/>
          </a:xfrm>
          <a:prstGeom prst="rect">
            <a:avLst/>
          </a:prstGeom>
          <a:noFill/>
          <a:ln/>
        </p:spPr>
        <p:txBody>
          <a:bodyPr wrap="square" lIns="635" tIns="635" rIns="635" bIns="635"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Break · 10 min</a:t>
            </a:r>
            <a:endParaRPr lang="en-US" sz="4000" dirty="0"/>
          </a:p>
        </p:txBody>
      </p:sp>
      <p:sp>
        <p:nvSpPr>
          <p:cNvPr id="7" name="Text 4"/>
          <p:cNvSpPr txBox="1"/>
          <p:nvPr/>
        </p:nvSpPr>
        <p:spPr>
          <a:xfrm>
            <a:off x="3931920" y="3383280"/>
            <a:ext cx="4297680" cy="731520"/>
          </a:xfrm>
          <a:prstGeom prst="rect">
            <a:avLst/>
          </a:prstGeom>
          <a:noFill/>
          <a:ln/>
        </p:spPr>
        <p:txBody>
          <a:bodyPr wrap="square" lIns="635" tIns="635" rIns="635" bIns="635"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Bring your sticky notes back</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laptop screen showing a clean business chart in an office">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371600"/>
            <a:ext cx="5029200" cy="548640"/>
          </a:xfrm>
          <a:prstGeom prst="rect">
            <a:avLst/>
          </a:prstGeom>
          <a:noFill/>
          <a:ln/>
        </p:spPr>
        <p:txBody>
          <a:bodyPr wrap="square" lIns="635" tIns="635" rIns="635" bIns="635" rtlCol="0" anchor="ctr"/>
          <a:lstStyle/>
          <a:p>
            <a:pPr indent="0" marL="0">
              <a:buNone/>
            </a:pPr>
            <a:r>
              <a:rPr lang="en-US" sz="2000" b="1" spc="400" kern="0" dirty="0">
                <a:solidFill>
                  <a:srgbClr val="FFD6DA"/>
                </a:solidFill>
                <a:latin typeface="Calibri" pitchFamily="34" charset="0"/>
                <a:ea typeface="Calibri" pitchFamily="34" charset="-122"/>
                <a:cs typeface="Calibri" pitchFamily="34" charset="-120"/>
              </a:rPr>
              <a:t>MOVE 3</a:t>
            </a:r>
            <a:endParaRPr lang="en-US" sz="2000" dirty="0"/>
          </a:p>
        </p:txBody>
      </p:sp>
      <p:sp>
        <p:nvSpPr>
          <p:cNvPr id="6" name="Text 3"/>
          <p:cNvSpPr txBox="1"/>
          <p:nvPr/>
        </p:nvSpPr>
        <p:spPr>
          <a:xfrm>
            <a:off x="6735928" y="1920240"/>
            <a:ext cx="5120640" cy="2011680"/>
          </a:xfrm>
          <a:prstGeom prst="rect">
            <a:avLst/>
          </a:prstGeom>
          <a:noFill/>
          <a:ln/>
        </p:spPr>
        <p:txBody>
          <a:bodyPr wrap="square" lIns="635" tIns="635" rIns="635" bIns="635" rtlCol="0" anchor="t"/>
          <a:lstStyle/>
          <a:p>
            <a:pPr indent="0" marL="0">
              <a:buNone/>
            </a:pPr>
            <a:r>
              <a:rPr lang="en-US" sz="5400" b="1" dirty="0">
                <a:solidFill>
                  <a:srgbClr val="FFFFFF"/>
                </a:solidFill>
                <a:latin typeface="Arial" pitchFamily="34" charset="0"/>
                <a:ea typeface="Arial" pitchFamily="34" charset="-122"/>
                <a:cs typeface="Arial" pitchFamily="34" charset="-120"/>
              </a:rPr>
              <a:t>One chart, one number</a:t>
            </a:r>
            <a:endParaRPr lang="en-US" sz="5400" dirty="0"/>
          </a:p>
        </p:txBody>
      </p:sp>
      <p:sp>
        <p:nvSpPr>
          <p:cNvPr id="7" name="Text 4"/>
          <p:cNvSpPr txBox="1"/>
          <p:nvPr/>
        </p:nvSpPr>
        <p:spPr>
          <a:xfrm>
            <a:off x="6735928" y="4206240"/>
            <a:ext cx="5120640" cy="1280160"/>
          </a:xfrm>
          <a:prstGeom prst="rect">
            <a:avLst/>
          </a:prstGeom>
          <a:noFill/>
          <a:ln/>
        </p:spPr>
        <p:txBody>
          <a:bodyPr wrap="square" lIns="635" tIns="635" rIns="635" bIns="635" rtlCol="0" anchor="t"/>
          <a:lstStyle/>
          <a:p>
            <a:pPr indent="0" marL="0">
              <a:buNone/>
            </a:pPr>
            <a:r>
              <a:rPr lang="en-US" sz="2200" i="1" dirty="0">
                <a:solidFill>
                  <a:srgbClr val="FFFFFF"/>
                </a:solidFill>
                <a:latin typeface="Calibri" pitchFamily="34" charset="0"/>
                <a:ea typeface="Calibri" pitchFamily="34" charset="-122"/>
                <a:cs typeface="Calibri" pitchFamily="34" charset="-120"/>
              </a:rPr>
              <a:t>If everything is highlighted, nothing is.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Game: spot 5 problems in 30 seconds</a:t>
            </a:r>
            <a:endParaRPr lang="en-US" sz="3200" dirty="0"/>
          </a:p>
        </p:txBody>
      </p:sp>
      <p:graphicFrame>
        <p:nvGraphicFramePr>
          <p:cNvPr id="4" name="Chart 0" descr=""/>
          <p:cNvGraphicFramePr/>
          <p:nvPr/>
        </p:nvGraphicFramePr>
        <p:xfrm>
          <a:off x="548640" y="155448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412480" y="1554480"/>
            <a:ext cx="3246120" cy="4480560"/>
          </a:xfrm>
          <a:prstGeom prst="roundRect">
            <a:avLst>
              <a:gd name="adj" fmla="val 2817"/>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2"/>
          <a:stretch>
            <a:fillRect/>
          </a:stretch>
        </p:blipFill>
        <p:spPr>
          <a:xfrm>
            <a:off x="9555480" y="1828800"/>
            <a:ext cx="960120" cy="960120"/>
          </a:xfrm>
          <a:prstGeom prst="rect">
            <a:avLst/>
          </a:prstGeom>
        </p:spPr>
      </p:pic>
      <p:sp>
        <p:nvSpPr>
          <p:cNvPr id="7" name="Text 2"/>
          <p:cNvSpPr txBox="1"/>
          <p:nvPr/>
        </p:nvSpPr>
        <p:spPr>
          <a:xfrm>
            <a:off x="8595360" y="2971800"/>
            <a:ext cx="2880360" cy="914400"/>
          </a:xfrm>
          <a:prstGeom prst="rect">
            <a:avLst/>
          </a:prstGeom>
          <a:noFill/>
          <a:ln/>
        </p:spPr>
        <p:txBody>
          <a:bodyPr wrap="square" lIns="635" tIns="635" rIns="635" bIns="635"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Find 5 problems</a:t>
            </a:r>
            <a:endParaRPr lang="en-US" sz="2600" dirty="0"/>
          </a:p>
        </p:txBody>
      </p:sp>
      <p:sp>
        <p:nvSpPr>
          <p:cNvPr id="8" name="Text 3"/>
          <p:cNvSpPr txBox="1"/>
          <p:nvPr/>
        </p:nvSpPr>
        <p:spPr>
          <a:xfrm>
            <a:off x="8641080" y="3931920"/>
            <a:ext cx="2788920" cy="914400"/>
          </a:xfrm>
          <a:prstGeom prst="rect">
            <a:avLst/>
          </a:prstGeom>
          <a:noFill/>
          <a:ln/>
        </p:spPr>
        <p:txBody>
          <a:bodyPr wrap="square" lIns="635" tIns="635" rIns="635" bIns="635" rtlCol="0" anchor="t"/>
          <a:lstStyle/>
          <a:p>
            <a:pPr algn="ctr" indent="0" marL="0">
              <a:buNone/>
            </a:pPr>
            <a:r>
              <a:rPr lang="en-US" sz="1600" dirty="0">
                <a:solidFill>
                  <a:srgbClr val="FFD6DA"/>
                </a:solidFill>
                <a:latin typeface="Calibri" pitchFamily="34" charset="0"/>
                <a:ea typeface="Calibri" pitchFamily="34" charset="-122"/>
                <a:cs typeface="Calibri" pitchFamily="34" charset="-120"/>
              </a:rPr>
              <a:t>Tables race. One problem per table, in turns.</a:t>
            </a:r>
            <a:endParaRPr lang="en-US" sz="1600" dirty="0"/>
          </a:p>
        </p:txBody>
      </p:sp>
      <p:pic>
        <p:nvPicPr>
          <p:cNvPr id="9" name="Image 1" descr="preencoded.png">    </p:cNvPr>
          <p:cNvPicPr>
            <a:picLocks noChangeAspect="1"/>
          </p:cNvPicPr>
          <p:nvPr/>
        </p:nvPicPr>
        <p:blipFill>
          <a:blip r:embed="rId3"/>
          <a:stretch>
            <a:fillRect/>
          </a:stretch>
        </p:blipFill>
        <p:spPr>
          <a:xfrm>
            <a:off x="9235440" y="5074920"/>
            <a:ext cx="457200" cy="457200"/>
          </a:xfrm>
          <a:prstGeom prst="rect">
            <a:avLst/>
          </a:prstGeom>
        </p:spPr>
      </p:pic>
      <p:sp>
        <p:nvSpPr>
          <p:cNvPr id="10" name="Text 4"/>
          <p:cNvSpPr txBox="1"/>
          <p:nvPr/>
        </p:nvSpPr>
        <p:spPr>
          <a:xfrm>
            <a:off x="9784080" y="5029200"/>
            <a:ext cx="1371600" cy="548640"/>
          </a:xfrm>
          <a:prstGeom prst="rect">
            <a:avLst/>
          </a:prstGeom>
          <a:noFill/>
          <a:ln/>
        </p:spPr>
        <p:txBody>
          <a:bodyPr wrap="square" lIns="635" tIns="635" rIns="635" bIns="635" rtlCol="0" anchor="ctr"/>
          <a:lstStyle/>
          <a:p>
            <a:pPr indent="0" marL="0">
              <a:buNone/>
            </a:pPr>
            <a:r>
              <a:rPr lang="en-US" sz="2600" b="1" dirty="0">
                <a:solidFill>
                  <a:srgbClr val="FFFFFF"/>
                </a:solidFill>
                <a:latin typeface="Arial" pitchFamily="34" charset="0"/>
                <a:ea typeface="Arial" pitchFamily="34" charset="-122"/>
                <a:cs typeface="Arial" pitchFamily="34" charset="-120"/>
              </a:rPr>
              <a:t>0:30</a:t>
            </a:r>
            <a:endParaRPr lang="en-US" sz="2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Fixed: delete, grey, highlight</a:t>
            </a:r>
            <a:endParaRPr lang="en-US" sz="3200" dirty="0"/>
          </a:p>
        </p:txBody>
      </p:sp>
      <p:sp>
        <p:nvSpPr>
          <p:cNvPr id="4" name="Text 1"/>
          <p:cNvSpPr txBox="1"/>
          <p:nvPr/>
        </p:nvSpPr>
        <p:spPr>
          <a:xfrm>
            <a:off x="548640" y="1508760"/>
            <a:ext cx="7498080" cy="457200"/>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East Java's bad loans are 70% above every other region</a:t>
            </a:r>
            <a:endParaRPr lang="en-US" sz="1800" dirty="0"/>
          </a:p>
        </p:txBody>
      </p:sp>
      <p:sp>
        <p:nvSpPr>
          <p:cNvPr id="5" name="Text 2"/>
          <p:cNvSpPr txBox="1"/>
          <p:nvPr/>
        </p:nvSpPr>
        <p:spPr>
          <a:xfrm>
            <a:off x="548640" y="1920240"/>
            <a:ext cx="7315200" cy="320040"/>
          </a:xfrm>
          <a:prstGeom prst="rect">
            <a:avLst/>
          </a:prstGeom>
          <a:noFill/>
          <a:ln/>
        </p:spPr>
        <p:txBody>
          <a:bodyPr wrap="square" lIns="635" tIns="635" rIns="635" bIns="635" rtlCol="0" anchor="ctr"/>
          <a:lstStyle/>
          <a:p>
            <a:pPr indent="0" marL="0">
              <a:buNone/>
            </a:pPr>
            <a:r>
              <a:rPr lang="en-US" sz="1300" dirty="0">
                <a:solidFill>
                  <a:srgbClr val="6B6B6B"/>
                </a:solidFill>
                <a:latin typeface="Calibri" pitchFamily="34" charset="0"/>
                <a:ea typeface="Calibri" pitchFamily="34" charset="-122"/>
                <a:cs typeface="Calibri" pitchFamily="34" charset="-120"/>
              </a:rPr>
              <a:t>30+ DPD at month 3, June, %</a:t>
            </a:r>
            <a:endParaRPr lang="en-US" sz="1300" dirty="0"/>
          </a:p>
        </p:txBody>
      </p:sp>
      <p:graphicFrame>
        <p:nvGraphicFramePr>
          <p:cNvPr id="6" name="Chart 0" descr=""/>
          <p:cNvGraphicFramePr/>
          <p:nvPr/>
        </p:nvGraphicFramePr>
        <p:xfrm>
          <a:off x="548640" y="2240280"/>
          <a:ext cx="7498080" cy="37490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8412480" y="1600200"/>
            <a:ext cx="3246120" cy="1280160"/>
          </a:xfrm>
          <a:prstGeom prst="roundRect">
            <a:avLst>
              <a:gd name="adj" fmla="val 7143"/>
            </a:avLst>
          </a:prstGeom>
          <a:solidFill>
            <a:srgbClr val="F4F4F4"/>
          </a:solidFill>
          <a:ln w="12700">
            <a:solidFill>
              <a:srgbClr val="F4F4F4"/>
            </a:solidFill>
            <a:prstDash val="solid"/>
          </a:ln>
        </p:spPr>
      </p:sp>
      <p:sp>
        <p:nvSpPr>
          <p:cNvPr id="8" name="Shape 4"/>
          <p:cNvSpPr/>
          <p:nvPr/>
        </p:nvSpPr>
        <p:spPr>
          <a:xfrm>
            <a:off x="8595360" y="1874520"/>
            <a:ext cx="731520" cy="731520"/>
          </a:xfrm>
          <a:prstGeom prst="ellipse">
            <a:avLst/>
          </a:prstGeom>
          <a:solidFill>
            <a:srgbClr val="E3001B"/>
          </a:solidFill>
          <a:ln w="12700">
            <a:solidFill>
              <a:srgbClr val="E3001B"/>
            </a:solidFill>
            <a:prstDash val="solid"/>
          </a:ln>
        </p:spPr>
      </p:sp>
      <p:pic>
        <p:nvPicPr>
          <p:cNvPr id="9" name="Image 0" descr="preencoded.png">    </p:cNvPr>
          <p:cNvPicPr>
            <a:picLocks noChangeAspect="1"/>
          </p:cNvPicPr>
          <p:nvPr/>
        </p:nvPicPr>
        <p:blipFill>
          <a:blip r:embed="rId2"/>
          <a:stretch>
            <a:fillRect/>
          </a:stretch>
        </p:blipFill>
        <p:spPr>
          <a:xfrm>
            <a:off x="8800186" y="2079346"/>
            <a:ext cx="321869" cy="321869"/>
          </a:xfrm>
          <a:prstGeom prst="rect">
            <a:avLst/>
          </a:prstGeom>
        </p:spPr>
      </p:pic>
      <p:sp>
        <p:nvSpPr>
          <p:cNvPr id="10" name="Text 5"/>
          <p:cNvSpPr txBox="1"/>
          <p:nvPr/>
        </p:nvSpPr>
        <p:spPr>
          <a:xfrm>
            <a:off x="9509760" y="1600200"/>
            <a:ext cx="2011680" cy="1280160"/>
          </a:xfrm>
          <a:prstGeom prst="rect">
            <a:avLst/>
          </a:prstGeom>
          <a:noFill/>
          <a:ln/>
        </p:spPr>
        <p:txBody>
          <a:bodyPr wrap="square" lIns="635" tIns="635" rIns="635" bIns="635" rtlCol="0" anchor="ctr"/>
          <a:lstStyle/>
          <a:p>
            <a:pPr indent="0" marL="0">
              <a:buNone/>
            </a:pPr>
            <a:r>
              <a:rPr lang="en-US" sz="2600" b="1" dirty="0">
                <a:solidFill>
                  <a:srgbClr val="1A1A1A"/>
                </a:solidFill>
                <a:latin typeface="Arial" pitchFamily="34" charset="0"/>
                <a:ea typeface="Arial" pitchFamily="34" charset="-122"/>
                <a:cs typeface="Arial" pitchFamily="34" charset="-120"/>
              </a:rPr>
              <a:t>Delete</a:t>
            </a:r>
            <a:endParaRPr lang="en-US" sz="2600" dirty="0"/>
          </a:p>
        </p:txBody>
      </p:sp>
      <p:sp>
        <p:nvSpPr>
          <p:cNvPr id="11" name="Shape 6"/>
          <p:cNvSpPr/>
          <p:nvPr/>
        </p:nvSpPr>
        <p:spPr>
          <a:xfrm>
            <a:off x="8412480" y="3063240"/>
            <a:ext cx="3246120" cy="1280160"/>
          </a:xfrm>
          <a:prstGeom prst="roundRect">
            <a:avLst>
              <a:gd name="adj" fmla="val 7143"/>
            </a:avLst>
          </a:prstGeom>
          <a:solidFill>
            <a:srgbClr val="F4F4F4"/>
          </a:solidFill>
          <a:ln w="12700">
            <a:solidFill>
              <a:srgbClr val="F4F4F4"/>
            </a:solidFill>
            <a:prstDash val="solid"/>
          </a:ln>
        </p:spPr>
      </p:sp>
      <p:sp>
        <p:nvSpPr>
          <p:cNvPr id="12" name="Shape 7"/>
          <p:cNvSpPr/>
          <p:nvPr/>
        </p:nvSpPr>
        <p:spPr>
          <a:xfrm>
            <a:off x="8595360" y="3337560"/>
            <a:ext cx="731520" cy="731520"/>
          </a:xfrm>
          <a:prstGeom prst="ellipse">
            <a:avLst/>
          </a:prstGeom>
          <a:solidFill>
            <a:srgbClr val="E3001B"/>
          </a:solidFill>
          <a:ln w="12700">
            <a:solidFill>
              <a:srgbClr val="E3001B"/>
            </a:solidFill>
            <a:prstDash val="solid"/>
          </a:ln>
        </p:spPr>
      </p:sp>
      <p:pic>
        <p:nvPicPr>
          <p:cNvPr id="13" name="Image 1" descr="preencoded.png">    </p:cNvPr>
          <p:cNvPicPr>
            <a:picLocks noChangeAspect="1"/>
          </p:cNvPicPr>
          <p:nvPr/>
        </p:nvPicPr>
        <p:blipFill>
          <a:blip r:embed="rId3"/>
          <a:stretch>
            <a:fillRect/>
          </a:stretch>
        </p:blipFill>
        <p:spPr>
          <a:xfrm>
            <a:off x="8800186" y="3542386"/>
            <a:ext cx="321869" cy="321869"/>
          </a:xfrm>
          <a:prstGeom prst="rect">
            <a:avLst/>
          </a:prstGeom>
        </p:spPr>
      </p:pic>
      <p:sp>
        <p:nvSpPr>
          <p:cNvPr id="14" name="Text 8"/>
          <p:cNvSpPr txBox="1"/>
          <p:nvPr/>
        </p:nvSpPr>
        <p:spPr>
          <a:xfrm>
            <a:off x="9509760" y="3063240"/>
            <a:ext cx="2011680" cy="1280160"/>
          </a:xfrm>
          <a:prstGeom prst="rect">
            <a:avLst/>
          </a:prstGeom>
          <a:noFill/>
          <a:ln/>
        </p:spPr>
        <p:txBody>
          <a:bodyPr wrap="square" lIns="635" tIns="635" rIns="635" bIns="635" rtlCol="0" anchor="ctr"/>
          <a:lstStyle/>
          <a:p>
            <a:pPr indent="0" marL="0">
              <a:buNone/>
            </a:pPr>
            <a:r>
              <a:rPr lang="en-US" sz="2600" b="1" dirty="0">
                <a:solidFill>
                  <a:srgbClr val="1A1A1A"/>
                </a:solidFill>
                <a:latin typeface="Arial" pitchFamily="34" charset="0"/>
                <a:ea typeface="Arial" pitchFamily="34" charset="-122"/>
                <a:cs typeface="Arial" pitchFamily="34" charset="-120"/>
              </a:rPr>
              <a:t>Grey</a:t>
            </a:r>
            <a:endParaRPr lang="en-US" sz="2600" dirty="0"/>
          </a:p>
        </p:txBody>
      </p:sp>
      <p:sp>
        <p:nvSpPr>
          <p:cNvPr id="15" name="Shape 9"/>
          <p:cNvSpPr/>
          <p:nvPr/>
        </p:nvSpPr>
        <p:spPr>
          <a:xfrm>
            <a:off x="8412480" y="4526280"/>
            <a:ext cx="3246120" cy="1280160"/>
          </a:xfrm>
          <a:prstGeom prst="roundRect">
            <a:avLst>
              <a:gd name="adj" fmla="val 7143"/>
            </a:avLst>
          </a:prstGeom>
          <a:solidFill>
            <a:srgbClr val="E3001B"/>
          </a:solidFill>
          <a:ln w="12700">
            <a:solidFill>
              <a:srgbClr val="E3001B"/>
            </a:solidFill>
            <a:prstDash val="solid"/>
          </a:ln>
        </p:spPr>
      </p:sp>
      <p:sp>
        <p:nvSpPr>
          <p:cNvPr id="16" name="Shape 10"/>
          <p:cNvSpPr/>
          <p:nvPr/>
        </p:nvSpPr>
        <p:spPr>
          <a:xfrm>
            <a:off x="8595360" y="4800600"/>
            <a:ext cx="731520" cy="731520"/>
          </a:xfrm>
          <a:prstGeom prst="ellipse">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4"/>
          <a:stretch>
            <a:fillRect/>
          </a:stretch>
        </p:blipFill>
        <p:spPr>
          <a:xfrm>
            <a:off x="8800186" y="5005426"/>
            <a:ext cx="321869" cy="321869"/>
          </a:xfrm>
          <a:prstGeom prst="rect">
            <a:avLst/>
          </a:prstGeom>
        </p:spPr>
      </p:pic>
      <p:sp>
        <p:nvSpPr>
          <p:cNvPr id="18" name="Text 11"/>
          <p:cNvSpPr txBox="1"/>
          <p:nvPr/>
        </p:nvSpPr>
        <p:spPr>
          <a:xfrm>
            <a:off x="9509760" y="4526280"/>
            <a:ext cx="2011680" cy="1280160"/>
          </a:xfrm>
          <a:prstGeom prst="rect">
            <a:avLst/>
          </a:prstGeom>
          <a:noFill/>
          <a:ln/>
        </p:spPr>
        <p:txBody>
          <a:bodyPr wrap="square" lIns="635" tIns="635" rIns="635" bIns="635" rtlCol="0" anchor="ctr"/>
          <a:lstStyle/>
          <a:p>
            <a:pPr indent="0" marL="0">
              <a:buNone/>
            </a:pPr>
            <a:r>
              <a:rPr lang="en-US" sz="2600" b="1" dirty="0">
                <a:solidFill>
                  <a:srgbClr val="FFFFFF"/>
                </a:solidFill>
                <a:latin typeface="Arial" pitchFamily="34" charset="0"/>
                <a:ea typeface="Arial" pitchFamily="34" charset="-122"/>
                <a:cs typeface="Arial" pitchFamily="34" charset="-120"/>
              </a:rPr>
              <a:t>Highlight</a:t>
            </a:r>
            <a:endParaRPr lang="en-US" sz="2600" dirty="0"/>
          </a:p>
        </p:txBody>
      </p:sp>
      <p:sp>
        <p:nvSpPr>
          <p:cNvPr id="19" name="Text 12"/>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8 bullets → 3 numbers and one ask</a:t>
            </a:r>
            <a:endParaRPr lang="en-US" sz="3200" dirty="0"/>
          </a:p>
        </p:txBody>
      </p:sp>
      <p:sp>
        <p:nvSpPr>
          <p:cNvPr id="4" name="Text 1"/>
          <p:cNvSpPr txBox="1"/>
          <p:nvPr/>
        </p:nvSpPr>
        <p:spPr>
          <a:xfrm>
            <a:off x="548640" y="1508760"/>
            <a:ext cx="1188720" cy="329184"/>
          </a:xfrm>
          <a:prstGeom prst="roundRect">
            <a:avLst>
              <a:gd name="adj" fmla="val 50000"/>
            </a:avLst>
          </a:prstGeom>
          <a:solidFill>
            <a:srgbClr val="6B6B6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5" name="Shape 2"/>
          <p:cNvSpPr/>
          <p:nvPr/>
        </p:nvSpPr>
        <p:spPr>
          <a:xfrm>
            <a:off x="548640" y="1920240"/>
            <a:ext cx="4206240" cy="3931920"/>
          </a:xfrm>
          <a:prstGeom prst="roundRect">
            <a:avLst>
              <a:gd name="adj" fmla="val 2326"/>
            </a:avLst>
          </a:prstGeom>
          <a:solidFill>
            <a:srgbClr val="F4F4F4"/>
          </a:solidFill>
          <a:ln w="12700">
            <a:solidFill>
              <a:srgbClr val="F4F4F4"/>
            </a:solidFill>
            <a:prstDash val="solid"/>
          </a:ln>
        </p:spPr>
      </p:sp>
      <p:sp>
        <p:nvSpPr>
          <p:cNvPr id="6" name="Text 3"/>
          <p:cNvSpPr txBox="1"/>
          <p:nvPr/>
        </p:nvSpPr>
        <p:spPr>
          <a:xfrm>
            <a:off x="731520" y="2057400"/>
            <a:ext cx="3840480" cy="3657600"/>
          </a:xfrm>
          <a:prstGeom prst="rect">
            <a:avLst/>
          </a:prstGeom>
          <a:noFill/>
          <a:ln/>
        </p:spPr>
        <p:txBody>
          <a:bodyPr wrap="square" lIns="635" tIns="635" rIns="635" bIns="635" rtlCol="0" anchor="t"/>
          <a:lstStyle/>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Background: team explored reminder features since Q3</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Several vendors evaluated, 2 shortlisted</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Pilot ran 8 weeks with ~20k customers</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On-time payment improved vs control (approx. 3.5 pts)</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Some complaints about notifications in week 2</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Build cost around IDR 1.2 bn incl. QA</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Potential collection saving est. IDR 4 bn/yr</a:t>
            </a:r>
            <a:endParaRPr lang="en-US" sz="1200" dirty="0"/>
          </a:p>
          <a:p>
            <a:pPr marL="342900" indent="-342900">
              <a:buSzPct val="100000"/>
              <a:buChar char="•"/>
            </a:pPr>
            <a:r>
              <a:rPr lang="en-US" sz="1200" dirty="0">
                <a:solidFill>
                  <a:srgbClr val="777777"/>
                </a:solidFill>
                <a:latin typeface="Calibri" pitchFamily="34" charset="0"/>
                <a:ea typeface="Calibri" pitchFamily="34" charset="-122"/>
                <a:cs typeface="Calibri" pitchFamily="34" charset="-120"/>
              </a:rPr>
              <a:t>Next steps: align with IT, legal; timeline TBD</a:t>
            </a:r>
            <a:endParaRPr lang="en-US" sz="1200" dirty="0"/>
          </a:p>
        </p:txBody>
      </p:sp>
      <p:sp>
        <p:nvSpPr>
          <p:cNvPr id="7" name="Text 4"/>
          <p:cNvSpPr txBox="1"/>
          <p:nvPr/>
        </p:nvSpPr>
        <p:spPr>
          <a:xfrm>
            <a:off x="5120640" y="1508760"/>
            <a:ext cx="118872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p>
        </p:txBody>
      </p:sp>
      <p:sp>
        <p:nvSpPr>
          <p:cNvPr id="8" name="Shape 5"/>
          <p:cNvSpPr/>
          <p:nvPr/>
        </p:nvSpPr>
        <p:spPr>
          <a:xfrm>
            <a:off x="5120640" y="1920240"/>
            <a:ext cx="6537960" cy="3931920"/>
          </a:xfrm>
          <a:prstGeom prst="roundRect">
            <a:avLst>
              <a:gd name="adj" fmla="val 2326"/>
            </a:avLst>
          </a:prstGeom>
          <a:solidFill>
            <a:srgbClr val="FFFFFF"/>
          </a:solidFill>
          <a:ln w="19050">
            <a:solidFill>
              <a:srgbClr val="E3001B"/>
            </a:solidFill>
            <a:prstDash val="solid"/>
          </a:ln>
          <a:effectLst>
            <a:outerShdw sx="100000" sy="100000" kx="0" ky="0" algn="bl" rotWithShape="0" blurRad="76200" dist="25400" dir="5400000">
              <a:srgbClr val="000000">
                <a:alpha val="15000"/>
              </a:srgbClr>
            </a:outerShdw>
          </a:effectLst>
        </p:spPr>
      </p:sp>
      <p:sp>
        <p:nvSpPr>
          <p:cNvPr id="9" name="Text 6"/>
          <p:cNvSpPr txBox="1"/>
          <p:nvPr/>
        </p:nvSpPr>
        <p:spPr>
          <a:xfrm>
            <a:off x="5349240" y="2011680"/>
            <a:ext cx="6126480" cy="822960"/>
          </a:xfrm>
          <a:prstGeom prst="rect">
            <a:avLst/>
          </a:prstGeom>
          <a:noFill/>
          <a:ln/>
        </p:spPr>
        <p:txBody>
          <a:bodyPr wrap="square" lIns="635" tIns="635" rIns="635" bIns="635"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Approve IDR 1.2 bn for 1-tap reminders: the pilot lifted on-time payment 3.5 pts</a:t>
            </a:r>
            <a:endParaRPr lang="en-US" sz="1800" dirty="0"/>
          </a:p>
        </p:txBody>
      </p:sp>
      <p:sp>
        <p:nvSpPr>
          <p:cNvPr id="10" name="Text 7"/>
          <p:cNvSpPr txBox="1"/>
          <p:nvPr/>
        </p:nvSpPr>
        <p:spPr>
          <a:xfrm>
            <a:off x="5349240" y="2926080"/>
            <a:ext cx="1965960" cy="1005840"/>
          </a:xfrm>
          <a:prstGeom prst="rect">
            <a:avLst/>
          </a:prstGeom>
          <a:noFill/>
          <a:ln/>
        </p:spPr>
        <p:txBody>
          <a:bodyPr wrap="square" lIns="635" tIns="635" rIns="635" bIns="635" rtlCol="0" anchor="ctr"/>
          <a:lstStyle/>
          <a:p>
            <a:pPr algn="ctr" indent="0" marL="0">
              <a:buNone/>
            </a:pPr>
            <a:r>
              <a:rPr lang="en-US" sz="4400" b="1" dirty="0">
                <a:solidFill>
                  <a:srgbClr val="E3001B"/>
                </a:solidFill>
                <a:latin typeface="Arial" pitchFamily="34" charset="0"/>
                <a:ea typeface="Arial" pitchFamily="34" charset="-122"/>
                <a:cs typeface="Arial" pitchFamily="34" charset="-120"/>
              </a:rPr>
              <a:t>+3.5</a:t>
            </a:r>
            <a:endParaRPr lang="en-US" sz="4400" dirty="0"/>
          </a:p>
        </p:txBody>
      </p:sp>
      <p:sp>
        <p:nvSpPr>
          <p:cNvPr id="11" name="Text 8"/>
          <p:cNvSpPr txBox="1"/>
          <p:nvPr/>
        </p:nvSpPr>
        <p:spPr>
          <a:xfrm>
            <a:off x="5349240" y="3931920"/>
            <a:ext cx="1965960" cy="54864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pts on-time payment</a:t>
            </a:r>
            <a:endParaRPr lang="en-US" sz="1500" dirty="0"/>
          </a:p>
        </p:txBody>
      </p:sp>
      <p:sp>
        <p:nvSpPr>
          <p:cNvPr id="12" name="Text 9"/>
          <p:cNvSpPr txBox="1"/>
          <p:nvPr/>
        </p:nvSpPr>
        <p:spPr>
          <a:xfrm>
            <a:off x="7406640" y="2926080"/>
            <a:ext cx="1965960" cy="1005840"/>
          </a:xfrm>
          <a:prstGeom prst="rect">
            <a:avLst/>
          </a:prstGeom>
          <a:noFill/>
          <a:ln/>
        </p:spPr>
        <p:txBody>
          <a:bodyPr wrap="square" lIns="635" tIns="635" rIns="635" bIns="635" rtlCol="0" anchor="ctr"/>
          <a:lstStyle/>
          <a:p>
            <a:pPr algn="ctr" indent="0" marL="0">
              <a:buNone/>
            </a:pPr>
            <a:r>
              <a:rPr lang="en-US" sz="4400" b="1" dirty="0">
                <a:solidFill>
                  <a:srgbClr val="E3001B"/>
                </a:solidFill>
                <a:latin typeface="Arial" pitchFamily="34" charset="0"/>
                <a:ea typeface="Arial" pitchFamily="34" charset="-122"/>
                <a:cs typeface="Arial" pitchFamily="34" charset="-120"/>
              </a:rPr>
              <a:t>4.0 bn</a:t>
            </a:r>
            <a:endParaRPr lang="en-US" sz="4400" dirty="0"/>
          </a:p>
        </p:txBody>
      </p:sp>
      <p:sp>
        <p:nvSpPr>
          <p:cNvPr id="13" name="Text 10"/>
          <p:cNvSpPr txBox="1"/>
          <p:nvPr/>
        </p:nvSpPr>
        <p:spPr>
          <a:xfrm>
            <a:off x="7406640" y="3931920"/>
            <a:ext cx="1965960" cy="54864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IDR saved per year</a:t>
            </a:r>
            <a:endParaRPr lang="en-US" sz="1500" dirty="0"/>
          </a:p>
        </p:txBody>
      </p:sp>
      <p:sp>
        <p:nvSpPr>
          <p:cNvPr id="14" name="Text 11"/>
          <p:cNvSpPr txBox="1"/>
          <p:nvPr/>
        </p:nvSpPr>
        <p:spPr>
          <a:xfrm>
            <a:off x="9464040" y="2926080"/>
            <a:ext cx="1965960" cy="1005840"/>
          </a:xfrm>
          <a:prstGeom prst="rect">
            <a:avLst/>
          </a:prstGeom>
          <a:noFill/>
          <a:ln/>
        </p:spPr>
        <p:txBody>
          <a:bodyPr wrap="square" lIns="635" tIns="635" rIns="635" bIns="635" rtlCol="0" anchor="ctr"/>
          <a:lstStyle/>
          <a:p>
            <a:pPr algn="ctr" indent="0" marL="0">
              <a:buNone/>
            </a:pPr>
            <a:r>
              <a:rPr lang="en-US" sz="4400" b="1" dirty="0">
                <a:solidFill>
                  <a:srgbClr val="E3001B"/>
                </a:solidFill>
                <a:latin typeface="Arial" pitchFamily="34" charset="0"/>
                <a:ea typeface="Arial" pitchFamily="34" charset="-122"/>
                <a:cs typeface="Arial" pitchFamily="34" charset="-120"/>
              </a:rPr>
              <a:t>&lt;6</a:t>
            </a:r>
            <a:endParaRPr lang="en-US" sz="4400" dirty="0"/>
          </a:p>
        </p:txBody>
      </p:sp>
      <p:sp>
        <p:nvSpPr>
          <p:cNvPr id="15" name="Text 12"/>
          <p:cNvSpPr txBox="1"/>
          <p:nvPr/>
        </p:nvSpPr>
        <p:spPr>
          <a:xfrm>
            <a:off x="9464040" y="3931920"/>
            <a:ext cx="1965960" cy="54864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months payback</a:t>
            </a:r>
            <a:endParaRPr lang="en-US" sz="1500" dirty="0"/>
          </a:p>
        </p:txBody>
      </p:sp>
      <p:sp>
        <p:nvSpPr>
          <p:cNvPr id="16" name="Shape 13"/>
          <p:cNvSpPr/>
          <p:nvPr/>
        </p:nvSpPr>
        <p:spPr>
          <a:xfrm>
            <a:off x="5349240" y="4754880"/>
            <a:ext cx="6080760" cy="868680"/>
          </a:xfrm>
          <a:prstGeom prst="roundRect">
            <a:avLst>
              <a:gd name="adj" fmla="val 10526"/>
            </a:avLst>
          </a:prstGeom>
          <a:solidFill>
            <a:srgbClr val="FDECEE"/>
          </a:solidFill>
          <a:ln w="12700">
            <a:solidFill>
              <a:srgbClr val="FDECEE"/>
            </a:solidFill>
            <a:prstDash val="solid"/>
          </a:ln>
        </p:spPr>
      </p:sp>
      <p:sp>
        <p:nvSpPr>
          <p:cNvPr id="17" name="Text 14"/>
          <p:cNvSpPr txBox="1"/>
          <p:nvPr/>
        </p:nvSpPr>
        <p:spPr>
          <a:xfrm>
            <a:off x="5532120" y="4754880"/>
            <a:ext cx="5760720" cy="8686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Decision today: </a:t>
            </a:r>
            <a:pPr indent="0" marL="0">
              <a:buNone/>
            </a:pPr>
            <a:r>
              <a:rPr lang="en-US" sz="1700" dirty="0">
                <a:solidFill>
                  <a:srgbClr val="1A1A1A"/>
                </a:solidFill>
                <a:latin typeface="Calibri" pitchFamily="34" charset="0"/>
                <a:ea typeface="Calibri" pitchFamily="34" charset="-122"/>
                <a:cs typeface="Calibri" pitchFamily="34" charset="-120"/>
              </a:rPr>
              <a:t>approve budget and July launch</a:t>
            </a:r>
            <a:endParaRPr lang="en-US" sz="1700" dirty="0"/>
          </a:p>
        </p:txBody>
      </p:sp>
      <p:sp>
        <p:nvSpPr>
          <p:cNvPr id="18" name="Text 15"/>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9E0012"/>
                </a:solidFill>
                <a:latin typeface="Arial" pitchFamily="34" charset="0"/>
                <a:ea typeface="Arial" pitchFamily="34" charset="-122"/>
                <a:cs typeface="Arial" pitchFamily="34" charset="-120"/>
              </a:rPr>
              <a:t>Your turn: make over one slide</a:t>
            </a:r>
            <a:endParaRPr lang="en-US" sz="3200" dirty="0"/>
          </a:p>
        </p:txBody>
      </p:sp>
      <p:sp>
        <p:nvSpPr>
          <p:cNvPr id="4" name="Text 1"/>
          <p:cNvSpPr txBox="1"/>
          <p:nvPr/>
        </p:nvSpPr>
        <p:spPr>
          <a:xfrm>
            <a:off x="548640" y="173736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2"/>
          <p:cNvSpPr txBox="1"/>
          <p:nvPr/>
        </p:nvSpPr>
        <p:spPr>
          <a:xfrm>
            <a:off x="1143000" y="169164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Sticky note → action title</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Take note 2 or 3 from your storyline</a:t>
            </a:r>
            <a:endParaRPr lang="en-US" sz="1500" dirty="0"/>
          </a:p>
        </p:txBody>
      </p:sp>
      <p:sp>
        <p:nvSpPr>
          <p:cNvPr id="6" name="Text 3"/>
          <p:cNvSpPr txBox="1"/>
          <p:nvPr/>
        </p:nvSpPr>
        <p:spPr>
          <a:xfrm>
            <a:off x="548640" y="297180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1143000" y="292608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Pick the chart, then delete, grey, highlight</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Or just one big number</a:t>
            </a:r>
            <a:endParaRPr lang="en-US" sz="1500" dirty="0"/>
          </a:p>
        </p:txBody>
      </p:sp>
      <p:sp>
        <p:nvSpPr>
          <p:cNvPr id="8" name="Text 5"/>
          <p:cNvSpPr txBox="1"/>
          <p:nvPr/>
        </p:nvSpPr>
        <p:spPr>
          <a:xfrm>
            <a:off x="548640" y="420624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9" name="Text 6"/>
          <p:cNvSpPr txBox="1"/>
          <p:nvPr/>
        </p:nvSpPr>
        <p:spPr>
          <a:xfrm>
            <a:off x="1143000" y="4160520"/>
            <a:ext cx="5440680" cy="11887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5-second test</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Another table looks for 5 seconds: what does it say?</a:t>
            </a:r>
            <a:endParaRPr lang="en-US" sz="1500" dirty="0"/>
          </a:p>
        </p:txBody>
      </p:sp>
      <p:sp>
        <p:nvSpPr>
          <p:cNvPr id="10" name="Shape 7"/>
          <p:cNvSpPr/>
          <p:nvPr/>
        </p:nvSpPr>
        <p:spPr>
          <a:xfrm>
            <a:off x="7086600" y="1600200"/>
            <a:ext cx="4572000" cy="3840480"/>
          </a:xfrm>
          <a:prstGeom prst="roundRect">
            <a:avLst>
              <a:gd name="adj" fmla="val 2381"/>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1" name="Shape 8"/>
          <p:cNvSpPr/>
          <p:nvPr/>
        </p:nvSpPr>
        <p:spPr>
          <a:xfrm>
            <a:off x="8915400" y="1828800"/>
            <a:ext cx="914400" cy="914400"/>
          </a:xfrm>
          <a:prstGeom prst="ellipse">
            <a:avLst/>
          </a:prstGeom>
          <a:solidFill>
            <a:srgbClr val="E3001B"/>
          </a:solidFill>
          <a:ln w="12700">
            <a:solidFill>
              <a:srgbClr val="E3001B"/>
            </a:solidFill>
            <a:prstDash val="solid"/>
          </a:ln>
        </p:spPr>
      </p:sp>
      <p:pic>
        <p:nvPicPr>
          <p:cNvPr id="12" name="Image 0" descr="preencoded.png">    </p:cNvPr>
          <p:cNvPicPr>
            <a:picLocks noChangeAspect="1"/>
          </p:cNvPicPr>
          <p:nvPr/>
        </p:nvPicPr>
        <p:blipFill>
          <a:blip r:embed="rId1"/>
          <a:stretch>
            <a:fillRect/>
          </a:stretch>
        </p:blipFill>
        <p:spPr>
          <a:xfrm>
            <a:off x="9171432" y="2084832"/>
            <a:ext cx="402336" cy="402336"/>
          </a:xfrm>
          <a:prstGeom prst="rect">
            <a:avLst/>
          </a:prstGeom>
        </p:spPr>
      </p:pic>
      <p:sp>
        <p:nvSpPr>
          <p:cNvPr id="13" name="Text 9"/>
          <p:cNvSpPr txBox="1"/>
          <p:nvPr/>
        </p:nvSpPr>
        <p:spPr>
          <a:xfrm>
            <a:off x="7086600" y="2834640"/>
            <a:ext cx="4572000" cy="1371600"/>
          </a:xfrm>
          <a:prstGeom prst="rect">
            <a:avLst/>
          </a:prstGeom>
          <a:noFill/>
          <a:ln/>
        </p:spPr>
        <p:txBody>
          <a:bodyPr wrap="square" lIns="635" tIns="635" rIns="635" bIns="635" rtlCol="0" anchor="ctr"/>
          <a:lstStyle/>
          <a:p>
            <a:pPr algn="ctr" indent="0" marL="0">
              <a:buNone/>
            </a:pPr>
            <a:r>
              <a:rPr lang="en-US" sz="9600" b="1" dirty="0">
                <a:solidFill>
                  <a:srgbClr val="E3001B"/>
                </a:solidFill>
                <a:latin typeface="Arial" pitchFamily="34" charset="0"/>
                <a:ea typeface="Arial" pitchFamily="34" charset="-122"/>
                <a:cs typeface="Arial" pitchFamily="34" charset="-120"/>
              </a:rPr>
              <a:t>5</a:t>
            </a:r>
            <a:endParaRPr lang="en-US" sz="9600" dirty="0"/>
          </a:p>
        </p:txBody>
      </p:sp>
      <p:sp>
        <p:nvSpPr>
          <p:cNvPr id="14" name="Text 10"/>
          <p:cNvSpPr txBox="1"/>
          <p:nvPr/>
        </p:nvSpPr>
        <p:spPr>
          <a:xfrm>
            <a:off x="7315200" y="4206240"/>
            <a:ext cx="4114800" cy="731520"/>
          </a:xfrm>
          <a:prstGeom prst="rect">
            <a:avLst/>
          </a:prstGeom>
          <a:noFill/>
          <a:ln/>
        </p:spPr>
        <p:txBody>
          <a:bodyPr wrap="square" lIns="635" tIns="635" rIns="635" bIns="635" rtlCol="0" anchor="t"/>
          <a:lstStyle/>
          <a:p>
            <a:pPr algn="ctr" indent="0" marL="0">
              <a:buNone/>
            </a:pPr>
            <a:r>
              <a:rPr lang="en-US" sz="1800" b="1" dirty="0">
                <a:solidFill>
                  <a:srgbClr val="9E0012"/>
                </a:solidFill>
                <a:latin typeface="Calibri" pitchFamily="34" charset="0"/>
                <a:ea typeface="Calibri" pitchFamily="34" charset="-122"/>
                <a:cs typeface="Calibri" pitchFamily="34" charset="-120"/>
              </a:rPr>
              <a:t>seconds to get it, or it's not done</a:t>
            </a:r>
            <a:endParaRPr lang="en-US" sz="1800" dirty="0"/>
          </a:p>
        </p:txBody>
      </p:sp>
      <p:pic>
        <p:nvPicPr>
          <p:cNvPr id="15" name="Image 1" descr="preencoded.png">    </p:cNvPr>
          <p:cNvPicPr>
            <a:picLocks noChangeAspect="1"/>
          </p:cNvPicPr>
          <p:nvPr/>
        </p:nvPicPr>
        <p:blipFill>
          <a:blip r:embed="rId2"/>
          <a:stretch>
            <a:fillRect/>
          </a:stretch>
        </p:blipFill>
        <p:spPr>
          <a:xfrm>
            <a:off x="548640" y="5623560"/>
            <a:ext cx="457200" cy="457200"/>
          </a:xfrm>
          <a:prstGeom prst="rect">
            <a:avLst/>
          </a:prstGeom>
        </p:spPr>
      </p:pic>
      <p:sp>
        <p:nvSpPr>
          <p:cNvPr id="16" name="Text 11"/>
          <p:cNvSpPr txBox="1"/>
          <p:nvPr/>
        </p:nvSpPr>
        <p:spPr>
          <a:xfrm>
            <a:off x="1097280" y="5577840"/>
            <a:ext cx="2377440" cy="548640"/>
          </a:xfrm>
          <a:prstGeom prst="rect">
            <a:avLst/>
          </a:prstGeom>
          <a:noFill/>
          <a:ln/>
        </p:spPr>
        <p:txBody>
          <a:bodyPr wrap="square" lIns="635" tIns="635" rIns="635" bIns="635" rtlCol="0" anchor="ctr"/>
          <a:lstStyle/>
          <a:p>
            <a:pPr indent="0" marL="0">
              <a:buNone/>
            </a:pPr>
            <a:r>
              <a:rPr lang="en-US" sz="2600" b="1" dirty="0">
                <a:solidFill>
                  <a:srgbClr val="E3001B"/>
                </a:solidFill>
                <a:latin typeface="Arial" pitchFamily="34" charset="0"/>
                <a:ea typeface="Arial" pitchFamily="34" charset="-122"/>
                <a:cs typeface="Arial" pitchFamily="34" charset="-120"/>
              </a:rPr>
              <a:t>10:00</a:t>
            </a:r>
            <a:endParaRPr lang="en-US" sz="2600" dirty="0"/>
          </a:p>
        </p:txBody>
      </p:sp>
      <p:sp>
        <p:nvSpPr>
          <p:cNvPr id="17" name="Text 12"/>
          <p:cNvSpPr txBox="1"/>
          <p:nvPr/>
        </p:nvSpPr>
        <p:spPr>
          <a:xfrm>
            <a:off x="2926080" y="5669280"/>
            <a:ext cx="182880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Groups of 3–4</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speaker answering a question from executives across a table, Asia">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371600"/>
            <a:ext cx="5029200" cy="548640"/>
          </a:xfrm>
          <a:prstGeom prst="rect">
            <a:avLst/>
          </a:prstGeom>
          <a:noFill/>
          <a:ln/>
        </p:spPr>
        <p:txBody>
          <a:bodyPr wrap="square" lIns="635" tIns="635" rIns="635" bIns="635" rtlCol="0" anchor="ctr"/>
          <a:lstStyle/>
          <a:p>
            <a:pPr indent="0" marL="0">
              <a:buNone/>
            </a:pPr>
            <a:r>
              <a:rPr lang="en-US" sz="2000" b="1" spc="400" kern="0" dirty="0">
                <a:solidFill>
                  <a:srgbClr val="FFD6DA"/>
                </a:solidFill>
                <a:latin typeface="Calibri" pitchFamily="34" charset="0"/>
                <a:ea typeface="Calibri" pitchFamily="34" charset="-122"/>
                <a:cs typeface="Calibri" pitchFamily="34" charset="-120"/>
              </a:rPr>
              <a:t>MOVE 4</a:t>
            </a:r>
            <a:endParaRPr lang="en-US" sz="2000" dirty="0"/>
          </a:p>
        </p:txBody>
      </p:sp>
      <p:sp>
        <p:nvSpPr>
          <p:cNvPr id="6" name="Text 3"/>
          <p:cNvSpPr txBox="1"/>
          <p:nvPr/>
        </p:nvSpPr>
        <p:spPr>
          <a:xfrm>
            <a:off x="6735928" y="1920240"/>
            <a:ext cx="5120640" cy="2011680"/>
          </a:xfrm>
          <a:prstGeom prst="rect">
            <a:avLst/>
          </a:prstGeom>
          <a:noFill/>
          <a:ln/>
        </p:spPr>
        <p:txBody>
          <a:bodyPr wrap="square" lIns="635" tIns="635" rIns="635" bIns="635" rtlCol="0" anchor="t"/>
          <a:lstStyle/>
          <a:p>
            <a:pPr indent="0" marL="0">
              <a:buNone/>
            </a:pPr>
            <a:r>
              <a:rPr lang="en-US" sz="5400" b="1" dirty="0">
                <a:solidFill>
                  <a:srgbClr val="FFFFFF"/>
                </a:solidFill>
                <a:latin typeface="Arial" pitchFamily="34" charset="0"/>
                <a:ea typeface="Arial" pitchFamily="34" charset="-122"/>
                <a:cs typeface="Arial" pitchFamily="34" charset="-120"/>
              </a:rPr>
              <a:t>Own the room</a:t>
            </a:r>
            <a:endParaRPr lang="en-US" sz="5400" dirty="0"/>
          </a:p>
        </p:txBody>
      </p:sp>
      <p:sp>
        <p:nvSpPr>
          <p:cNvPr id="7" name="Text 4"/>
          <p:cNvSpPr txBox="1"/>
          <p:nvPr/>
        </p:nvSpPr>
        <p:spPr>
          <a:xfrm>
            <a:off x="6735928" y="4206240"/>
            <a:ext cx="5120640" cy="1280160"/>
          </a:xfrm>
          <a:prstGeom prst="rect">
            <a:avLst/>
          </a:prstGeom>
          <a:noFill/>
          <a:ln/>
        </p:spPr>
        <p:txBody>
          <a:bodyPr wrap="square" lIns="635" tIns="635" rIns="635" bIns="635" rtlCol="0" anchor="t"/>
          <a:lstStyle/>
          <a:p>
            <a:pPr indent="0" marL="0">
              <a:buNone/>
            </a:pPr>
            <a:r>
              <a:rPr lang="en-US" sz="2200" i="1" dirty="0">
                <a:solidFill>
                  <a:srgbClr val="FFFFFF"/>
                </a:solidFill>
                <a:latin typeface="Calibri" pitchFamily="34" charset="0"/>
                <a:ea typeface="Calibri" pitchFamily="34" charset="-122"/>
                <a:cs typeface="Calibri" pitchFamily="34" charset="-120"/>
              </a:rPr>
              <a:t>Great slides still fail if you rush and dodge.</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Pause. Look. Land the number.</a:t>
            </a:r>
            <a:endParaRPr lang="en-US" sz="3200" dirty="0"/>
          </a:p>
        </p:txBody>
      </p:sp>
      <p:sp>
        <p:nvSpPr>
          <p:cNvPr id="4" name="Shape 1"/>
          <p:cNvSpPr/>
          <p:nvPr/>
        </p:nvSpPr>
        <p:spPr>
          <a:xfrm>
            <a:off x="1737360" y="1645920"/>
            <a:ext cx="1097280" cy="1097280"/>
          </a:xfrm>
          <a:prstGeom prst="ellipse">
            <a:avLst/>
          </a:prstGeom>
          <a:solidFill>
            <a:srgbClr val="9E0012"/>
          </a:solidFill>
          <a:ln w="12700">
            <a:solidFill>
              <a:srgbClr val="9E0012"/>
            </a:solidFill>
            <a:prstDash val="solid"/>
          </a:ln>
        </p:spPr>
      </p:sp>
      <p:pic>
        <p:nvPicPr>
          <p:cNvPr id="5" name="Image 0" descr="preencoded.png">    </p:cNvPr>
          <p:cNvPicPr>
            <a:picLocks noChangeAspect="1"/>
          </p:cNvPicPr>
          <p:nvPr/>
        </p:nvPicPr>
        <p:blipFill>
          <a:blip r:embed="rId1"/>
          <a:stretch>
            <a:fillRect/>
          </a:stretch>
        </p:blipFill>
        <p:spPr>
          <a:xfrm>
            <a:off x="2044598" y="1953158"/>
            <a:ext cx="482803" cy="482803"/>
          </a:xfrm>
          <a:prstGeom prst="rect">
            <a:avLst/>
          </a:prstGeom>
        </p:spPr>
      </p:pic>
      <p:sp>
        <p:nvSpPr>
          <p:cNvPr id="6" name="Text 2"/>
          <p:cNvSpPr txBox="1"/>
          <p:nvPr/>
        </p:nvSpPr>
        <p:spPr>
          <a:xfrm>
            <a:off x="548640" y="2880360"/>
            <a:ext cx="3566160" cy="1005840"/>
          </a:xfrm>
          <a:prstGeom prst="rect">
            <a:avLst/>
          </a:prstGeom>
          <a:noFill/>
          <a:ln/>
        </p:spPr>
        <p:txBody>
          <a:bodyPr wrap="square" lIns="635" tIns="635" rIns="635" bIns="635" rtlCol="0" anchor="ctr"/>
          <a:lstStyle/>
          <a:p>
            <a:pPr algn="ctr" indent="0" marL="0">
              <a:buNone/>
            </a:pPr>
            <a:r>
              <a:rPr lang="en-US" sz="4800" b="1" dirty="0">
                <a:solidFill>
                  <a:srgbClr val="1A1A1A"/>
                </a:solidFill>
                <a:latin typeface="Arial" pitchFamily="34" charset="0"/>
                <a:ea typeface="Arial" pitchFamily="34" charset="-122"/>
                <a:cs typeface="Arial" pitchFamily="34" charset="-120"/>
              </a:rPr>
              <a:t>Pause.</a:t>
            </a:r>
            <a:endParaRPr lang="en-US" sz="4800" dirty="0"/>
          </a:p>
        </p:txBody>
      </p:sp>
      <p:sp>
        <p:nvSpPr>
          <p:cNvPr id="7" name="Text 3"/>
          <p:cNvSpPr txBox="1"/>
          <p:nvPr/>
        </p:nvSpPr>
        <p:spPr>
          <a:xfrm>
            <a:off x="822960" y="3931920"/>
            <a:ext cx="3017520" cy="914400"/>
          </a:xfrm>
          <a:prstGeom prst="rect">
            <a:avLst/>
          </a:prstGeom>
          <a:noFill/>
          <a:ln/>
        </p:spPr>
        <p:txBody>
          <a:bodyPr wrap="square" lIns="635" tIns="635" rIns="635" bIns="635" rtlCol="0" anchor="t"/>
          <a:lstStyle/>
          <a:p>
            <a:pPr algn="ctr" indent="0" marL="0">
              <a:buNone/>
            </a:pPr>
            <a:r>
              <a:rPr lang="en-US" sz="1700" dirty="0">
                <a:solidFill>
                  <a:srgbClr val="6B6B6B"/>
                </a:solidFill>
                <a:latin typeface="Calibri" pitchFamily="34" charset="0"/>
                <a:ea typeface="Calibri" pitchFamily="34" charset="-122"/>
                <a:cs typeface="Calibri" pitchFamily="34" charset="-120"/>
              </a:rPr>
              <a:t>Two seconds before and after your key number</a:t>
            </a:r>
            <a:endParaRPr lang="en-US" sz="1700" dirty="0"/>
          </a:p>
        </p:txBody>
      </p:sp>
      <p:sp>
        <p:nvSpPr>
          <p:cNvPr id="8" name="Shape 4"/>
          <p:cNvSpPr/>
          <p:nvPr/>
        </p:nvSpPr>
        <p:spPr>
          <a:xfrm>
            <a:off x="5486400" y="1645920"/>
            <a:ext cx="1097280" cy="1097280"/>
          </a:xfrm>
          <a:prstGeom prst="ellipse">
            <a:avLst/>
          </a:prstGeom>
          <a:solidFill>
            <a:srgbClr val="9E0012"/>
          </a:solidFill>
          <a:ln w="12700">
            <a:solidFill>
              <a:srgbClr val="9E0012"/>
            </a:solidFill>
            <a:prstDash val="solid"/>
          </a:ln>
        </p:spPr>
      </p:sp>
      <p:pic>
        <p:nvPicPr>
          <p:cNvPr id="9" name="Image 1" descr="preencoded.png">    </p:cNvPr>
          <p:cNvPicPr>
            <a:picLocks noChangeAspect="1"/>
          </p:cNvPicPr>
          <p:nvPr/>
        </p:nvPicPr>
        <p:blipFill>
          <a:blip r:embed="rId2"/>
          <a:stretch>
            <a:fillRect/>
          </a:stretch>
        </p:blipFill>
        <p:spPr>
          <a:xfrm>
            <a:off x="5793638" y="1953158"/>
            <a:ext cx="482803" cy="482803"/>
          </a:xfrm>
          <a:prstGeom prst="rect">
            <a:avLst/>
          </a:prstGeom>
        </p:spPr>
      </p:pic>
      <p:sp>
        <p:nvSpPr>
          <p:cNvPr id="10" name="Text 5"/>
          <p:cNvSpPr txBox="1"/>
          <p:nvPr/>
        </p:nvSpPr>
        <p:spPr>
          <a:xfrm>
            <a:off x="4297680" y="2880360"/>
            <a:ext cx="3566160" cy="1005840"/>
          </a:xfrm>
          <a:prstGeom prst="rect">
            <a:avLst/>
          </a:prstGeom>
          <a:noFill/>
          <a:ln/>
        </p:spPr>
        <p:txBody>
          <a:bodyPr wrap="square" lIns="635" tIns="635" rIns="635" bIns="635" rtlCol="0" anchor="ctr"/>
          <a:lstStyle/>
          <a:p>
            <a:pPr algn="ctr" indent="0" marL="0">
              <a:buNone/>
            </a:pPr>
            <a:r>
              <a:rPr lang="en-US" sz="4800" b="1" dirty="0">
                <a:solidFill>
                  <a:srgbClr val="1A1A1A"/>
                </a:solidFill>
                <a:latin typeface="Arial" pitchFamily="34" charset="0"/>
                <a:ea typeface="Arial" pitchFamily="34" charset="-122"/>
                <a:cs typeface="Arial" pitchFamily="34" charset="-120"/>
              </a:rPr>
              <a:t>Look.</a:t>
            </a:r>
            <a:endParaRPr lang="en-US" sz="4800" dirty="0"/>
          </a:p>
        </p:txBody>
      </p:sp>
      <p:sp>
        <p:nvSpPr>
          <p:cNvPr id="11" name="Text 6"/>
          <p:cNvSpPr txBox="1"/>
          <p:nvPr/>
        </p:nvSpPr>
        <p:spPr>
          <a:xfrm>
            <a:off x="4572000" y="3931920"/>
            <a:ext cx="3017520" cy="914400"/>
          </a:xfrm>
          <a:prstGeom prst="rect">
            <a:avLst/>
          </a:prstGeom>
          <a:noFill/>
          <a:ln/>
        </p:spPr>
        <p:txBody>
          <a:bodyPr wrap="square" lIns="635" tIns="635" rIns="635" bIns="635" rtlCol="0" anchor="t"/>
          <a:lstStyle/>
          <a:p>
            <a:pPr algn="ctr" indent="0" marL="0">
              <a:buNone/>
            </a:pPr>
            <a:r>
              <a:rPr lang="en-US" sz="1700" dirty="0">
                <a:solidFill>
                  <a:srgbClr val="6B6B6B"/>
                </a:solidFill>
                <a:latin typeface="Calibri" pitchFamily="34" charset="0"/>
                <a:ea typeface="Calibri" pitchFamily="34" charset="-122"/>
                <a:cs typeface="Calibri" pitchFamily="34" charset="-120"/>
              </a:rPr>
              <a:t>One sentence, one person — include the most senior</a:t>
            </a:r>
            <a:endParaRPr lang="en-US" sz="1700" dirty="0"/>
          </a:p>
        </p:txBody>
      </p:sp>
      <p:sp>
        <p:nvSpPr>
          <p:cNvPr id="12" name="Shape 7"/>
          <p:cNvSpPr/>
          <p:nvPr/>
        </p:nvSpPr>
        <p:spPr>
          <a:xfrm>
            <a:off x="9235440" y="1645920"/>
            <a:ext cx="1097280" cy="1097280"/>
          </a:xfrm>
          <a:prstGeom prst="ellipse">
            <a:avLst/>
          </a:prstGeom>
          <a:solidFill>
            <a:srgbClr val="E3001B"/>
          </a:solidFill>
          <a:ln w="12700">
            <a:solidFill>
              <a:srgbClr val="E3001B"/>
            </a:solidFill>
            <a:prstDash val="solid"/>
          </a:ln>
        </p:spPr>
      </p:sp>
      <p:pic>
        <p:nvPicPr>
          <p:cNvPr id="13" name="Image 2" descr="preencoded.png">    </p:cNvPr>
          <p:cNvPicPr>
            <a:picLocks noChangeAspect="1"/>
          </p:cNvPicPr>
          <p:nvPr/>
        </p:nvPicPr>
        <p:blipFill>
          <a:blip r:embed="rId3"/>
          <a:stretch>
            <a:fillRect/>
          </a:stretch>
        </p:blipFill>
        <p:spPr>
          <a:xfrm>
            <a:off x="9542678" y="1953158"/>
            <a:ext cx="482803" cy="482803"/>
          </a:xfrm>
          <a:prstGeom prst="rect">
            <a:avLst/>
          </a:prstGeom>
        </p:spPr>
      </p:pic>
      <p:sp>
        <p:nvSpPr>
          <p:cNvPr id="14" name="Text 8"/>
          <p:cNvSpPr txBox="1"/>
          <p:nvPr/>
        </p:nvSpPr>
        <p:spPr>
          <a:xfrm>
            <a:off x="8046720" y="2880360"/>
            <a:ext cx="3566160" cy="1005840"/>
          </a:xfrm>
          <a:prstGeom prst="rect">
            <a:avLst/>
          </a:prstGeom>
          <a:noFill/>
          <a:ln/>
        </p:spPr>
        <p:txBody>
          <a:bodyPr wrap="square" lIns="635" tIns="635" rIns="635" bIns="635" rtlCol="0" anchor="ctr"/>
          <a:lstStyle/>
          <a:p>
            <a:pPr algn="ctr" indent="0" marL="0">
              <a:buNone/>
            </a:pPr>
            <a:r>
              <a:rPr lang="en-US" sz="4800" b="1" dirty="0">
                <a:solidFill>
                  <a:srgbClr val="E3001B"/>
                </a:solidFill>
                <a:latin typeface="Arial" pitchFamily="34" charset="0"/>
                <a:ea typeface="Arial" pitchFamily="34" charset="-122"/>
                <a:cs typeface="Arial" pitchFamily="34" charset="-120"/>
              </a:rPr>
              <a:t>Land.</a:t>
            </a:r>
            <a:endParaRPr lang="en-US" sz="4800" dirty="0"/>
          </a:p>
        </p:txBody>
      </p:sp>
      <p:sp>
        <p:nvSpPr>
          <p:cNvPr id="15" name="Text 9"/>
          <p:cNvSpPr txBox="1"/>
          <p:nvPr/>
        </p:nvSpPr>
        <p:spPr>
          <a:xfrm>
            <a:off x="8321040" y="3931920"/>
            <a:ext cx="3017520" cy="914400"/>
          </a:xfrm>
          <a:prstGeom prst="rect">
            <a:avLst/>
          </a:prstGeom>
          <a:noFill/>
          <a:ln/>
        </p:spPr>
        <p:txBody>
          <a:bodyPr wrap="square" lIns="635" tIns="635" rIns="635" bIns="635" rtlCol="0" anchor="t"/>
          <a:lstStyle/>
          <a:p>
            <a:pPr algn="ctr" indent="0" marL="0">
              <a:buNone/>
            </a:pPr>
            <a:r>
              <a:rPr lang="en-US" sz="1700" dirty="0">
                <a:solidFill>
                  <a:srgbClr val="6B6B6B"/>
                </a:solidFill>
                <a:latin typeface="Calibri" pitchFamily="34" charset="0"/>
                <a:ea typeface="Calibri" pitchFamily="34" charset="-122"/>
                <a:cs typeface="Calibri" pitchFamily="34" charset="-120"/>
              </a:rPr>
              <a:t>Say the number, then what it means for them</a:t>
            </a:r>
            <a:endParaRPr lang="en-US" sz="1700" dirty="0"/>
          </a:p>
        </p:txBody>
      </p:sp>
      <p:sp>
        <p:nvSpPr>
          <p:cNvPr id="16" name="Shape 10"/>
          <p:cNvSpPr/>
          <p:nvPr/>
        </p:nvSpPr>
        <p:spPr>
          <a:xfrm>
            <a:off x="548640" y="5166360"/>
            <a:ext cx="11064240" cy="685800"/>
          </a:xfrm>
          <a:prstGeom prst="roundRect">
            <a:avLst>
              <a:gd name="adj" fmla="val 13333"/>
            </a:avLst>
          </a:prstGeom>
          <a:solidFill>
            <a:srgbClr val="FDECEE"/>
          </a:solidFill>
          <a:ln w="12700">
            <a:solidFill>
              <a:srgbClr val="FDECEE"/>
            </a:solidFill>
            <a:prstDash val="solid"/>
          </a:ln>
        </p:spPr>
      </p:sp>
      <p:sp>
        <p:nvSpPr>
          <p:cNvPr id="17" name="Text 11"/>
          <p:cNvSpPr txBox="1"/>
          <p:nvPr/>
        </p:nvSpPr>
        <p:spPr>
          <a:xfrm>
            <a:off x="777240" y="5166360"/>
            <a:ext cx="10607040" cy="68580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Rehearse out loud 3×. </a:t>
            </a:r>
            <a:pPr indent="0" marL="0">
              <a:buNone/>
            </a:pPr>
            <a:r>
              <a:rPr lang="en-US" sz="1700" dirty="0">
                <a:solidFill>
                  <a:srgbClr val="1A1A1A"/>
                </a:solidFill>
                <a:latin typeface="Calibri" pitchFamily="34" charset="0"/>
                <a:ea typeface="Calibri" pitchFamily="34" charset="-122"/>
                <a:cs typeface="Calibri" pitchFamily="34" charset="-120"/>
              </a:rPr>
              <a:t>Your first run should never be in front of the Director.</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Tough question? Acknowledge, answer, bridge</a:t>
            </a:r>
            <a:endParaRPr lang="en-US" sz="3200" dirty="0"/>
          </a:p>
        </p:txBody>
      </p:sp>
      <p:sp>
        <p:nvSpPr>
          <p:cNvPr id="4" name="Shape 1"/>
          <p:cNvSpPr/>
          <p:nvPr/>
        </p:nvSpPr>
        <p:spPr>
          <a:xfrm>
            <a:off x="548640" y="1554480"/>
            <a:ext cx="11064240" cy="914400"/>
          </a:xfrm>
          <a:prstGeom prst="roundRect">
            <a:avLst>
              <a:gd name="adj" fmla="val 10000"/>
            </a:avLst>
          </a:prstGeom>
          <a:solidFill>
            <a:srgbClr val="9E0012"/>
          </a:solidFill>
          <a:ln w="12700">
            <a:solidFill>
              <a:srgbClr val="9E0012"/>
            </a:solidFill>
            <a:prstDash val="solid"/>
          </a:ln>
        </p:spPr>
      </p:sp>
      <p:sp>
        <p:nvSpPr>
          <p:cNvPr id="5" name="Text 2"/>
          <p:cNvSpPr txBox="1"/>
          <p:nvPr/>
        </p:nvSpPr>
        <p:spPr>
          <a:xfrm>
            <a:off x="822960" y="1554480"/>
            <a:ext cx="10515600" cy="914400"/>
          </a:xfrm>
          <a:prstGeom prst="rect">
            <a:avLst/>
          </a:prstGeom>
          <a:noFill/>
          <a:ln/>
        </p:spPr>
        <p:txBody>
          <a:bodyPr wrap="square" lIns="635" tIns="635" rIns="635" bIns="635" rtlCol="0" anchor="ctr"/>
          <a:lstStyle/>
          <a:p>
            <a:pPr indent="0" marL="0">
              <a:buNone/>
            </a:pPr>
            <a:r>
              <a:rPr lang="en-US" sz="2400" b="1" dirty="0">
                <a:solidFill>
                  <a:srgbClr val="FFB3BB"/>
                </a:solidFill>
                <a:latin typeface="Calibri" pitchFamily="34" charset="0"/>
                <a:ea typeface="Calibri" pitchFamily="34" charset="-122"/>
                <a:cs typeface="Calibri" pitchFamily="34" charset="-120"/>
              </a:rPr>
              <a:t>Director:  </a:t>
            </a:r>
            <a:pPr indent="0" marL="0">
              <a:buNone/>
            </a:pPr>
            <a:r>
              <a:rPr lang="en-US" sz="2400" i="1" dirty="0">
                <a:solidFill>
                  <a:srgbClr val="FFFFFF"/>
                </a:solidFill>
                <a:latin typeface="Calibri" pitchFamily="34" charset="0"/>
                <a:ea typeface="Calibri" pitchFamily="34" charset="-122"/>
                <a:cs typeface="Calibri" pitchFamily="34" charset="-120"/>
              </a:rPr>
              <a:t>“Why didn't your team catch this in March?”</a:t>
            </a:r>
            <a:endParaRPr lang="en-US" sz="2400" dirty="0"/>
          </a:p>
        </p:txBody>
      </p:sp>
      <p:sp>
        <p:nvSpPr>
          <p:cNvPr id="6" name="Text 3"/>
          <p:cNvSpPr txBox="1"/>
          <p:nvPr/>
        </p:nvSpPr>
        <p:spPr>
          <a:xfrm>
            <a:off x="548640" y="2743200"/>
            <a:ext cx="3611880" cy="731520"/>
          </a:xfrm>
          <a:prstGeom prst="chevron">
            <a:avLst/>
          </a:prstGeom>
          <a:solidFill>
            <a:srgbClr val="E3001B"/>
          </a:solid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Acknowledge</a:t>
            </a:r>
            <a:endParaRPr lang="en-US" sz="2000" dirty="0"/>
          </a:p>
        </p:txBody>
      </p:sp>
      <p:sp>
        <p:nvSpPr>
          <p:cNvPr id="7" name="Shape 4"/>
          <p:cNvSpPr/>
          <p:nvPr/>
        </p:nvSpPr>
        <p:spPr>
          <a:xfrm>
            <a:off x="548640" y="3657600"/>
            <a:ext cx="3474720" cy="1600200"/>
          </a:xfrm>
          <a:prstGeom prst="roundRect">
            <a:avLst>
              <a:gd name="adj" fmla="val 5714"/>
            </a:avLst>
          </a:prstGeom>
          <a:solidFill>
            <a:srgbClr val="F4F4F4"/>
          </a:solidFill>
          <a:ln w="12700">
            <a:solidFill>
              <a:srgbClr val="F4F4F4"/>
            </a:solidFill>
            <a:prstDash val="solid"/>
          </a:ln>
        </p:spPr>
      </p:sp>
      <p:sp>
        <p:nvSpPr>
          <p:cNvPr id="8" name="Text 5"/>
          <p:cNvSpPr txBox="1"/>
          <p:nvPr/>
        </p:nvSpPr>
        <p:spPr>
          <a:xfrm>
            <a:off x="731520" y="3703320"/>
            <a:ext cx="3108960" cy="1508760"/>
          </a:xfrm>
          <a:prstGeom prst="rect">
            <a:avLst/>
          </a:prstGeom>
          <a:noFill/>
          <a:ln/>
        </p:spPr>
        <p:txBody>
          <a:bodyPr wrap="square" lIns="635" tIns="635" rIns="635" bIns="635" rtlCol="0" anchor="ctr"/>
          <a:lstStyle/>
          <a:p>
            <a:pPr indent="0" marL="0">
              <a:buNone/>
            </a:pPr>
            <a:r>
              <a:rPr lang="en-US" sz="1700" i="1" dirty="0">
                <a:solidFill>
                  <a:srgbClr val="1A1A1A"/>
                </a:solidFill>
                <a:latin typeface="Calibri" pitchFamily="34" charset="0"/>
                <a:ea typeface="Calibri" pitchFamily="34" charset="-122"/>
                <a:cs typeface="Calibri" pitchFamily="34" charset="-120"/>
              </a:rPr>
              <a:t>“Fair question. We should have flagged it earlier.”</a:t>
            </a:r>
            <a:endParaRPr lang="en-US" sz="1700" dirty="0"/>
          </a:p>
        </p:txBody>
      </p:sp>
      <p:sp>
        <p:nvSpPr>
          <p:cNvPr id="9" name="Text 6"/>
          <p:cNvSpPr txBox="1"/>
          <p:nvPr/>
        </p:nvSpPr>
        <p:spPr>
          <a:xfrm>
            <a:off x="4297680" y="2743200"/>
            <a:ext cx="3611880" cy="731520"/>
          </a:xfrm>
          <a:prstGeom prst="chevron">
            <a:avLst/>
          </a:prstGeom>
          <a:solidFill>
            <a:srgbClr val="B5101F"/>
          </a:solid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  Answer short</a:t>
            </a:r>
            <a:endParaRPr lang="en-US" sz="2000" dirty="0"/>
          </a:p>
        </p:txBody>
      </p:sp>
      <p:sp>
        <p:nvSpPr>
          <p:cNvPr id="10" name="Shape 7"/>
          <p:cNvSpPr/>
          <p:nvPr/>
        </p:nvSpPr>
        <p:spPr>
          <a:xfrm>
            <a:off x="4297680" y="3657600"/>
            <a:ext cx="3474720" cy="1600200"/>
          </a:xfrm>
          <a:prstGeom prst="roundRect">
            <a:avLst>
              <a:gd name="adj" fmla="val 5714"/>
            </a:avLst>
          </a:prstGeom>
          <a:solidFill>
            <a:srgbClr val="F4F4F4"/>
          </a:solidFill>
          <a:ln w="12700">
            <a:solidFill>
              <a:srgbClr val="F4F4F4"/>
            </a:solidFill>
            <a:prstDash val="solid"/>
          </a:ln>
        </p:spPr>
      </p:sp>
      <p:sp>
        <p:nvSpPr>
          <p:cNvPr id="11" name="Text 8"/>
          <p:cNvSpPr txBox="1"/>
          <p:nvPr/>
        </p:nvSpPr>
        <p:spPr>
          <a:xfrm>
            <a:off x="4480560" y="3703320"/>
            <a:ext cx="3108960" cy="1508760"/>
          </a:xfrm>
          <a:prstGeom prst="rect">
            <a:avLst/>
          </a:prstGeom>
          <a:noFill/>
          <a:ln/>
        </p:spPr>
        <p:txBody>
          <a:bodyPr wrap="square" lIns="635" tIns="635" rIns="635" bIns="635" rtlCol="0" anchor="ctr"/>
          <a:lstStyle/>
          <a:p>
            <a:pPr indent="0" marL="0">
              <a:buNone/>
            </a:pPr>
            <a:r>
              <a:rPr lang="en-US" sz="1700" i="1" dirty="0">
                <a:solidFill>
                  <a:srgbClr val="1A1A1A"/>
                </a:solidFill>
                <a:latin typeface="Calibri" pitchFamily="34" charset="0"/>
                <a:ea typeface="Calibri" pitchFamily="34" charset="-122"/>
                <a:cs typeface="Calibri" pitchFamily="34" charset="-120"/>
              </a:rPr>
              <a:t>“It was hidden in the national average. Region alerts start next month.”</a:t>
            </a:r>
            <a:endParaRPr lang="en-US" sz="1700" dirty="0"/>
          </a:p>
        </p:txBody>
      </p:sp>
      <p:sp>
        <p:nvSpPr>
          <p:cNvPr id="12" name="Text 9"/>
          <p:cNvSpPr txBox="1"/>
          <p:nvPr/>
        </p:nvSpPr>
        <p:spPr>
          <a:xfrm>
            <a:off x="8046720" y="2743200"/>
            <a:ext cx="3611880" cy="731520"/>
          </a:xfrm>
          <a:prstGeom prst="chevron">
            <a:avLst/>
          </a:prstGeom>
          <a:solidFill>
            <a:srgbClr val="9E0012"/>
          </a:solidFill>
          <a:ln/>
        </p:spPr>
        <p:txBody>
          <a:bodyPr wrap="square" lIns="635" tIns="635" rIns="635" bIns="635"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  Bridge back</a:t>
            </a:r>
            <a:endParaRPr lang="en-US" sz="2000" dirty="0"/>
          </a:p>
        </p:txBody>
      </p:sp>
      <p:sp>
        <p:nvSpPr>
          <p:cNvPr id="13" name="Shape 10"/>
          <p:cNvSpPr/>
          <p:nvPr/>
        </p:nvSpPr>
        <p:spPr>
          <a:xfrm>
            <a:off x="8046720" y="3657600"/>
            <a:ext cx="3474720" cy="1600200"/>
          </a:xfrm>
          <a:prstGeom prst="roundRect">
            <a:avLst>
              <a:gd name="adj" fmla="val 5714"/>
            </a:avLst>
          </a:prstGeom>
          <a:solidFill>
            <a:srgbClr val="F4F4F4"/>
          </a:solidFill>
          <a:ln w="12700">
            <a:solidFill>
              <a:srgbClr val="F4F4F4"/>
            </a:solidFill>
            <a:prstDash val="solid"/>
          </a:ln>
        </p:spPr>
      </p:sp>
      <p:sp>
        <p:nvSpPr>
          <p:cNvPr id="14" name="Text 11"/>
          <p:cNvSpPr txBox="1"/>
          <p:nvPr/>
        </p:nvSpPr>
        <p:spPr>
          <a:xfrm>
            <a:off x="8229600" y="3703320"/>
            <a:ext cx="3108960" cy="1508760"/>
          </a:xfrm>
          <a:prstGeom prst="rect">
            <a:avLst/>
          </a:prstGeom>
          <a:noFill/>
          <a:ln/>
        </p:spPr>
        <p:txBody>
          <a:bodyPr wrap="square" lIns="635" tIns="635" rIns="635" bIns="635" rtlCol="0" anchor="ctr"/>
          <a:lstStyle/>
          <a:p>
            <a:pPr indent="0" marL="0">
              <a:buNone/>
            </a:pPr>
            <a:r>
              <a:rPr lang="en-US" sz="1700" i="1" dirty="0">
                <a:solidFill>
                  <a:srgbClr val="1A1A1A"/>
                </a:solidFill>
                <a:latin typeface="Calibri" pitchFamily="34" charset="0"/>
                <a:ea typeface="Calibri" pitchFamily="34" charset="-122"/>
                <a:cs typeface="Calibri" pitchFamily="34" charset="-120"/>
              </a:rPr>
              <a:t>“That's why I'm asking to pause the 12 merchants today.”</a:t>
            </a:r>
            <a:endParaRPr lang="en-US" sz="1700" dirty="0"/>
          </a:p>
        </p:txBody>
      </p:sp>
      <p:sp>
        <p:nvSpPr>
          <p:cNvPr id="15" name="Text 12"/>
          <p:cNvSpPr txBox="1"/>
          <p:nvPr/>
        </p:nvSpPr>
        <p:spPr>
          <a:xfrm>
            <a:off x="548640" y="5532120"/>
            <a:ext cx="109728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Don't know? </a:t>
            </a:r>
            <a:pPr indent="0" marL="0">
              <a:buNone/>
            </a:pPr>
            <a:r>
              <a:rPr lang="en-US" sz="1700" dirty="0">
                <a:solidFill>
                  <a:srgbClr val="1A1A1A"/>
                </a:solidFill>
                <a:latin typeface="Calibri" pitchFamily="34" charset="0"/>
                <a:ea typeface="Calibri" pitchFamily="34" charset="-122"/>
                <a:cs typeface="Calibri" pitchFamily="34" charset="-120"/>
              </a:rPr>
              <a:t>“I'll confirm by 3 pm today.” Then do it.</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9E0012"/>
                </a:solidFill>
                <a:latin typeface="Arial" pitchFamily="34" charset="0"/>
                <a:ea typeface="Arial" pitchFamily="34" charset="-122"/>
                <a:cs typeface="Arial" pitchFamily="34" charset="-120"/>
              </a:rPr>
              <a:t>Hot seat: survive the Director</a:t>
            </a:r>
            <a:endParaRPr lang="en-US" sz="3200" dirty="0"/>
          </a:p>
        </p:txBody>
      </p:sp>
      <p:sp>
        <p:nvSpPr>
          <p:cNvPr id="4" name="Shape 1"/>
          <p:cNvSpPr/>
          <p:nvPr/>
        </p:nvSpPr>
        <p:spPr>
          <a:xfrm>
            <a:off x="548640" y="1600200"/>
            <a:ext cx="3566160"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5" name="Image 0" descr="preencoded.png">    </p:cNvPr>
          <p:cNvPicPr>
            <a:picLocks noChangeAspect="1"/>
          </p:cNvPicPr>
          <p:nvPr/>
        </p:nvPicPr>
        <p:blipFill>
          <a:blip r:embed="rId1"/>
          <a:stretch>
            <a:fillRect/>
          </a:stretch>
        </p:blipFill>
        <p:spPr>
          <a:xfrm>
            <a:off x="731520" y="2057400"/>
            <a:ext cx="502920" cy="502920"/>
          </a:xfrm>
          <a:prstGeom prst="rect">
            <a:avLst/>
          </a:prstGeom>
        </p:spPr>
      </p:pic>
      <p:sp>
        <p:nvSpPr>
          <p:cNvPr id="6" name="Text 2"/>
          <p:cNvSpPr txBox="1"/>
          <p:nvPr/>
        </p:nvSpPr>
        <p:spPr>
          <a:xfrm>
            <a:off x="1371600" y="1600200"/>
            <a:ext cx="2606040" cy="146304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What if we do nothing?</a:t>
            </a:r>
            <a:endParaRPr lang="en-US" sz="1900" dirty="0"/>
          </a:p>
        </p:txBody>
      </p:sp>
      <p:sp>
        <p:nvSpPr>
          <p:cNvPr id="7" name="Shape 3"/>
          <p:cNvSpPr/>
          <p:nvPr/>
        </p:nvSpPr>
        <p:spPr>
          <a:xfrm>
            <a:off x="4297680" y="1600200"/>
            <a:ext cx="3566160"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8" name="Image 1" descr="preencoded.png">    </p:cNvPr>
          <p:cNvPicPr>
            <a:picLocks noChangeAspect="1"/>
          </p:cNvPicPr>
          <p:nvPr/>
        </p:nvPicPr>
        <p:blipFill>
          <a:blip r:embed="rId2"/>
          <a:stretch>
            <a:fillRect/>
          </a:stretch>
        </p:blipFill>
        <p:spPr>
          <a:xfrm>
            <a:off x="4480560" y="2057400"/>
            <a:ext cx="502920" cy="502920"/>
          </a:xfrm>
          <a:prstGeom prst="rect">
            <a:avLst/>
          </a:prstGeom>
        </p:spPr>
      </p:pic>
      <p:sp>
        <p:nvSpPr>
          <p:cNvPr id="9" name="Text 4"/>
          <p:cNvSpPr txBox="1"/>
          <p:nvPr/>
        </p:nvSpPr>
        <p:spPr>
          <a:xfrm>
            <a:off x="5120640" y="1600200"/>
            <a:ext cx="2606040" cy="146304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Why should I believe the pilot?</a:t>
            </a:r>
            <a:endParaRPr lang="en-US" sz="1900" dirty="0"/>
          </a:p>
        </p:txBody>
      </p:sp>
      <p:sp>
        <p:nvSpPr>
          <p:cNvPr id="10" name="Shape 5"/>
          <p:cNvSpPr/>
          <p:nvPr/>
        </p:nvSpPr>
        <p:spPr>
          <a:xfrm>
            <a:off x="8046720" y="1600200"/>
            <a:ext cx="3566160"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11" name="Image 2" descr="preencoded.png">    </p:cNvPr>
          <p:cNvPicPr>
            <a:picLocks noChangeAspect="1"/>
          </p:cNvPicPr>
          <p:nvPr/>
        </p:nvPicPr>
        <p:blipFill>
          <a:blip r:embed="rId3"/>
          <a:stretch>
            <a:fillRect/>
          </a:stretch>
        </p:blipFill>
        <p:spPr>
          <a:xfrm>
            <a:off x="8229600" y="2057400"/>
            <a:ext cx="502920" cy="502920"/>
          </a:xfrm>
          <a:prstGeom prst="rect">
            <a:avLst/>
          </a:prstGeom>
        </p:spPr>
      </p:pic>
      <p:sp>
        <p:nvSpPr>
          <p:cNvPr id="12" name="Text 6"/>
          <p:cNvSpPr txBox="1"/>
          <p:nvPr/>
        </p:nvSpPr>
        <p:spPr>
          <a:xfrm>
            <a:off x="8869680" y="1600200"/>
            <a:ext cx="2606040" cy="146304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What if you're wrong?</a:t>
            </a:r>
            <a:endParaRPr lang="en-US" sz="1900" dirty="0"/>
          </a:p>
        </p:txBody>
      </p:sp>
      <p:sp>
        <p:nvSpPr>
          <p:cNvPr id="13" name="Shape 7"/>
          <p:cNvSpPr/>
          <p:nvPr/>
        </p:nvSpPr>
        <p:spPr>
          <a:xfrm>
            <a:off x="548640" y="3291840"/>
            <a:ext cx="3566160"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14" name="Image 3" descr="preencoded.png">    </p:cNvPr>
          <p:cNvPicPr>
            <a:picLocks noChangeAspect="1"/>
          </p:cNvPicPr>
          <p:nvPr/>
        </p:nvPicPr>
        <p:blipFill>
          <a:blip r:embed="rId4"/>
          <a:stretch>
            <a:fillRect/>
          </a:stretch>
        </p:blipFill>
        <p:spPr>
          <a:xfrm>
            <a:off x="731520" y="3749040"/>
            <a:ext cx="502920" cy="502920"/>
          </a:xfrm>
          <a:prstGeom prst="rect">
            <a:avLst/>
          </a:prstGeom>
        </p:spPr>
      </p:pic>
      <p:sp>
        <p:nvSpPr>
          <p:cNvPr id="15" name="Text 8"/>
          <p:cNvSpPr txBox="1"/>
          <p:nvPr/>
        </p:nvSpPr>
        <p:spPr>
          <a:xfrm>
            <a:off x="1371600" y="3291840"/>
            <a:ext cx="2606040" cy="146304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Who else supports this?</a:t>
            </a:r>
            <a:endParaRPr lang="en-US" sz="1900" dirty="0"/>
          </a:p>
        </p:txBody>
      </p:sp>
      <p:sp>
        <p:nvSpPr>
          <p:cNvPr id="16" name="Shape 9"/>
          <p:cNvSpPr/>
          <p:nvPr/>
        </p:nvSpPr>
        <p:spPr>
          <a:xfrm>
            <a:off x="4297680" y="3291840"/>
            <a:ext cx="3566160"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17" name="Image 4" descr="preencoded.png">    </p:cNvPr>
          <p:cNvPicPr>
            <a:picLocks noChangeAspect="1"/>
          </p:cNvPicPr>
          <p:nvPr/>
        </p:nvPicPr>
        <p:blipFill>
          <a:blip r:embed="rId5"/>
          <a:stretch>
            <a:fillRect/>
          </a:stretch>
        </p:blipFill>
        <p:spPr>
          <a:xfrm>
            <a:off x="4480560" y="3749040"/>
            <a:ext cx="502920" cy="502920"/>
          </a:xfrm>
          <a:prstGeom prst="rect">
            <a:avLst/>
          </a:prstGeom>
        </p:spPr>
      </p:pic>
      <p:sp>
        <p:nvSpPr>
          <p:cNvPr id="18" name="Text 10"/>
          <p:cNvSpPr txBox="1"/>
          <p:nvPr/>
        </p:nvSpPr>
        <p:spPr>
          <a:xfrm>
            <a:off x="5120640" y="3291840"/>
            <a:ext cx="2606040" cy="146304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Can you do it for half the budget?</a:t>
            </a:r>
            <a:endParaRPr lang="en-US" sz="1900" dirty="0"/>
          </a:p>
        </p:txBody>
      </p:sp>
      <p:sp>
        <p:nvSpPr>
          <p:cNvPr id="19" name="Shape 11"/>
          <p:cNvSpPr/>
          <p:nvPr/>
        </p:nvSpPr>
        <p:spPr>
          <a:xfrm>
            <a:off x="8046720" y="3291840"/>
            <a:ext cx="3566160" cy="1463040"/>
          </a:xfrm>
          <a:prstGeom prst="roundRect">
            <a:avLst>
              <a:gd name="adj" fmla="val 6250"/>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pic>
        <p:nvPicPr>
          <p:cNvPr id="20" name="Image 5" descr="preencoded.png">    </p:cNvPr>
          <p:cNvPicPr>
            <a:picLocks noChangeAspect="1"/>
          </p:cNvPicPr>
          <p:nvPr/>
        </p:nvPicPr>
        <p:blipFill>
          <a:blip r:embed="rId6"/>
          <a:stretch>
            <a:fillRect/>
          </a:stretch>
        </p:blipFill>
        <p:spPr>
          <a:xfrm>
            <a:off x="8229600" y="3749040"/>
            <a:ext cx="502920" cy="502920"/>
          </a:xfrm>
          <a:prstGeom prst="rect">
            <a:avLst/>
          </a:prstGeom>
        </p:spPr>
      </p:pic>
      <p:sp>
        <p:nvSpPr>
          <p:cNvPr id="21" name="Text 12"/>
          <p:cNvSpPr txBox="1"/>
          <p:nvPr/>
        </p:nvSpPr>
        <p:spPr>
          <a:xfrm>
            <a:off x="8869680" y="3291840"/>
            <a:ext cx="2606040" cy="1463040"/>
          </a:xfrm>
          <a:prstGeom prst="rect">
            <a:avLst/>
          </a:prstGeom>
          <a:noFill/>
          <a:ln/>
        </p:spPr>
        <p:txBody>
          <a:bodyPr wrap="square" lIns="635" tIns="635" rIns="635" bIns="635"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One sentence. What do you want?</a:t>
            </a:r>
            <a:endParaRPr lang="en-US" sz="1900" dirty="0"/>
          </a:p>
        </p:txBody>
      </p:sp>
      <p:sp>
        <p:nvSpPr>
          <p:cNvPr id="22" name="Shape 13"/>
          <p:cNvSpPr/>
          <p:nvPr/>
        </p:nvSpPr>
        <p:spPr>
          <a:xfrm>
            <a:off x="548640" y="5120640"/>
            <a:ext cx="548640" cy="548640"/>
          </a:xfrm>
          <a:prstGeom prst="ellipse">
            <a:avLst/>
          </a:prstGeom>
          <a:solidFill>
            <a:srgbClr val="E3001B"/>
          </a:solidFill>
          <a:ln w="12700">
            <a:solidFill>
              <a:srgbClr val="E3001B"/>
            </a:solidFill>
            <a:prstDash val="solid"/>
          </a:ln>
        </p:spPr>
      </p:sp>
      <p:pic>
        <p:nvPicPr>
          <p:cNvPr id="23" name="Image 6" descr="preencoded.png">    </p:cNvPr>
          <p:cNvPicPr>
            <a:picLocks noChangeAspect="1"/>
          </p:cNvPicPr>
          <p:nvPr/>
        </p:nvPicPr>
        <p:blipFill>
          <a:blip r:embed="rId7"/>
          <a:stretch>
            <a:fillRect/>
          </a:stretch>
        </p:blipFill>
        <p:spPr>
          <a:xfrm>
            <a:off x="702259" y="5274259"/>
            <a:ext cx="241402" cy="241402"/>
          </a:xfrm>
          <a:prstGeom prst="rect">
            <a:avLst/>
          </a:prstGeom>
        </p:spPr>
      </p:pic>
      <p:sp>
        <p:nvSpPr>
          <p:cNvPr id="24" name="Text 14"/>
          <p:cNvSpPr txBox="1"/>
          <p:nvPr/>
        </p:nvSpPr>
        <p:spPr>
          <a:xfrm>
            <a:off x="1188720" y="5120640"/>
            <a:ext cx="1645920" cy="54864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Presenter</a:t>
            </a:r>
            <a:endParaRPr lang="en-US" sz="1600" dirty="0"/>
          </a:p>
        </p:txBody>
      </p:sp>
      <p:sp>
        <p:nvSpPr>
          <p:cNvPr id="25" name="Shape 15"/>
          <p:cNvSpPr/>
          <p:nvPr/>
        </p:nvSpPr>
        <p:spPr>
          <a:xfrm>
            <a:off x="2926080" y="5120640"/>
            <a:ext cx="548640" cy="548640"/>
          </a:xfrm>
          <a:prstGeom prst="ellipse">
            <a:avLst/>
          </a:prstGeom>
          <a:solidFill>
            <a:srgbClr val="E3001B"/>
          </a:solidFill>
          <a:ln w="12700">
            <a:solidFill>
              <a:srgbClr val="E3001B"/>
            </a:solidFill>
            <a:prstDash val="solid"/>
          </a:ln>
        </p:spPr>
      </p:sp>
      <p:pic>
        <p:nvPicPr>
          <p:cNvPr id="26" name="Image 7" descr="preencoded.png">    </p:cNvPr>
          <p:cNvPicPr>
            <a:picLocks noChangeAspect="1"/>
          </p:cNvPicPr>
          <p:nvPr/>
        </p:nvPicPr>
        <p:blipFill>
          <a:blip r:embed="rId8"/>
          <a:stretch>
            <a:fillRect/>
          </a:stretch>
        </p:blipFill>
        <p:spPr>
          <a:xfrm>
            <a:off x="3079699" y="5274259"/>
            <a:ext cx="241402" cy="241402"/>
          </a:xfrm>
          <a:prstGeom prst="rect">
            <a:avLst/>
          </a:prstGeom>
        </p:spPr>
      </p:pic>
      <p:sp>
        <p:nvSpPr>
          <p:cNvPr id="27" name="Text 16"/>
          <p:cNvSpPr txBox="1"/>
          <p:nvPr/>
        </p:nvSpPr>
        <p:spPr>
          <a:xfrm>
            <a:off x="3566160" y="5120640"/>
            <a:ext cx="1645920" cy="54864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Director</a:t>
            </a:r>
            <a:endParaRPr lang="en-US" sz="1600" dirty="0"/>
          </a:p>
        </p:txBody>
      </p:sp>
      <p:sp>
        <p:nvSpPr>
          <p:cNvPr id="28" name="Shape 17"/>
          <p:cNvSpPr/>
          <p:nvPr/>
        </p:nvSpPr>
        <p:spPr>
          <a:xfrm>
            <a:off x="5303520" y="5120640"/>
            <a:ext cx="548640" cy="548640"/>
          </a:xfrm>
          <a:prstGeom prst="ellipse">
            <a:avLst/>
          </a:prstGeom>
          <a:solidFill>
            <a:srgbClr val="E3001B"/>
          </a:solidFill>
          <a:ln w="12700">
            <a:solidFill>
              <a:srgbClr val="E3001B"/>
            </a:solidFill>
            <a:prstDash val="solid"/>
          </a:ln>
        </p:spPr>
      </p:sp>
      <p:pic>
        <p:nvPicPr>
          <p:cNvPr id="29" name="Image 8" descr="preencoded.png">    </p:cNvPr>
          <p:cNvPicPr>
            <a:picLocks noChangeAspect="1"/>
          </p:cNvPicPr>
          <p:nvPr/>
        </p:nvPicPr>
        <p:blipFill>
          <a:blip r:embed="rId9"/>
          <a:stretch>
            <a:fillRect/>
          </a:stretch>
        </p:blipFill>
        <p:spPr>
          <a:xfrm>
            <a:off x="5457139" y="5274259"/>
            <a:ext cx="241402" cy="241402"/>
          </a:xfrm>
          <a:prstGeom prst="rect">
            <a:avLst/>
          </a:prstGeom>
        </p:spPr>
      </p:pic>
      <p:sp>
        <p:nvSpPr>
          <p:cNvPr id="30" name="Text 18"/>
          <p:cNvSpPr txBox="1"/>
          <p:nvPr/>
        </p:nvSpPr>
        <p:spPr>
          <a:xfrm>
            <a:off x="5943600" y="5120640"/>
            <a:ext cx="1645920" cy="54864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Observer</a:t>
            </a:r>
            <a:endParaRPr lang="en-US" sz="1600" dirty="0"/>
          </a:p>
        </p:txBody>
      </p:sp>
      <p:pic>
        <p:nvPicPr>
          <p:cNvPr id="31" name="Image 9" descr="preencoded.png">    </p:cNvPr>
          <p:cNvPicPr>
            <a:picLocks noChangeAspect="1"/>
          </p:cNvPicPr>
          <p:nvPr/>
        </p:nvPicPr>
        <p:blipFill>
          <a:blip r:embed="rId10"/>
          <a:stretch>
            <a:fillRect/>
          </a:stretch>
        </p:blipFill>
        <p:spPr>
          <a:xfrm>
            <a:off x="7863840" y="5166360"/>
            <a:ext cx="457200" cy="457200"/>
          </a:xfrm>
          <a:prstGeom prst="rect">
            <a:avLst/>
          </a:prstGeom>
        </p:spPr>
      </p:pic>
      <p:sp>
        <p:nvSpPr>
          <p:cNvPr id="32" name="Text 19"/>
          <p:cNvSpPr txBox="1"/>
          <p:nvPr/>
        </p:nvSpPr>
        <p:spPr>
          <a:xfrm>
            <a:off x="8412480" y="5120640"/>
            <a:ext cx="2377440" cy="548640"/>
          </a:xfrm>
          <a:prstGeom prst="rect">
            <a:avLst/>
          </a:prstGeom>
          <a:noFill/>
          <a:ln/>
        </p:spPr>
        <p:txBody>
          <a:bodyPr wrap="square" lIns="635" tIns="635" rIns="635" bIns="635" rtlCol="0" anchor="ctr"/>
          <a:lstStyle/>
          <a:p>
            <a:pPr indent="0" marL="0">
              <a:buNone/>
            </a:pPr>
            <a:r>
              <a:rPr lang="en-US" sz="2600" b="1" dirty="0">
                <a:solidFill>
                  <a:srgbClr val="E3001B"/>
                </a:solidFill>
                <a:latin typeface="Arial" pitchFamily="34" charset="0"/>
                <a:ea typeface="Arial" pitchFamily="34" charset="-122"/>
                <a:cs typeface="Arial" pitchFamily="34" charset="-120"/>
              </a:rPr>
              <a:t>9:00</a:t>
            </a:r>
            <a:endParaRPr lang="en-US" sz="2600" dirty="0"/>
          </a:p>
        </p:txBody>
      </p:sp>
      <p:sp>
        <p:nvSpPr>
          <p:cNvPr id="33" name="Text 20"/>
          <p:cNvSpPr txBox="1"/>
          <p:nvPr/>
        </p:nvSpPr>
        <p:spPr>
          <a:xfrm>
            <a:off x="9052560" y="5760720"/>
            <a:ext cx="260604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Trios · rotate every 3 min</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9E0012"/>
                </a:solidFill>
                <a:latin typeface="Arial" pitchFamily="34" charset="0"/>
                <a:ea typeface="Arial" pitchFamily="34" charset="-122"/>
                <a:cs typeface="Arial" pitchFamily="34" charset="-120"/>
              </a:rPr>
              <a:t>Showtime: 3-minute pitch, 3 rounds</a:t>
            </a:r>
            <a:endParaRPr lang="en-US" sz="3200" dirty="0"/>
          </a:p>
        </p:txBody>
      </p:sp>
      <p:sp>
        <p:nvSpPr>
          <p:cNvPr id="4" name="Shape 1"/>
          <p:cNvSpPr/>
          <p:nvPr/>
        </p:nvSpPr>
        <p:spPr>
          <a:xfrm>
            <a:off x="1417320" y="2606040"/>
            <a:ext cx="2926080" cy="2743200"/>
          </a:xfrm>
          <a:prstGeom prst="ellipse">
            <a:avLst/>
          </a:prstGeom>
          <a:solidFill>
            <a:srgbClr val="FFFFFF"/>
          </a:solidFill>
          <a:ln w="25400">
            <a:solidFill>
              <a:srgbClr val="E3001B"/>
            </a:solidFill>
            <a:prstDash val="dash"/>
          </a:ln>
        </p:spPr>
      </p:sp>
      <p:sp>
        <p:nvSpPr>
          <p:cNvPr id="5" name="Shape 2"/>
          <p:cNvSpPr/>
          <p:nvPr/>
        </p:nvSpPr>
        <p:spPr>
          <a:xfrm>
            <a:off x="2560320" y="2148840"/>
            <a:ext cx="914400" cy="91440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2816352" y="2404872"/>
            <a:ext cx="402336" cy="402336"/>
          </a:xfrm>
          <a:prstGeom prst="rect">
            <a:avLst/>
          </a:prstGeom>
        </p:spPr>
      </p:pic>
      <p:sp>
        <p:nvSpPr>
          <p:cNvPr id="7" name="Text 3"/>
          <p:cNvSpPr txBox="1"/>
          <p:nvPr/>
        </p:nvSpPr>
        <p:spPr>
          <a:xfrm>
            <a:off x="1874520" y="3063240"/>
            <a:ext cx="2011680" cy="365760"/>
          </a:xfrm>
          <a:prstGeom prst="rect">
            <a:avLst/>
          </a:prstGeom>
          <a:noFill/>
          <a:ln/>
        </p:spPr>
        <p:txBody>
          <a:bodyPr wrap="square" lIns="635" tIns="635" rIns="635" bIns="635"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Pitch 3 min</a:t>
            </a:r>
            <a:endParaRPr lang="en-US" sz="1500" dirty="0"/>
          </a:p>
        </p:txBody>
      </p:sp>
      <p:sp>
        <p:nvSpPr>
          <p:cNvPr id="8" name="Shape 4"/>
          <p:cNvSpPr/>
          <p:nvPr/>
        </p:nvSpPr>
        <p:spPr>
          <a:xfrm>
            <a:off x="4023360" y="4434840"/>
            <a:ext cx="914400" cy="914400"/>
          </a:xfrm>
          <a:prstGeom prst="ellipse">
            <a:avLst/>
          </a:prstGeom>
          <a:solidFill>
            <a:srgbClr val="E3001B"/>
          </a:solidFill>
          <a:ln w="12700">
            <a:solidFill>
              <a:srgbClr val="E3001B"/>
            </a:solidFill>
            <a:prstDash val="solid"/>
          </a:ln>
        </p:spPr>
      </p:sp>
      <p:pic>
        <p:nvPicPr>
          <p:cNvPr id="9" name="Image 1" descr="preencoded.png">    </p:cNvPr>
          <p:cNvPicPr>
            <a:picLocks noChangeAspect="1"/>
          </p:cNvPicPr>
          <p:nvPr/>
        </p:nvPicPr>
        <p:blipFill>
          <a:blip r:embed="rId2"/>
          <a:stretch>
            <a:fillRect/>
          </a:stretch>
        </p:blipFill>
        <p:spPr>
          <a:xfrm>
            <a:off x="4279392" y="4690872"/>
            <a:ext cx="402336" cy="402336"/>
          </a:xfrm>
          <a:prstGeom prst="rect">
            <a:avLst/>
          </a:prstGeom>
        </p:spPr>
      </p:pic>
      <p:sp>
        <p:nvSpPr>
          <p:cNvPr id="10" name="Text 5"/>
          <p:cNvSpPr txBox="1"/>
          <p:nvPr/>
        </p:nvSpPr>
        <p:spPr>
          <a:xfrm>
            <a:off x="3337560" y="5349240"/>
            <a:ext cx="2011680" cy="365760"/>
          </a:xfrm>
          <a:prstGeom prst="rect">
            <a:avLst/>
          </a:prstGeom>
          <a:noFill/>
          <a:ln/>
        </p:spPr>
        <p:txBody>
          <a:bodyPr wrap="square" lIns="635" tIns="635" rIns="635" bIns="635"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Feedback 2 min</a:t>
            </a:r>
            <a:endParaRPr lang="en-US" sz="1500" dirty="0"/>
          </a:p>
        </p:txBody>
      </p:sp>
      <p:sp>
        <p:nvSpPr>
          <p:cNvPr id="11" name="Shape 6"/>
          <p:cNvSpPr/>
          <p:nvPr/>
        </p:nvSpPr>
        <p:spPr>
          <a:xfrm>
            <a:off x="1097280" y="4434840"/>
            <a:ext cx="914400" cy="914400"/>
          </a:xfrm>
          <a:prstGeom prst="ellipse">
            <a:avLst/>
          </a:prstGeom>
          <a:solidFill>
            <a:srgbClr val="E3001B"/>
          </a:solidFill>
          <a:ln w="12700">
            <a:solidFill>
              <a:srgbClr val="E3001B"/>
            </a:solidFill>
            <a:prstDash val="solid"/>
          </a:ln>
        </p:spPr>
      </p:sp>
      <p:pic>
        <p:nvPicPr>
          <p:cNvPr id="12" name="Image 2" descr="preencoded.png">    </p:cNvPr>
          <p:cNvPicPr>
            <a:picLocks noChangeAspect="1"/>
          </p:cNvPicPr>
          <p:nvPr/>
        </p:nvPicPr>
        <p:blipFill>
          <a:blip r:embed="rId3"/>
          <a:stretch>
            <a:fillRect/>
          </a:stretch>
        </p:blipFill>
        <p:spPr>
          <a:xfrm>
            <a:off x="1353312" y="4690872"/>
            <a:ext cx="402336" cy="402336"/>
          </a:xfrm>
          <a:prstGeom prst="rect">
            <a:avLst/>
          </a:prstGeom>
        </p:spPr>
      </p:pic>
      <p:sp>
        <p:nvSpPr>
          <p:cNvPr id="13" name="Text 7"/>
          <p:cNvSpPr txBox="1"/>
          <p:nvPr/>
        </p:nvSpPr>
        <p:spPr>
          <a:xfrm>
            <a:off x="411480" y="5349240"/>
            <a:ext cx="2011680" cy="365760"/>
          </a:xfrm>
          <a:prstGeom prst="rect">
            <a:avLst/>
          </a:prstGeom>
          <a:noFill/>
          <a:ln/>
        </p:spPr>
        <p:txBody>
          <a:bodyPr wrap="square" lIns="635" tIns="635" rIns="635" bIns="635"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Rotate</a:t>
            </a:r>
            <a:endParaRPr lang="en-US" sz="1500" dirty="0"/>
          </a:p>
        </p:txBody>
      </p:sp>
      <p:sp>
        <p:nvSpPr>
          <p:cNvPr id="14" name="Text 8"/>
          <p:cNvSpPr txBox="1"/>
          <p:nvPr/>
        </p:nvSpPr>
        <p:spPr>
          <a:xfrm>
            <a:off x="2103120" y="3611880"/>
            <a:ext cx="1554480" cy="640080"/>
          </a:xfrm>
          <a:prstGeom prst="rect">
            <a:avLst/>
          </a:prstGeom>
          <a:noFill/>
          <a:ln/>
        </p:spPr>
        <p:txBody>
          <a:bodyPr wrap="square" lIns="635" tIns="635" rIns="635" bIns="635" rtlCol="0" anchor="ctr"/>
          <a:lstStyle/>
          <a:p>
            <a:pPr algn="ctr" indent="0" marL="0">
              <a:buNone/>
            </a:pPr>
            <a:r>
              <a:rPr lang="en-US" sz="3200" b="1" dirty="0">
                <a:solidFill>
                  <a:srgbClr val="E3001B"/>
                </a:solidFill>
                <a:latin typeface="Arial" pitchFamily="34" charset="0"/>
                <a:ea typeface="Arial" pitchFamily="34" charset="-122"/>
                <a:cs typeface="Arial" pitchFamily="34" charset="-120"/>
              </a:rPr>
              <a:t>× 3</a:t>
            </a:r>
            <a:endParaRPr lang="en-US" sz="3200" dirty="0"/>
          </a:p>
        </p:txBody>
      </p:sp>
      <p:sp>
        <p:nvSpPr>
          <p:cNvPr id="15" name="Text 9"/>
          <p:cNvSpPr txBox="1"/>
          <p:nvPr/>
        </p:nvSpPr>
        <p:spPr>
          <a:xfrm>
            <a:off x="5852160" y="1554480"/>
            <a:ext cx="5760720" cy="411480"/>
          </a:xfrm>
          <a:prstGeom prst="rect">
            <a:avLst/>
          </a:prstGeom>
          <a:noFill/>
          <a:ln/>
        </p:spPr>
        <p:txBody>
          <a:bodyPr wrap="square" lIns="635" tIns="635" rIns="635" bIns="635" rtlCol="0" anchor="ctr"/>
          <a:lstStyle/>
          <a:p>
            <a:pPr indent="0" marL="0">
              <a:buNone/>
            </a:pPr>
            <a:r>
              <a:rPr lang="en-US" sz="1800" b="1" dirty="0">
                <a:solidFill>
                  <a:srgbClr val="9E0012"/>
                </a:solidFill>
                <a:latin typeface="Calibri" pitchFamily="34" charset="0"/>
                <a:ea typeface="Calibri" pitchFamily="34" charset="-122"/>
                <a:cs typeface="Calibri" pitchFamily="34" charset="-120"/>
              </a:rPr>
              <a:t>Score 1–4 on the feedback form</a:t>
            </a:r>
            <a:endParaRPr lang="en-US" sz="1800" dirty="0"/>
          </a:p>
        </p:txBody>
      </p:sp>
      <p:sp>
        <p:nvSpPr>
          <p:cNvPr id="16" name="Shape 10"/>
          <p:cNvSpPr/>
          <p:nvPr/>
        </p:nvSpPr>
        <p:spPr>
          <a:xfrm>
            <a:off x="5852160" y="2103120"/>
            <a:ext cx="5806440" cy="585216"/>
          </a:xfrm>
          <a:prstGeom prst="roundRect">
            <a:avLst>
              <a:gd name="adj" fmla="val 15625"/>
            </a:avLst>
          </a:prstGeom>
          <a:solidFill>
            <a:srgbClr val="FFFFFF"/>
          </a:solidFill>
          <a:ln w="12700">
            <a:solidFill>
              <a:srgbClr val="FFFFFF"/>
            </a:solidFill>
            <a:prstDash val="solid"/>
          </a:ln>
        </p:spPr>
      </p:sp>
      <p:sp>
        <p:nvSpPr>
          <p:cNvPr id="17" name="Text 11"/>
          <p:cNvSpPr txBox="1"/>
          <p:nvPr/>
        </p:nvSpPr>
        <p:spPr>
          <a:xfrm>
            <a:off x="5943600" y="2185416"/>
            <a:ext cx="420624" cy="420624"/>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2"/>
          <p:cNvSpPr txBox="1"/>
          <p:nvPr/>
        </p:nvSpPr>
        <p:spPr>
          <a:xfrm>
            <a:off x="6537960" y="2103120"/>
            <a:ext cx="5029200" cy="585216"/>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Clear ask</a:t>
            </a:r>
            <a:endParaRPr lang="en-US" sz="1800" dirty="0"/>
          </a:p>
        </p:txBody>
      </p:sp>
      <p:sp>
        <p:nvSpPr>
          <p:cNvPr id="19" name="Shape 13"/>
          <p:cNvSpPr/>
          <p:nvPr/>
        </p:nvSpPr>
        <p:spPr>
          <a:xfrm>
            <a:off x="5852160" y="2816352"/>
            <a:ext cx="5806440" cy="585216"/>
          </a:xfrm>
          <a:prstGeom prst="roundRect">
            <a:avLst>
              <a:gd name="adj" fmla="val 15625"/>
            </a:avLst>
          </a:prstGeom>
          <a:solidFill>
            <a:srgbClr val="FFFFFF"/>
          </a:solidFill>
          <a:ln w="12700">
            <a:solidFill>
              <a:srgbClr val="FFFFFF"/>
            </a:solidFill>
            <a:prstDash val="solid"/>
          </a:ln>
        </p:spPr>
      </p:sp>
      <p:sp>
        <p:nvSpPr>
          <p:cNvPr id="20" name="Text 14"/>
          <p:cNvSpPr txBox="1"/>
          <p:nvPr/>
        </p:nvSpPr>
        <p:spPr>
          <a:xfrm>
            <a:off x="5943600" y="2898648"/>
            <a:ext cx="420624" cy="420624"/>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5"/>
          <p:cNvSpPr txBox="1"/>
          <p:nvPr/>
        </p:nvSpPr>
        <p:spPr>
          <a:xfrm>
            <a:off x="6537960" y="2816352"/>
            <a:ext cx="5029200" cy="585216"/>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Answer first</a:t>
            </a:r>
            <a:endParaRPr lang="en-US" sz="1800" dirty="0"/>
          </a:p>
        </p:txBody>
      </p:sp>
      <p:sp>
        <p:nvSpPr>
          <p:cNvPr id="22" name="Shape 16"/>
          <p:cNvSpPr/>
          <p:nvPr/>
        </p:nvSpPr>
        <p:spPr>
          <a:xfrm>
            <a:off x="5852160" y="3529584"/>
            <a:ext cx="5806440" cy="585216"/>
          </a:xfrm>
          <a:prstGeom prst="roundRect">
            <a:avLst>
              <a:gd name="adj" fmla="val 15625"/>
            </a:avLst>
          </a:prstGeom>
          <a:solidFill>
            <a:srgbClr val="FFFFFF"/>
          </a:solidFill>
          <a:ln w="12700">
            <a:solidFill>
              <a:srgbClr val="FFFFFF"/>
            </a:solidFill>
            <a:prstDash val="solid"/>
          </a:ln>
        </p:spPr>
      </p:sp>
      <p:sp>
        <p:nvSpPr>
          <p:cNvPr id="23" name="Text 17"/>
          <p:cNvSpPr txBox="1"/>
          <p:nvPr/>
        </p:nvSpPr>
        <p:spPr>
          <a:xfrm>
            <a:off x="5943600" y="3611880"/>
            <a:ext cx="420624" cy="420624"/>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18"/>
          <p:cNvSpPr txBox="1"/>
          <p:nvPr/>
        </p:nvSpPr>
        <p:spPr>
          <a:xfrm>
            <a:off x="6537960" y="3529584"/>
            <a:ext cx="5029200" cy="585216"/>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Titles tell the story</a:t>
            </a:r>
            <a:endParaRPr lang="en-US" sz="1800" dirty="0"/>
          </a:p>
        </p:txBody>
      </p:sp>
      <p:sp>
        <p:nvSpPr>
          <p:cNvPr id="25" name="Shape 19"/>
          <p:cNvSpPr/>
          <p:nvPr/>
        </p:nvSpPr>
        <p:spPr>
          <a:xfrm>
            <a:off x="5852160" y="4242816"/>
            <a:ext cx="5806440" cy="585216"/>
          </a:xfrm>
          <a:prstGeom prst="roundRect">
            <a:avLst>
              <a:gd name="adj" fmla="val 15625"/>
            </a:avLst>
          </a:prstGeom>
          <a:solidFill>
            <a:srgbClr val="FFFFFF"/>
          </a:solidFill>
          <a:ln w="12700">
            <a:solidFill>
              <a:srgbClr val="FFFFFF"/>
            </a:solidFill>
            <a:prstDash val="solid"/>
          </a:ln>
        </p:spPr>
      </p:sp>
      <p:sp>
        <p:nvSpPr>
          <p:cNvPr id="26" name="Text 20"/>
          <p:cNvSpPr txBox="1"/>
          <p:nvPr/>
        </p:nvSpPr>
        <p:spPr>
          <a:xfrm>
            <a:off x="5943600" y="4325112"/>
            <a:ext cx="420624" cy="420624"/>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1"/>
          <p:cNvSpPr txBox="1"/>
          <p:nvPr/>
        </p:nvSpPr>
        <p:spPr>
          <a:xfrm>
            <a:off x="6537960" y="4242816"/>
            <a:ext cx="5029200" cy="585216"/>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One number stands out</a:t>
            </a:r>
            <a:endParaRPr lang="en-US" sz="1800" dirty="0"/>
          </a:p>
        </p:txBody>
      </p:sp>
      <p:sp>
        <p:nvSpPr>
          <p:cNvPr id="28" name="Shape 22"/>
          <p:cNvSpPr/>
          <p:nvPr/>
        </p:nvSpPr>
        <p:spPr>
          <a:xfrm>
            <a:off x="5852160" y="4956048"/>
            <a:ext cx="5806440" cy="585216"/>
          </a:xfrm>
          <a:prstGeom prst="roundRect">
            <a:avLst>
              <a:gd name="adj" fmla="val 15625"/>
            </a:avLst>
          </a:prstGeom>
          <a:solidFill>
            <a:srgbClr val="FFFFFF"/>
          </a:solidFill>
          <a:ln w="12700">
            <a:solidFill>
              <a:srgbClr val="FFFFFF"/>
            </a:solidFill>
            <a:prstDash val="solid"/>
          </a:ln>
        </p:spPr>
      </p:sp>
      <p:sp>
        <p:nvSpPr>
          <p:cNvPr id="29" name="Text 23"/>
          <p:cNvSpPr txBox="1"/>
          <p:nvPr/>
        </p:nvSpPr>
        <p:spPr>
          <a:xfrm>
            <a:off x="5943600" y="5038344"/>
            <a:ext cx="420624" cy="420624"/>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4"/>
          <p:cNvSpPr txBox="1"/>
          <p:nvPr/>
        </p:nvSpPr>
        <p:spPr>
          <a:xfrm>
            <a:off x="6537960" y="4956048"/>
            <a:ext cx="5029200" cy="585216"/>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Calm under questions</a:t>
            </a:r>
            <a:endParaRPr lang="en-US" sz="1800" dirty="0"/>
          </a:p>
        </p:txBody>
      </p:sp>
      <p:sp>
        <p:nvSpPr>
          <p:cNvPr id="31" name="Text 25"/>
          <p:cNvSpPr txBox="1"/>
          <p:nvPr/>
        </p:nvSpPr>
        <p:spPr>
          <a:xfrm>
            <a:off x="5852160" y="5715000"/>
            <a:ext cx="5760720" cy="41148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Feedback: </a:t>
            </a:r>
            <a:pPr indent="0" marL="0">
              <a:buNone/>
            </a:pPr>
            <a:r>
              <a:rPr lang="en-US" sz="1600" dirty="0">
                <a:solidFill>
                  <a:srgbClr val="1A1A1A"/>
                </a:solidFill>
                <a:latin typeface="Calibri" pitchFamily="34" charset="0"/>
                <a:ea typeface="Calibri" pitchFamily="34" charset="-122"/>
                <a:cs typeface="Calibri" pitchFamily="34" charset="-120"/>
              </a:rPr>
              <a:t>one thing that worked, then one thing to try</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3200" b="1" dirty="0">
                <a:solidFill>
                  <a:srgbClr val="1A1A1A"/>
                </a:solidFill>
                <a:latin typeface="Arial" pitchFamily="34" charset="0"/>
                <a:ea typeface="Arial" pitchFamily="34" charset="-122"/>
                <a:cs typeface="Arial" pitchFamily="34" charset="-120"/>
              </a:rPr>
              <a:t>One move. Your next presentation. Starting Monday.</a:t>
            </a:r>
            <a:endParaRPr lang="en-US" sz="3200" dirty="0"/>
          </a:p>
        </p:txBody>
      </p:sp>
      <p:sp>
        <p:nvSpPr>
          <p:cNvPr id="4" name="Shape 1"/>
          <p:cNvSpPr/>
          <p:nvPr/>
        </p:nvSpPr>
        <p:spPr>
          <a:xfrm>
            <a:off x="548640" y="1600200"/>
            <a:ext cx="6035040" cy="4206240"/>
          </a:xfrm>
          <a:prstGeom prst="roundRect">
            <a:avLst>
              <a:gd name="adj" fmla="val 2174"/>
            </a:avLst>
          </a:prstGeom>
          <a:solidFill>
            <a:srgbClr val="FFFFFF"/>
          </a:solidFill>
          <a:ln w="25400">
            <a:solidFill>
              <a:srgbClr val="E3001B"/>
            </a:solidFill>
            <a:prstDash val="solid"/>
          </a:ln>
          <a:effectLst>
            <a:outerShdw sx="100000" sy="100000" kx="0" ky="0" algn="bl" rotWithShape="0" blurRad="76200" dist="25400" dir="5400000">
              <a:srgbClr val="000000">
                <a:alpha val="15000"/>
              </a:srgbClr>
            </a:outerShdw>
          </a:effectLst>
        </p:spPr>
      </p:sp>
      <p:sp>
        <p:nvSpPr>
          <p:cNvPr id="5" name="Shape 2"/>
          <p:cNvSpPr/>
          <p:nvPr/>
        </p:nvSpPr>
        <p:spPr>
          <a:xfrm>
            <a:off x="822960" y="1828800"/>
            <a:ext cx="777240" cy="77724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1040587" y="2046427"/>
            <a:ext cx="341986" cy="341986"/>
          </a:xfrm>
          <a:prstGeom prst="rect">
            <a:avLst/>
          </a:prstGeom>
        </p:spPr>
      </p:pic>
      <p:sp>
        <p:nvSpPr>
          <p:cNvPr id="7" name="Text 3"/>
          <p:cNvSpPr txBox="1"/>
          <p:nvPr/>
        </p:nvSpPr>
        <p:spPr>
          <a:xfrm>
            <a:off x="1783080" y="1874520"/>
            <a:ext cx="4114800" cy="685800"/>
          </a:xfrm>
          <a:prstGeom prst="rect">
            <a:avLst/>
          </a:prstGeom>
          <a:noFill/>
          <a:ln/>
        </p:spPr>
        <p:txBody>
          <a:bodyPr wrap="square" lIns="635" tIns="635" rIns="635" bIns="635" rtlCol="0" anchor="ctr"/>
          <a:lstStyle/>
          <a:p>
            <a:pPr indent="0" marL="0">
              <a:buNone/>
            </a:pPr>
            <a:r>
              <a:rPr lang="en-US" sz="2400" b="1" dirty="0">
                <a:solidFill>
                  <a:srgbClr val="9E0012"/>
                </a:solidFill>
                <a:latin typeface="Calibri" pitchFamily="34" charset="0"/>
                <a:ea typeface="Calibri" pitchFamily="34" charset="-122"/>
                <a:cs typeface="Calibri" pitchFamily="34" charset="-120"/>
              </a:rPr>
              <a:t>My commitment</a:t>
            </a:r>
            <a:endParaRPr lang="en-US" sz="2400" dirty="0"/>
          </a:p>
        </p:txBody>
      </p:sp>
      <p:sp>
        <p:nvSpPr>
          <p:cNvPr id="8" name="Text 4"/>
          <p:cNvSpPr txBox="1"/>
          <p:nvPr/>
        </p:nvSpPr>
        <p:spPr>
          <a:xfrm>
            <a:off x="914400" y="2788920"/>
            <a:ext cx="5394960" cy="2834640"/>
          </a:xfrm>
          <a:prstGeom prst="rect">
            <a:avLst/>
          </a:prstGeom>
          <a:noFill/>
          <a:ln/>
        </p:spPr>
        <p:txBody>
          <a:bodyPr wrap="square" lIns="635" tIns="635" rIns="635" bIns="635" rtlCol="0" anchor="t"/>
          <a:lstStyle/>
          <a:p>
            <a:pPr indent="0" marL="0">
              <a:spcAft>
                <a:spcPts val="1600"/>
              </a:spcAft>
              <a:buNone/>
            </a:pPr>
            <a:r>
              <a:rPr lang="en-US" sz="2100" dirty="0">
                <a:solidFill>
                  <a:srgbClr val="1A1A1A"/>
                </a:solidFill>
                <a:latin typeface="Calibri" pitchFamily="34" charset="0"/>
                <a:ea typeface="Calibri" pitchFamily="34" charset="-122"/>
                <a:cs typeface="Calibri" pitchFamily="34" charset="-120"/>
              </a:rPr>
              <a:t>Move: ____________________</a:t>
            </a:r>
            <a:endParaRPr lang="en-US" sz="2100" dirty="0"/>
          </a:p>
          <a:p>
            <a:pPr indent="0" marL="0">
              <a:spcAft>
                <a:spcPts val="1600"/>
              </a:spcAft>
              <a:buNone/>
            </a:pPr>
            <a:r>
              <a:rPr lang="en-US" sz="2100" dirty="0">
                <a:solidFill>
                  <a:srgbClr val="1A1A1A"/>
                </a:solidFill>
                <a:latin typeface="Calibri" pitchFamily="34" charset="0"/>
                <a:ea typeface="Calibri" pitchFamily="34" charset="-122"/>
                <a:cs typeface="Calibri" pitchFamily="34" charset="-120"/>
              </a:rPr>
              <a:t>In my: ____________________</a:t>
            </a:r>
            <a:endParaRPr lang="en-US" sz="2100" dirty="0"/>
          </a:p>
          <a:p>
            <a:pPr indent="0" marL="0">
              <a:spcAft>
                <a:spcPts val="1600"/>
              </a:spcAft>
              <a:buNone/>
            </a:pPr>
            <a:r>
              <a:rPr lang="en-US" sz="2100" dirty="0">
                <a:solidFill>
                  <a:srgbClr val="1A1A1A"/>
                </a:solidFill>
                <a:latin typeface="Calibri" pitchFamily="34" charset="0"/>
                <a:ea typeface="Calibri" pitchFamily="34" charset="-122"/>
                <a:cs typeface="Calibri" pitchFamily="34" charset="-120"/>
              </a:rPr>
              <a:t>On (date): _______________</a:t>
            </a:r>
            <a:endParaRPr lang="en-US" sz="2100" dirty="0"/>
          </a:p>
          <a:p>
            <a:pPr indent="0" marL="0">
              <a:spcAft>
                <a:spcPts val="1600"/>
              </a:spcAft>
              <a:buNone/>
            </a:pPr>
            <a:r>
              <a:rPr lang="en-US" sz="2100" dirty="0">
                <a:solidFill>
                  <a:srgbClr val="1A1A1A"/>
                </a:solidFill>
                <a:latin typeface="Calibri" pitchFamily="34" charset="0"/>
                <a:ea typeface="Calibri" pitchFamily="34" charset="-122"/>
                <a:cs typeface="Calibri" pitchFamily="34" charset="-120"/>
              </a:rPr>
              <a:t>Feedback from: ___________</a:t>
            </a:r>
            <a:endParaRPr lang="en-US" sz="2100" dirty="0"/>
          </a:p>
        </p:txBody>
      </p:sp>
      <p:sp>
        <p:nvSpPr>
          <p:cNvPr id="9" name="Text 5"/>
          <p:cNvSpPr txBox="1"/>
          <p:nvPr/>
        </p:nvSpPr>
        <p:spPr>
          <a:xfrm>
            <a:off x="6995160" y="1600200"/>
            <a:ext cx="4572000" cy="457200"/>
          </a:xfrm>
          <a:prstGeom prst="rect">
            <a:avLst/>
          </a:prstGeom>
          <a:noFill/>
          <a:ln/>
        </p:spPr>
        <p:txBody>
          <a:bodyPr wrap="square" lIns="635" tIns="635" rIns="635" bIns="635" rtlCol="0" anchor="ctr"/>
          <a:lstStyle/>
          <a:p>
            <a:pPr indent="0" marL="0">
              <a:buNone/>
            </a:pPr>
            <a:r>
              <a:rPr lang="en-US" sz="1900" b="1" dirty="0">
                <a:solidFill>
                  <a:srgbClr val="9E0012"/>
                </a:solidFill>
                <a:latin typeface="Calibri" pitchFamily="34" charset="0"/>
                <a:ea typeface="Calibri" pitchFamily="34" charset="-122"/>
                <a:cs typeface="Calibri" pitchFamily="34" charset="-120"/>
              </a:rPr>
              <a:t>Your next 30 days</a:t>
            </a:r>
            <a:endParaRPr lang="en-US" sz="1900" dirty="0"/>
          </a:p>
        </p:txBody>
      </p:sp>
      <p:sp>
        <p:nvSpPr>
          <p:cNvPr id="10" name="Shape 6"/>
          <p:cNvSpPr/>
          <p:nvPr/>
        </p:nvSpPr>
        <p:spPr>
          <a:xfrm>
            <a:off x="6995160" y="2148840"/>
            <a:ext cx="4663440" cy="777240"/>
          </a:xfrm>
          <a:prstGeom prst="roundRect">
            <a:avLst>
              <a:gd name="adj" fmla="val 11765"/>
            </a:avLst>
          </a:prstGeom>
          <a:solidFill>
            <a:srgbClr val="F4F4F4"/>
          </a:solidFill>
          <a:ln w="12700">
            <a:solidFill>
              <a:srgbClr val="F4F4F4"/>
            </a:solidFill>
            <a:prstDash val="solid"/>
          </a:ln>
        </p:spPr>
      </p:sp>
      <p:sp>
        <p:nvSpPr>
          <p:cNvPr id="11" name="Text 7"/>
          <p:cNvSpPr txBox="1"/>
          <p:nvPr/>
        </p:nvSpPr>
        <p:spPr>
          <a:xfrm>
            <a:off x="7132320" y="2148840"/>
            <a:ext cx="1005840" cy="77724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Week 1</a:t>
            </a:r>
            <a:endParaRPr lang="en-US" sz="1600" dirty="0"/>
          </a:p>
        </p:txBody>
      </p:sp>
      <p:sp>
        <p:nvSpPr>
          <p:cNvPr id="12" name="Text 8"/>
          <p:cNvSpPr txBox="1"/>
          <p:nvPr/>
        </p:nvSpPr>
        <p:spPr>
          <a:xfrm>
            <a:off x="8138160" y="2148840"/>
            <a:ext cx="3429000" cy="7772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Rewrite one old deck's titles</a:t>
            </a:r>
            <a:endParaRPr lang="en-US" sz="1600" dirty="0"/>
          </a:p>
        </p:txBody>
      </p:sp>
      <p:sp>
        <p:nvSpPr>
          <p:cNvPr id="13" name="Shape 9"/>
          <p:cNvSpPr/>
          <p:nvPr/>
        </p:nvSpPr>
        <p:spPr>
          <a:xfrm>
            <a:off x="6995160" y="3063240"/>
            <a:ext cx="4663440" cy="777240"/>
          </a:xfrm>
          <a:prstGeom prst="roundRect">
            <a:avLst>
              <a:gd name="adj" fmla="val 11765"/>
            </a:avLst>
          </a:prstGeom>
          <a:solidFill>
            <a:srgbClr val="FFFFFF"/>
          </a:solidFill>
          <a:ln w="12700">
            <a:solidFill>
              <a:srgbClr val="FFFFFF"/>
            </a:solidFill>
            <a:prstDash val="solid"/>
          </a:ln>
        </p:spPr>
      </p:sp>
      <p:sp>
        <p:nvSpPr>
          <p:cNvPr id="14" name="Text 10"/>
          <p:cNvSpPr txBox="1"/>
          <p:nvPr/>
        </p:nvSpPr>
        <p:spPr>
          <a:xfrm>
            <a:off x="7132320" y="3063240"/>
            <a:ext cx="1005840" cy="77724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Week 2</a:t>
            </a:r>
            <a:endParaRPr lang="en-US" sz="1600" dirty="0"/>
          </a:p>
        </p:txBody>
      </p:sp>
      <p:sp>
        <p:nvSpPr>
          <p:cNvPr id="15" name="Text 11"/>
          <p:cNvSpPr txBox="1"/>
          <p:nvPr/>
        </p:nvSpPr>
        <p:spPr>
          <a:xfrm>
            <a:off x="8138160" y="3063240"/>
            <a:ext cx="3429000" cy="7772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Open one meeting with your 4 blanks</a:t>
            </a:r>
            <a:endParaRPr lang="en-US" sz="1600" dirty="0"/>
          </a:p>
        </p:txBody>
      </p:sp>
      <p:sp>
        <p:nvSpPr>
          <p:cNvPr id="16" name="Shape 12"/>
          <p:cNvSpPr/>
          <p:nvPr/>
        </p:nvSpPr>
        <p:spPr>
          <a:xfrm>
            <a:off x="6995160" y="3977640"/>
            <a:ext cx="4663440" cy="777240"/>
          </a:xfrm>
          <a:prstGeom prst="roundRect">
            <a:avLst>
              <a:gd name="adj" fmla="val 11765"/>
            </a:avLst>
          </a:prstGeom>
          <a:solidFill>
            <a:srgbClr val="F4F4F4"/>
          </a:solidFill>
          <a:ln w="12700">
            <a:solidFill>
              <a:srgbClr val="F4F4F4"/>
            </a:solidFill>
            <a:prstDash val="solid"/>
          </a:ln>
        </p:spPr>
      </p:sp>
      <p:sp>
        <p:nvSpPr>
          <p:cNvPr id="17" name="Text 13"/>
          <p:cNvSpPr txBox="1"/>
          <p:nvPr/>
        </p:nvSpPr>
        <p:spPr>
          <a:xfrm>
            <a:off x="7132320" y="3977640"/>
            <a:ext cx="1005840" cy="77724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Week 3</a:t>
            </a:r>
            <a:endParaRPr lang="en-US" sz="1600" dirty="0"/>
          </a:p>
        </p:txBody>
      </p:sp>
      <p:sp>
        <p:nvSpPr>
          <p:cNvPr id="18" name="Text 14"/>
          <p:cNvSpPr txBox="1"/>
          <p:nvPr/>
        </p:nvSpPr>
        <p:spPr>
          <a:xfrm>
            <a:off x="8138160" y="3977640"/>
            <a:ext cx="3429000" cy="7772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Fix one chart: delete, grey, highlight</a:t>
            </a:r>
            <a:endParaRPr lang="en-US" sz="1600" dirty="0"/>
          </a:p>
        </p:txBody>
      </p:sp>
      <p:sp>
        <p:nvSpPr>
          <p:cNvPr id="19" name="Shape 15"/>
          <p:cNvSpPr/>
          <p:nvPr/>
        </p:nvSpPr>
        <p:spPr>
          <a:xfrm>
            <a:off x="6995160" y="4892040"/>
            <a:ext cx="4663440" cy="777240"/>
          </a:xfrm>
          <a:prstGeom prst="roundRect">
            <a:avLst>
              <a:gd name="adj" fmla="val 11765"/>
            </a:avLst>
          </a:prstGeom>
          <a:solidFill>
            <a:srgbClr val="FFFFFF"/>
          </a:solidFill>
          <a:ln w="12700">
            <a:solidFill>
              <a:srgbClr val="FFFFFF"/>
            </a:solidFill>
            <a:prstDash val="solid"/>
          </a:ln>
        </p:spPr>
      </p:sp>
      <p:sp>
        <p:nvSpPr>
          <p:cNvPr id="20" name="Text 16"/>
          <p:cNvSpPr txBox="1"/>
          <p:nvPr/>
        </p:nvSpPr>
        <p:spPr>
          <a:xfrm>
            <a:off x="7132320" y="4892040"/>
            <a:ext cx="1005840" cy="77724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Week 4</a:t>
            </a:r>
            <a:endParaRPr lang="en-US" sz="1600" dirty="0"/>
          </a:p>
        </p:txBody>
      </p:sp>
      <p:sp>
        <p:nvSpPr>
          <p:cNvPr id="21" name="Text 17"/>
          <p:cNvSpPr txBox="1"/>
          <p:nvPr/>
        </p:nvSpPr>
        <p:spPr>
          <a:xfrm>
            <a:off x="8138160" y="4892040"/>
            <a:ext cx="3429000" cy="7772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Rehearse aloud 3× before a real meeting</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7071183" y="0"/>
            <a:ext cx="5120512" cy="6858000"/>
          </a:xfrm>
          <a:prstGeom prst="rect">
            <a:avLst/>
          </a:prstGeom>
          <a:solidFill>
            <a:srgbClr val="9E0012"/>
          </a:solidFill>
          <a:ln w="12700">
            <a:solidFill>
              <a:srgbClr val="9E0012"/>
            </a:solidFill>
            <a:prstDash val="solid"/>
          </a:ln>
        </p:spPr>
      </p:sp>
      <p:sp>
        <p:nvSpPr>
          <p:cNvPr id="3" name="Shape 1"/>
          <p:cNvSpPr/>
          <p:nvPr/>
        </p:nvSpPr>
        <p:spPr>
          <a:xfrm>
            <a:off x="7583234" y="1380795"/>
            <a:ext cx="4096410" cy="4096410"/>
          </a:xfrm>
          <a:prstGeom prst="ellipse">
            <a:avLst/>
          </a:prstGeom>
          <a:solidFill>
            <a:srgbClr val="E3001B">
              <a:alpha val="60000"/>
            </a:srgbClr>
          </a:solidFill>
          <a:ln w="12700">
            <a:solidFill>
              <a:srgbClr val="E3001B">
                <a:alpha val="0"/>
              </a:srgbClr>
            </a:solidFill>
            <a:prstDash val="solid"/>
          </a:ln>
        </p:spPr>
      </p:sp>
      <p:pic>
        <p:nvPicPr>
          <p:cNvPr id="4" name="Image 0" descr="diverse Indonesian team applauding at the end of a workshop">    </p:cNvPr>
          <p:cNvPicPr>
            <a:picLocks noChangeAspect="1"/>
          </p:cNvPicPr>
          <p:nvPr/>
        </p:nvPicPr>
        <p:blipFill>
          <a:blip r:embed="rId1">
            <a:alphaModFix amt="90000"/>
          </a:blip>
          <a:stretch>
            <a:fillRect/>
          </a:stretch>
        </p:blipFill>
        <p:spPr>
          <a:xfrm>
            <a:off x="8853121" y="2650682"/>
            <a:ext cx="1556636" cy="1556636"/>
          </a:xfrm>
          <a:prstGeom prst="rect">
            <a:avLst/>
          </a:prstGeom>
        </p:spPr>
      </p:pic>
      <p:sp>
        <p:nvSpPr>
          <p:cNvPr id="5" name="Text 2"/>
          <p:cNvSpPr txBox="1"/>
          <p:nvPr/>
        </p:nvSpPr>
        <p:spPr>
          <a:xfrm>
            <a:off x="548640" y="640080"/>
            <a:ext cx="6309360" cy="914400"/>
          </a:xfrm>
          <a:prstGeom prst="rect">
            <a:avLst/>
          </a:prstGeom>
          <a:noFill/>
          <a:ln/>
        </p:spPr>
        <p:txBody>
          <a:bodyPr wrap="square" lIns="635" tIns="635" rIns="635" bIns="635" rtlCol="0" anchor="ctr"/>
          <a:lstStyle/>
          <a:p>
            <a:pPr indent="0" marL="0">
              <a:buNone/>
            </a:pPr>
            <a:r>
              <a:rPr lang="en-US" sz="3400" b="1" dirty="0">
                <a:solidFill>
                  <a:srgbClr val="FFFFFF"/>
                </a:solidFill>
                <a:latin typeface="Arial" pitchFamily="34" charset="0"/>
                <a:ea typeface="Arial" pitchFamily="34" charset="-122"/>
                <a:cs typeface="Arial" pitchFamily="34" charset="-120"/>
              </a:rPr>
              <a:t>You now have four moves</a:t>
            </a:r>
            <a:endParaRPr lang="en-US" sz="3400" dirty="0"/>
          </a:p>
        </p:txBody>
      </p:sp>
      <p:sp>
        <p:nvSpPr>
          <p:cNvPr id="6" name="Text 3"/>
          <p:cNvSpPr txBox="1"/>
          <p:nvPr/>
        </p:nvSpPr>
        <p:spPr>
          <a:xfrm>
            <a:off x="548640" y="1828800"/>
            <a:ext cx="594360" cy="594360"/>
          </a:xfrm>
          <a:prstGeom prst="ellipse">
            <a:avLst/>
          </a:prstGeom>
          <a:solidFill>
            <a:srgbClr val="FFFFFF"/>
          </a:solidFill>
          <a:ln/>
        </p:spPr>
        <p:txBody>
          <a:bodyPr wrap="square" lIns="0" tIns="0" rIns="0" bIns="0" rtlCol="0" anchor="ctr"/>
          <a:lstStyle/>
          <a:p>
            <a:pPr algn="ctr" indent="0" marL="0">
              <a:buNone/>
            </a:pPr>
            <a:r>
              <a:rPr lang="en-US" sz="2200" b="1" dirty="0">
                <a:solidFill>
                  <a:srgbClr val="9E0012"/>
                </a:solidFill>
                <a:latin typeface="Calibri" pitchFamily="34" charset="0"/>
                <a:ea typeface="Calibri" pitchFamily="34" charset="-122"/>
                <a:cs typeface="Calibri" pitchFamily="34" charset="-120"/>
              </a:rPr>
              <a:t>1</a:t>
            </a:r>
            <a:endParaRPr lang="en-US" sz="2200" dirty="0"/>
          </a:p>
        </p:txBody>
      </p:sp>
      <p:sp>
        <p:nvSpPr>
          <p:cNvPr id="7" name="Text 4"/>
          <p:cNvSpPr txBox="1"/>
          <p:nvPr/>
        </p:nvSpPr>
        <p:spPr>
          <a:xfrm>
            <a:off x="1371600" y="1828800"/>
            <a:ext cx="5486400" cy="594360"/>
          </a:xfrm>
          <a:prstGeom prst="rect">
            <a:avLst/>
          </a:prstGeom>
          <a:noFill/>
          <a:ln/>
        </p:spPr>
        <p:txBody>
          <a:bodyPr wrap="square" lIns="635" tIns="635" rIns="635" bIns="635"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Answer first</a:t>
            </a:r>
            <a:endParaRPr lang="en-US" sz="2600" dirty="0"/>
          </a:p>
        </p:txBody>
      </p:sp>
      <p:sp>
        <p:nvSpPr>
          <p:cNvPr id="8" name="Text 5"/>
          <p:cNvSpPr txBox="1"/>
          <p:nvPr/>
        </p:nvSpPr>
        <p:spPr>
          <a:xfrm>
            <a:off x="548640" y="2697480"/>
            <a:ext cx="594360" cy="594360"/>
          </a:xfrm>
          <a:prstGeom prst="ellipse">
            <a:avLst/>
          </a:prstGeom>
          <a:solidFill>
            <a:srgbClr val="FFFFFF"/>
          </a:solidFill>
          <a:ln/>
        </p:spPr>
        <p:txBody>
          <a:bodyPr wrap="square" lIns="0" tIns="0" rIns="0" bIns="0" rtlCol="0" anchor="ctr"/>
          <a:lstStyle/>
          <a:p>
            <a:pPr algn="ctr" indent="0" marL="0">
              <a:buNone/>
            </a:pPr>
            <a:r>
              <a:rPr lang="en-US" sz="2200" b="1" dirty="0">
                <a:solidFill>
                  <a:srgbClr val="9E0012"/>
                </a:solidFill>
                <a:latin typeface="Calibri" pitchFamily="34" charset="0"/>
                <a:ea typeface="Calibri" pitchFamily="34" charset="-122"/>
                <a:cs typeface="Calibri" pitchFamily="34" charset="-120"/>
              </a:rPr>
              <a:t>2</a:t>
            </a:r>
            <a:endParaRPr lang="en-US" sz="2200" dirty="0"/>
          </a:p>
        </p:txBody>
      </p:sp>
      <p:sp>
        <p:nvSpPr>
          <p:cNvPr id="9" name="Text 6"/>
          <p:cNvSpPr txBox="1"/>
          <p:nvPr/>
        </p:nvSpPr>
        <p:spPr>
          <a:xfrm>
            <a:off x="1371600" y="2697480"/>
            <a:ext cx="5486400" cy="594360"/>
          </a:xfrm>
          <a:prstGeom prst="rect">
            <a:avLst/>
          </a:prstGeom>
          <a:noFill/>
          <a:ln/>
        </p:spPr>
        <p:txBody>
          <a:bodyPr wrap="square" lIns="635" tIns="635" rIns="635" bIns="635"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Story in the titles</a:t>
            </a:r>
            <a:endParaRPr lang="en-US" sz="2600" dirty="0"/>
          </a:p>
        </p:txBody>
      </p:sp>
      <p:sp>
        <p:nvSpPr>
          <p:cNvPr id="10" name="Text 7"/>
          <p:cNvSpPr txBox="1"/>
          <p:nvPr/>
        </p:nvSpPr>
        <p:spPr>
          <a:xfrm>
            <a:off x="548640" y="3566160"/>
            <a:ext cx="594360" cy="594360"/>
          </a:xfrm>
          <a:prstGeom prst="ellipse">
            <a:avLst/>
          </a:prstGeom>
          <a:solidFill>
            <a:srgbClr val="FFFFFF"/>
          </a:solidFill>
          <a:ln/>
        </p:spPr>
        <p:txBody>
          <a:bodyPr wrap="square" lIns="0" tIns="0" rIns="0" bIns="0" rtlCol="0" anchor="ctr"/>
          <a:lstStyle/>
          <a:p>
            <a:pPr algn="ctr" indent="0" marL="0">
              <a:buNone/>
            </a:pPr>
            <a:r>
              <a:rPr lang="en-US" sz="2200" b="1" dirty="0">
                <a:solidFill>
                  <a:srgbClr val="9E0012"/>
                </a:solidFill>
                <a:latin typeface="Calibri" pitchFamily="34" charset="0"/>
                <a:ea typeface="Calibri" pitchFamily="34" charset="-122"/>
                <a:cs typeface="Calibri" pitchFamily="34" charset="-120"/>
              </a:rPr>
              <a:t>3</a:t>
            </a:r>
            <a:endParaRPr lang="en-US" sz="2200" dirty="0"/>
          </a:p>
        </p:txBody>
      </p:sp>
      <p:sp>
        <p:nvSpPr>
          <p:cNvPr id="11" name="Text 8"/>
          <p:cNvSpPr txBox="1"/>
          <p:nvPr/>
        </p:nvSpPr>
        <p:spPr>
          <a:xfrm>
            <a:off x="1371600" y="3566160"/>
            <a:ext cx="5486400" cy="594360"/>
          </a:xfrm>
          <a:prstGeom prst="rect">
            <a:avLst/>
          </a:prstGeom>
          <a:noFill/>
          <a:ln/>
        </p:spPr>
        <p:txBody>
          <a:bodyPr wrap="square" lIns="635" tIns="635" rIns="635" bIns="635"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One chart, one number</a:t>
            </a:r>
            <a:endParaRPr lang="en-US" sz="2600" dirty="0"/>
          </a:p>
        </p:txBody>
      </p:sp>
      <p:sp>
        <p:nvSpPr>
          <p:cNvPr id="12" name="Text 9"/>
          <p:cNvSpPr txBox="1"/>
          <p:nvPr/>
        </p:nvSpPr>
        <p:spPr>
          <a:xfrm>
            <a:off x="548640" y="4434840"/>
            <a:ext cx="594360" cy="594360"/>
          </a:xfrm>
          <a:prstGeom prst="ellipse">
            <a:avLst/>
          </a:prstGeom>
          <a:solidFill>
            <a:srgbClr val="FFFFFF"/>
          </a:solidFill>
          <a:ln/>
        </p:spPr>
        <p:txBody>
          <a:bodyPr wrap="square" lIns="0" tIns="0" rIns="0" bIns="0" rtlCol="0" anchor="ctr"/>
          <a:lstStyle/>
          <a:p>
            <a:pPr algn="ctr" indent="0" marL="0">
              <a:buNone/>
            </a:pPr>
            <a:r>
              <a:rPr lang="en-US" sz="2200" b="1" dirty="0">
                <a:solidFill>
                  <a:srgbClr val="9E0012"/>
                </a:solidFill>
                <a:latin typeface="Calibri" pitchFamily="34" charset="0"/>
                <a:ea typeface="Calibri" pitchFamily="34" charset="-122"/>
                <a:cs typeface="Calibri" pitchFamily="34" charset="-120"/>
              </a:rPr>
              <a:t>4</a:t>
            </a:r>
            <a:endParaRPr lang="en-US" sz="2200" dirty="0"/>
          </a:p>
        </p:txBody>
      </p:sp>
      <p:sp>
        <p:nvSpPr>
          <p:cNvPr id="13" name="Text 10"/>
          <p:cNvSpPr txBox="1"/>
          <p:nvPr/>
        </p:nvSpPr>
        <p:spPr>
          <a:xfrm>
            <a:off x="1371600" y="4434840"/>
            <a:ext cx="5486400" cy="594360"/>
          </a:xfrm>
          <a:prstGeom prst="rect">
            <a:avLst/>
          </a:prstGeom>
          <a:noFill/>
          <a:ln/>
        </p:spPr>
        <p:txBody>
          <a:bodyPr wrap="square" lIns="635" tIns="635" rIns="635" bIns="635"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Own the room</a:t>
            </a:r>
            <a:endParaRPr lang="en-US" sz="2600" dirty="0"/>
          </a:p>
        </p:txBody>
      </p:sp>
      <p:sp>
        <p:nvSpPr>
          <p:cNvPr id="14" name="Text 11"/>
          <p:cNvSpPr txBox="1"/>
          <p:nvPr/>
        </p:nvSpPr>
        <p:spPr>
          <a:xfrm>
            <a:off x="548640" y="5486400"/>
            <a:ext cx="6309360" cy="731520"/>
          </a:xfrm>
          <a:prstGeom prst="rect">
            <a:avLst/>
          </a:prstGeom>
          <a:noFill/>
          <a:ln/>
        </p:spPr>
        <p:txBody>
          <a:bodyPr wrap="square" lIns="635" tIns="635" rIns="635" bIns="635" rtlCol="0" anchor="ctr"/>
          <a:lstStyle/>
          <a:p>
            <a:pPr indent="0" marL="0">
              <a:buNone/>
            </a:pPr>
            <a:r>
              <a:rPr lang="en-US" sz="2000" b="1" i="1" dirty="0">
                <a:solidFill>
                  <a:srgbClr val="FFB3BB"/>
                </a:solidFill>
                <a:latin typeface="Calibri" pitchFamily="34" charset="0"/>
                <a:ea typeface="Calibri" pitchFamily="34" charset="-122"/>
                <a:cs typeface="Calibri" pitchFamily="34" charset="-120"/>
              </a:rPr>
              <a:t>Your next presentation is your next practice round.</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635" tIns="635" rIns="635" bIns="635" rtlCol="0" anchor="ctr"/>
          <a:lstStyle/>
          <a:p>
            <a:pPr indent="0" marL="0">
              <a:buNone/>
            </a:pPr>
            <a:r>
              <a:rPr lang="en-US" sz="2400" b="1" dirty="0">
                <a:solidFill>
                  <a:srgbClr val="1A1A1A"/>
                </a:solidFill>
                <a:latin typeface="Arial" pitchFamily="34" charset="0"/>
                <a:ea typeface="Arial" pitchFamily="34" charset="-122"/>
                <a:cs typeface="Arial" pitchFamily="34" charset="-120"/>
              </a:rPr>
              <a:t>Presentation cheat sheet: check every box before you present</a:t>
            </a:r>
            <a:endParaRPr lang="en-US" sz="2400" dirty="0"/>
          </a:p>
        </p:txBody>
      </p:sp>
      <p:sp>
        <p:nvSpPr>
          <p:cNvPr id="3" name="Shape 1"/>
          <p:cNvSpPr/>
          <p:nvPr/>
        </p:nvSpPr>
        <p:spPr>
          <a:xfrm>
            <a:off x="548640" y="1234440"/>
            <a:ext cx="3566160" cy="2331720"/>
          </a:xfrm>
          <a:prstGeom prst="roundRect">
            <a:avLst>
              <a:gd name="adj" fmla="val 3922"/>
            </a:avLst>
          </a:prstGeom>
          <a:solidFill>
            <a:srgbClr val="F4F4F4"/>
          </a:solidFill>
          <a:ln w="12700">
            <a:solidFill>
              <a:srgbClr val="E0E0E0"/>
            </a:solidFill>
            <a:prstDash val="solid"/>
          </a:ln>
        </p:spPr>
      </p:sp>
      <p:sp>
        <p:nvSpPr>
          <p:cNvPr id="4" name="Text 2"/>
          <p:cNvSpPr txBox="1"/>
          <p:nvPr/>
        </p:nvSpPr>
        <p:spPr>
          <a:xfrm>
            <a:off x="731520" y="13258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Before you build</a:t>
            </a:r>
            <a:endParaRPr lang="en-US" sz="1700" dirty="0"/>
          </a:p>
        </p:txBody>
      </p:sp>
      <p:sp>
        <p:nvSpPr>
          <p:cNvPr id="5" name="Text 3"/>
          <p:cNvSpPr txBox="1"/>
          <p:nvPr/>
        </p:nvSpPr>
        <p:spPr>
          <a:xfrm>
            <a:off x="731520" y="17830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know who decides and what they can approve</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know what they must know, feel and do</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know their likely push-back</a:t>
            </a:r>
            <a:endParaRPr lang="en-US" sz="1400" dirty="0"/>
          </a:p>
        </p:txBody>
      </p:sp>
      <p:sp>
        <p:nvSpPr>
          <p:cNvPr id="6" name="Shape 4"/>
          <p:cNvSpPr/>
          <p:nvPr/>
        </p:nvSpPr>
        <p:spPr>
          <a:xfrm>
            <a:off x="4297680" y="1234440"/>
            <a:ext cx="3566160" cy="2331720"/>
          </a:xfrm>
          <a:prstGeom prst="roundRect">
            <a:avLst>
              <a:gd name="adj" fmla="val 3922"/>
            </a:avLst>
          </a:prstGeom>
          <a:solidFill>
            <a:srgbClr val="FFFFFF"/>
          </a:solidFill>
          <a:ln w="12700">
            <a:solidFill>
              <a:srgbClr val="E0E0E0"/>
            </a:solidFill>
            <a:prstDash val="solid"/>
          </a:ln>
        </p:spPr>
      </p:sp>
      <p:sp>
        <p:nvSpPr>
          <p:cNvPr id="7" name="Text 5"/>
          <p:cNvSpPr txBox="1"/>
          <p:nvPr/>
        </p:nvSpPr>
        <p:spPr>
          <a:xfrm>
            <a:off x="4480560" y="13258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1 · Answer first</a:t>
            </a:r>
            <a:endParaRPr lang="en-US" sz="1700" dirty="0"/>
          </a:p>
        </p:txBody>
      </p:sp>
      <p:sp>
        <p:nvSpPr>
          <p:cNvPr id="8" name="Text 6"/>
          <p:cNvSpPr txBox="1"/>
          <p:nvPr/>
        </p:nvSpPr>
        <p:spPr>
          <a:xfrm>
            <a:off x="4480560" y="17830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My answer is one sentence starting with a verb</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Today / But / So / I recommend in 30 seconds</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Someone could disagree with it</a:t>
            </a:r>
            <a:endParaRPr lang="en-US" sz="1400" dirty="0"/>
          </a:p>
        </p:txBody>
      </p:sp>
      <p:sp>
        <p:nvSpPr>
          <p:cNvPr id="9" name="Shape 7"/>
          <p:cNvSpPr/>
          <p:nvPr/>
        </p:nvSpPr>
        <p:spPr>
          <a:xfrm>
            <a:off x="8046720" y="1234440"/>
            <a:ext cx="3566160" cy="2331720"/>
          </a:xfrm>
          <a:prstGeom prst="roundRect">
            <a:avLst>
              <a:gd name="adj" fmla="val 3922"/>
            </a:avLst>
          </a:prstGeom>
          <a:solidFill>
            <a:srgbClr val="F4F4F4"/>
          </a:solidFill>
          <a:ln w="12700">
            <a:solidFill>
              <a:srgbClr val="E0E0E0"/>
            </a:solidFill>
            <a:prstDash val="solid"/>
          </a:ln>
        </p:spPr>
      </p:sp>
      <p:sp>
        <p:nvSpPr>
          <p:cNvPr id="10" name="Text 8"/>
          <p:cNvSpPr txBox="1"/>
          <p:nvPr/>
        </p:nvSpPr>
        <p:spPr>
          <a:xfrm>
            <a:off x="8229600" y="13258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2 · Story in the titles</a:t>
            </a:r>
            <a:endParaRPr lang="en-US" sz="1700" dirty="0"/>
          </a:p>
        </p:txBody>
      </p:sp>
      <p:sp>
        <p:nvSpPr>
          <p:cNvPr id="11" name="Text 9"/>
          <p:cNvSpPr txBox="1"/>
          <p:nvPr/>
        </p:nvSpPr>
        <p:spPr>
          <a:xfrm>
            <a:off x="8229600" y="17830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Every title is a full-sentence takeaway</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Reading only the titles tells the whole story</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Slide 1 = the answer; last slide = the ask</a:t>
            </a:r>
            <a:endParaRPr lang="en-US" sz="1400" dirty="0"/>
          </a:p>
        </p:txBody>
      </p:sp>
      <p:sp>
        <p:nvSpPr>
          <p:cNvPr id="12" name="Shape 10"/>
          <p:cNvSpPr/>
          <p:nvPr/>
        </p:nvSpPr>
        <p:spPr>
          <a:xfrm>
            <a:off x="548640" y="3749040"/>
            <a:ext cx="3566160" cy="2331720"/>
          </a:xfrm>
          <a:prstGeom prst="roundRect">
            <a:avLst>
              <a:gd name="adj" fmla="val 3922"/>
            </a:avLst>
          </a:prstGeom>
          <a:solidFill>
            <a:srgbClr val="FFFFFF"/>
          </a:solidFill>
          <a:ln w="12700">
            <a:solidFill>
              <a:srgbClr val="E0E0E0"/>
            </a:solidFill>
            <a:prstDash val="solid"/>
          </a:ln>
        </p:spPr>
      </p:sp>
      <p:sp>
        <p:nvSpPr>
          <p:cNvPr id="13" name="Text 11"/>
          <p:cNvSpPr txBox="1"/>
          <p:nvPr/>
        </p:nvSpPr>
        <p:spPr>
          <a:xfrm>
            <a:off x="731520" y="38404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3 · One chart, one number</a:t>
            </a:r>
            <a:endParaRPr lang="en-US" sz="1700" dirty="0"/>
          </a:p>
        </p:txBody>
      </p:sp>
      <p:sp>
        <p:nvSpPr>
          <p:cNvPr id="14" name="Text 12"/>
          <p:cNvSpPr txBox="1"/>
          <p:nvPr/>
        </p:nvSpPr>
        <p:spPr>
          <a:xfrm>
            <a:off x="731520" y="42976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One message and one chart per slide</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Chart type matches the message</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Delete, grey, highlight: one red thing only</a:t>
            </a:r>
            <a:endParaRPr lang="en-US" sz="1400" dirty="0"/>
          </a:p>
        </p:txBody>
      </p:sp>
      <p:sp>
        <p:nvSpPr>
          <p:cNvPr id="15" name="Shape 13"/>
          <p:cNvSpPr/>
          <p:nvPr/>
        </p:nvSpPr>
        <p:spPr>
          <a:xfrm>
            <a:off x="4297680" y="3749040"/>
            <a:ext cx="3566160" cy="2331720"/>
          </a:xfrm>
          <a:prstGeom prst="roundRect">
            <a:avLst>
              <a:gd name="adj" fmla="val 3922"/>
            </a:avLst>
          </a:prstGeom>
          <a:solidFill>
            <a:srgbClr val="F4F4F4"/>
          </a:solidFill>
          <a:ln w="12700">
            <a:solidFill>
              <a:srgbClr val="E0E0E0"/>
            </a:solidFill>
            <a:prstDash val="solid"/>
          </a:ln>
        </p:spPr>
      </p:sp>
      <p:sp>
        <p:nvSpPr>
          <p:cNvPr id="16" name="Text 14"/>
          <p:cNvSpPr txBox="1"/>
          <p:nvPr/>
        </p:nvSpPr>
        <p:spPr>
          <a:xfrm>
            <a:off x="4480560" y="38404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4 · Own the room</a:t>
            </a:r>
            <a:endParaRPr lang="en-US" sz="1700" dirty="0"/>
          </a:p>
        </p:txBody>
      </p:sp>
      <p:sp>
        <p:nvSpPr>
          <p:cNvPr id="17" name="Text 15"/>
          <p:cNvSpPr txBox="1"/>
          <p:nvPr/>
        </p:nvSpPr>
        <p:spPr>
          <a:xfrm>
            <a:off x="4480560" y="42976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Rehearsed aloud 3 times, once timed</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Opening promise ready; pause after key numbers</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Last slide shows contributions, not 'Thank you'</a:t>
            </a:r>
            <a:endParaRPr lang="en-US" sz="1400" dirty="0"/>
          </a:p>
        </p:txBody>
      </p:sp>
      <p:sp>
        <p:nvSpPr>
          <p:cNvPr id="18" name="Shape 16"/>
          <p:cNvSpPr/>
          <p:nvPr/>
        </p:nvSpPr>
        <p:spPr>
          <a:xfrm>
            <a:off x="8046720" y="3749040"/>
            <a:ext cx="3566160" cy="2331720"/>
          </a:xfrm>
          <a:prstGeom prst="roundRect">
            <a:avLst>
              <a:gd name="adj" fmla="val 3922"/>
            </a:avLst>
          </a:prstGeom>
          <a:solidFill>
            <a:srgbClr val="FFFFFF"/>
          </a:solidFill>
          <a:ln w="12700">
            <a:solidFill>
              <a:srgbClr val="E0E0E0"/>
            </a:solidFill>
            <a:prstDash val="solid"/>
          </a:ln>
        </p:spPr>
      </p:sp>
      <p:sp>
        <p:nvSpPr>
          <p:cNvPr id="19" name="Text 17"/>
          <p:cNvSpPr txBox="1"/>
          <p:nvPr/>
        </p:nvSpPr>
        <p:spPr>
          <a:xfrm>
            <a:off x="8229600" y="38404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4 · Tough questions</a:t>
            </a:r>
            <a:endParaRPr lang="en-US" sz="1700" dirty="0"/>
          </a:p>
        </p:txBody>
      </p:sp>
      <p:sp>
        <p:nvSpPr>
          <p:cNvPr id="20" name="Text 18"/>
          <p:cNvSpPr txBox="1"/>
          <p:nvPr/>
        </p:nvSpPr>
        <p:spPr>
          <a:xfrm>
            <a:off x="8229600" y="42976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Top 5 tough questions listed and answered</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Acknowledge → answer short → bridge back</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Backup data in appendix; follow-ups promised with a time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7315200" cy="731520"/>
          </a:xfrm>
          <a:prstGeom prst="rect">
            <a:avLst/>
          </a:prstGeom>
          <a:noFill/>
          <a:ln/>
        </p:spPr>
        <p:txBody>
          <a:bodyPr wrap="square" lIns="635" tIns="635" rIns="635" bIns="635" rtlCol="0" anchor="ctr"/>
          <a:lstStyle/>
          <a:p>
            <a:pPr indent="0" marL="0">
              <a:buNone/>
            </a:pPr>
            <a:r>
              <a:rPr lang="en-US" sz="2400" b="1" dirty="0">
                <a:solidFill>
                  <a:srgbClr val="1A1A1A"/>
                </a:solidFill>
                <a:latin typeface="Arial" pitchFamily="34" charset="0"/>
                <a:ea typeface="Arial" pitchFamily="34" charset="-122"/>
                <a:cs typeface="Arial" pitchFamily="34" charset="-120"/>
              </a:rPr>
              <a:t>Peer feedback form</a:t>
            </a:r>
            <a:endParaRPr lang="en-US" sz="2400" dirty="0"/>
          </a:p>
        </p:txBody>
      </p:sp>
      <p:sp>
        <p:nvSpPr>
          <p:cNvPr id="3" name="Text 1"/>
          <p:cNvSpPr txBox="1"/>
          <p:nvPr/>
        </p:nvSpPr>
        <p:spPr>
          <a:xfrm>
            <a:off x="548640" y="1051560"/>
            <a:ext cx="11064240" cy="365760"/>
          </a:xfrm>
          <a:prstGeom prst="rect">
            <a:avLst/>
          </a:prstGeom>
          <a:noFill/>
          <a:ln/>
        </p:spPr>
        <p:txBody>
          <a:bodyPr wrap="square" lIns="635" tIns="635" rIns="635" bIns="635" rtlCol="0" anchor="ctr"/>
          <a:lstStyle/>
          <a:p>
            <a:pPr indent="0" marL="0">
              <a:buNone/>
            </a:pPr>
            <a:r>
              <a:rPr lang="en-US" sz="1400" dirty="0">
                <a:solidFill>
                  <a:srgbClr val="6B6B6B"/>
                </a:solidFill>
                <a:latin typeface="Calibri" pitchFamily="34" charset="0"/>
                <a:ea typeface="Calibri" pitchFamily="34" charset="-122"/>
                <a:cs typeface="Calibri" pitchFamily="34" charset="-120"/>
              </a:rPr>
              <a:t>Presenter: ____________   Feedback from: ____________   Topic: ______________________</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3291840"/>
                <a:gridCol w="502920"/>
                <a:gridCol w="502920"/>
                <a:gridCol w="502920"/>
                <a:gridCol w="502920"/>
                <a:gridCol w="35661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good looks like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One specific note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Clear ask</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I can repeat what they want in one sentence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Answer first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Recommendation in the first 30 seconds</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Titles tell the story</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Full-sentence titles; headline test passes</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One number stands out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Right chart; one red highlight; no clutter</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Calm under questions</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Acknowledge → answer short → bridge back</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4892040"/>
            <a:ext cx="10972800" cy="320040"/>
          </a:xfrm>
          <a:prstGeom prst="rect">
            <a:avLst/>
          </a:prstGeom>
          <a:noFill/>
          <a:ln/>
        </p:spPr>
        <p:txBody>
          <a:bodyPr wrap="square" lIns="635" tIns="635" rIns="635" bIns="635"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Scale: 1 = not yet · 2 = partly · 3 = clearly · 4 = executive-ready</a:t>
            </a:r>
            <a:endParaRPr lang="en-US" sz="1300" dirty="0"/>
          </a:p>
        </p:txBody>
      </p:sp>
      <p:sp>
        <p:nvSpPr>
          <p:cNvPr id="6" name="Shape 3"/>
          <p:cNvSpPr/>
          <p:nvPr/>
        </p:nvSpPr>
        <p:spPr>
          <a:xfrm>
            <a:off x="548640" y="5303520"/>
            <a:ext cx="5394960" cy="960120"/>
          </a:xfrm>
          <a:prstGeom prst="roundRect">
            <a:avLst>
              <a:gd name="adj" fmla="val 9524"/>
            </a:avLst>
          </a:prstGeom>
          <a:solidFill>
            <a:srgbClr val="FDECEE"/>
          </a:solidFill>
          <a:ln w="12700">
            <a:solidFill>
              <a:srgbClr val="FDECEE"/>
            </a:solidFill>
            <a:prstDash val="solid"/>
          </a:ln>
        </p:spPr>
      </p:sp>
      <p:sp>
        <p:nvSpPr>
          <p:cNvPr id="7" name="Text 4"/>
          <p:cNvSpPr txBox="1"/>
          <p:nvPr/>
        </p:nvSpPr>
        <p:spPr>
          <a:xfrm>
            <a:off x="731520" y="5349240"/>
            <a:ext cx="5029200" cy="36576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One thing that worked:</a:t>
            </a:r>
            <a:endParaRPr lang="en-US" sz="1400" dirty="0"/>
          </a:p>
        </p:txBody>
      </p:sp>
      <p:sp>
        <p:nvSpPr>
          <p:cNvPr id="8" name="Shape 5"/>
          <p:cNvSpPr/>
          <p:nvPr/>
        </p:nvSpPr>
        <p:spPr>
          <a:xfrm>
            <a:off x="6263640" y="5303520"/>
            <a:ext cx="5394960" cy="960120"/>
          </a:xfrm>
          <a:prstGeom prst="roundRect">
            <a:avLst>
              <a:gd name="adj" fmla="val 9524"/>
            </a:avLst>
          </a:prstGeom>
          <a:solidFill>
            <a:srgbClr val="F4F4F4"/>
          </a:solidFill>
          <a:ln w="12700">
            <a:solidFill>
              <a:srgbClr val="F4F4F4"/>
            </a:solidFill>
            <a:prstDash val="solid"/>
          </a:ln>
        </p:spPr>
      </p:sp>
      <p:sp>
        <p:nvSpPr>
          <p:cNvPr id="9" name="Text 6"/>
          <p:cNvSpPr txBox="1"/>
          <p:nvPr/>
        </p:nvSpPr>
        <p:spPr>
          <a:xfrm>
            <a:off x="6446520" y="5349240"/>
            <a:ext cx="5029200" cy="365760"/>
          </a:xfrm>
          <a:prstGeom prst="rect">
            <a:avLst/>
          </a:prstGeom>
          <a:noFill/>
          <a:ln/>
        </p:spPr>
        <p:txBody>
          <a:bodyPr wrap="square" lIns="635" tIns="635" rIns="635" bIns="635"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One thing to try next time: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635" tIns="635" rIns="635" bIns="635" rtlCol="0" anchor="ctr"/>
          <a:lstStyle/>
          <a:p>
            <a:pPr indent="0" marL="0">
              <a:buNone/>
            </a:pPr>
            <a:r>
              <a:rPr lang="en-US" sz="2400" b="1" dirty="0">
                <a:solidFill>
                  <a:srgbClr val="1A1A1A"/>
                </a:solidFill>
                <a:latin typeface="Arial" pitchFamily="34" charset="0"/>
                <a:ea typeface="Arial" pitchFamily="34" charset="-122"/>
                <a:cs typeface="Arial" pitchFamily="34" charset="-120"/>
              </a:rPr>
              <a:t>30-day practice plan: one small habit per week, about 20 minutes each</a:t>
            </a:r>
            <a:endParaRPr lang="en-US" sz="2400" dirty="0"/>
          </a:p>
        </p:txBody>
      </p:sp>
      <p:sp>
        <p:nvSpPr>
          <p:cNvPr id="3" name="Shape 1"/>
          <p:cNvSpPr/>
          <p:nvPr/>
        </p:nvSpPr>
        <p:spPr>
          <a:xfrm>
            <a:off x="548640" y="1234440"/>
            <a:ext cx="2606040" cy="4983480"/>
          </a:xfrm>
          <a:prstGeom prst="roundRect">
            <a:avLst>
              <a:gd name="adj" fmla="val 3509"/>
            </a:avLst>
          </a:prstGeom>
          <a:solidFill>
            <a:srgbClr val="F4F4F4"/>
          </a:solidFill>
          <a:ln w="12700">
            <a:solidFill>
              <a:srgbClr val="E0E0E0"/>
            </a:solidFill>
            <a:prstDash val="solid"/>
          </a:ln>
        </p:spPr>
      </p:sp>
      <p:sp>
        <p:nvSpPr>
          <p:cNvPr id="4" name="Shape 2"/>
          <p:cNvSpPr/>
          <p:nvPr/>
        </p:nvSpPr>
        <p:spPr>
          <a:xfrm>
            <a:off x="731520" y="1417320"/>
            <a:ext cx="685800" cy="685800"/>
          </a:xfrm>
          <a:prstGeom prst="ellipse">
            <a:avLst/>
          </a:prstGeom>
          <a:solidFill>
            <a:srgbClr val="E3001B"/>
          </a:solidFill>
          <a:ln w="12700">
            <a:solidFill>
              <a:srgbClr val="E3001B"/>
            </a:solidFill>
            <a:prstDash val="solid"/>
          </a:ln>
        </p:spPr>
      </p:sp>
      <p:pic>
        <p:nvPicPr>
          <p:cNvPr id="5" name="Image 0" descr="preencoded.png">    </p:cNvPr>
          <p:cNvPicPr>
            <a:picLocks noChangeAspect="1"/>
          </p:cNvPicPr>
          <p:nvPr/>
        </p:nvPicPr>
        <p:blipFill>
          <a:blip r:embed="rId1"/>
          <a:stretch>
            <a:fillRect/>
          </a:stretch>
        </p:blipFill>
        <p:spPr>
          <a:xfrm>
            <a:off x="923544" y="1609344"/>
            <a:ext cx="301752" cy="301752"/>
          </a:xfrm>
          <a:prstGeom prst="rect">
            <a:avLst/>
          </a:prstGeom>
        </p:spPr>
      </p:pic>
      <p:sp>
        <p:nvSpPr>
          <p:cNvPr id="6" name="Text 3"/>
          <p:cNvSpPr txBox="1"/>
          <p:nvPr/>
        </p:nvSpPr>
        <p:spPr>
          <a:xfrm>
            <a:off x="1508760"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1</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Titles</a:t>
            </a:r>
            <a:endParaRPr lang="en-US" sz="1500" dirty="0"/>
          </a:p>
        </p:txBody>
      </p:sp>
      <p:sp>
        <p:nvSpPr>
          <p:cNvPr id="7" name="Text 4"/>
          <p:cNvSpPr txBox="1"/>
          <p:nvPr/>
        </p:nvSpPr>
        <p:spPr>
          <a:xfrm>
            <a:off x="731520"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Take your last monthly deck</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Rewrite every title as an action title</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Run the headline test: read titles only</a:t>
            </a:r>
            <a:endParaRPr lang="en-US" sz="1400" dirty="0"/>
          </a:p>
        </p:txBody>
      </p:sp>
      <p:sp>
        <p:nvSpPr>
          <p:cNvPr id="8" name="Text 5"/>
          <p:cNvSpPr txBox="1"/>
          <p:nvPr/>
        </p:nvSpPr>
        <p:spPr>
          <a:xfrm>
            <a:off x="731520"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a colleague understands the story from titles alone</a:t>
            </a:r>
            <a:endParaRPr lang="en-US" sz="1300" dirty="0"/>
          </a:p>
        </p:txBody>
      </p:sp>
      <p:sp>
        <p:nvSpPr>
          <p:cNvPr id="9" name="Shape 6"/>
          <p:cNvSpPr/>
          <p:nvPr/>
        </p:nvSpPr>
        <p:spPr>
          <a:xfrm>
            <a:off x="3355848" y="1234440"/>
            <a:ext cx="2606040" cy="4983480"/>
          </a:xfrm>
          <a:prstGeom prst="roundRect">
            <a:avLst>
              <a:gd name="adj" fmla="val 3509"/>
            </a:avLst>
          </a:prstGeom>
          <a:solidFill>
            <a:srgbClr val="FFFFFF"/>
          </a:solidFill>
          <a:ln w="12700">
            <a:solidFill>
              <a:srgbClr val="E0E0E0"/>
            </a:solidFill>
            <a:prstDash val="solid"/>
          </a:ln>
        </p:spPr>
      </p:sp>
      <p:sp>
        <p:nvSpPr>
          <p:cNvPr id="10" name="Shape 7"/>
          <p:cNvSpPr/>
          <p:nvPr/>
        </p:nvSpPr>
        <p:spPr>
          <a:xfrm>
            <a:off x="3538728" y="1417320"/>
            <a:ext cx="685800" cy="685800"/>
          </a:xfrm>
          <a:prstGeom prst="ellipse">
            <a:avLst/>
          </a:prstGeom>
          <a:solidFill>
            <a:srgbClr val="E3001B"/>
          </a:solidFill>
          <a:ln w="12700">
            <a:solidFill>
              <a:srgbClr val="E3001B"/>
            </a:solidFill>
            <a:prstDash val="solid"/>
          </a:ln>
        </p:spPr>
      </p:sp>
      <p:pic>
        <p:nvPicPr>
          <p:cNvPr id="11" name="Image 1" descr="preencoded.png">    </p:cNvPr>
          <p:cNvPicPr>
            <a:picLocks noChangeAspect="1"/>
          </p:cNvPicPr>
          <p:nvPr/>
        </p:nvPicPr>
        <p:blipFill>
          <a:blip r:embed="rId2"/>
          <a:stretch>
            <a:fillRect/>
          </a:stretch>
        </p:blipFill>
        <p:spPr>
          <a:xfrm>
            <a:off x="3730752" y="1609344"/>
            <a:ext cx="301752" cy="301752"/>
          </a:xfrm>
          <a:prstGeom prst="rect">
            <a:avLst/>
          </a:prstGeom>
        </p:spPr>
      </p:pic>
      <p:sp>
        <p:nvSpPr>
          <p:cNvPr id="12" name="Text 8"/>
          <p:cNvSpPr txBox="1"/>
          <p:nvPr/>
        </p:nvSpPr>
        <p:spPr>
          <a:xfrm>
            <a:off x="4315968"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2</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Answer first</a:t>
            </a:r>
            <a:endParaRPr lang="en-US" sz="1500" dirty="0"/>
          </a:p>
        </p:txBody>
      </p:sp>
      <p:sp>
        <p:nvSpPr>
          <p:cNvPr id="13" name="Text 9"/>
          <p:cNvSpPr txBox="1"/>
          <p:nvPr/>
        </p:nvSpPr>
        <p:spPr>
          <a:xfrm>
            <a:off x="3538728"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Before your next meeting, fill your 4 blanks</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Open with the Answer</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Time it: under 30 seconds</a:t>
            </a:r>
            <a:endParaRPr lang="en-US" sz="1400" dirty="0"/>
          </a:p>
        </p:txBody>
      </p:sp>
      <p:sp>
        <p:nvSpPr>
          <p:cNvPr id="14" name="Text 10"/>
          <p:cNvSpPr txBox="1"/>
          <p:nvPr/>
        </p:nvSpPr>
        <p:spPr>
          <a:xfrm>
            <a:off x="3538728"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your manager knows your ask in the first minute</a:t>
            </a:r>
            <a:endParaRPr lang="en-US" sz="1300" dirty="0"/>
          </a:p>
        </p:txBody>
      </p:sp>
      <p:sp>
        <p:nvSpPr>
          <p:cNvPr id="15" name="Shape 11"/>
          <p:cNvSpPr/>
          <p:nvPr/>
        </p:nvSpPr>
        <p:spPr>
          <a:xfrm>
            <a:off x="6163056" y="1234440"/>
            <a:ext cx="2606040" cy="4983480"/>
          </a:xfrm>
          <a:prstGeom prst="roundRect">
            <a:avLst>
              <a:gd name="adj" fmla="val 3509"/>
            </a:avLst>
          </a:prstGeom>
          <a:solidFill>
            <a:srgbClr val="F4F4F4"/>
          </a:solidFill>
          <a:ln w="12700">
            <a:solidFill>
              <a:srgbClr val="E0E0E0"/>
            </a:solidFill>
            <a:prstDash val="solid"/>
          </a:ln>
        </p:spPr>
      </p:sp>
      <p:sp>
        <p:nvSpPr>
          <p:cNvPr id="16" name="Shape 12"/>
          <p:cNvSpPr/>
          <p:nvPr/>
        </p:nvSpPr>
        <p:spPr>
          <a:xfrm>
            <a:off x="6345936" y="1417320"/>
            <a:ext cx="685800" cy="685800"/>
          </a:xfrm>
          <a:prstGeom prst="ellipse">
            <a:avLst/>
          </a:prstGeom>
          <a:solidFill>
            <a:srgbClr val="E3001B"/>
          </a:solidFill>
          <a:ln w="12700">
            <a:solidFill>
              <a:srgbClr val="E3001B"/>
            </a:solidFill>
            <a:prstDash val="solid"/>
          </a:ln>
        </p:spPr>
      </p:sp>
      <p:pic>
        <p:nvPicPr>
          <p:cNvPr id="17" name="Image 2" descr="preencoded.png">    </p:cNvPr>
          <p:cNvPicPr>
            <a:picLocks noChangeAspect="1"/>
          </p:cNvPicPr>
          <p:nvPr/>
        </p:nvPicPr>
        <p:blipFill>
          <a:blip r:embed="rId3"/>
          <a:stretch>
            <a:fillRect/>
          </a:stretch>
        </p:blipFill>
        <p:spPr>
          <a:xfrm>
            <a:off x="6537960" y="1609344"/>
            <a:ext cx="301752" cy="301752"/>
          </a:xfrm>
          <a:prstGeom prst="rect">
            <a:avLst/>
          </a:prstGeom>
        </p:spPr>
      </p:pic>
      <p:sp>
        <p:nvSpPr>
          <p:cNvPr id="18" name="Text 13"/>
          <p:cNvSpPr txBox="1"/>
          <p:nvPr/>
        </p:nvSpPr>
        <p:spPr>
          <a:xfrm>
            <a:off x="7123176"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3</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One chart</a:t>
            </a:r>
            <a:endParaRPr lang="en-US" sz="1500" dirty="0"/>
          </a:p>
        </p:txBody>
      </p:sp>
      <p:sp>
        <p:nvSpPr>
          <p:cNvPr id="19" name="Text 14"/>
          <p:cNvSpPr txBox="1"/>
          <p:nvPr/>
        </p:nvSpPr>
        <p:spPr>
          <a:xfrm>
            <a:off x="6345936"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Pick one chart you use every month</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Delete, grey, highlight</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Move the old version to appendix</a:t>
            </a:r>
            <a:endParaRPr lang="en-US" sz="1400" dirty="0"/>
          </a:p>
        </p:txBody>
      </p:sp>
      <p:sp>
        <p:nvSpPr>
          <p:cNvPr id="20" name="Text 15"/>
          <p:cNvSpPr txBox="1"/>
          <p:nvPr/>
        </p:nvSpPr>
        <p:spPr>
          <a:xfrm>
            <a:off x="6345936"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the new chart is in the real monthly pack</a:t>
            </a:r>
            <a:endParaRPr lang="en-US" sz="1300" dirty="0"/>
          </a:p>
        </p:txBody>
      </p:sp>
      <p:sp>
        <p:nvSpPr>
          <p:cNvPr id="21" name="Shape 16"/>
          <p:cNvSpPr/>
          <p:nvPr/>
        </p:nvSpPr>
        <p:spPr>
          <a:xfrm>
            <a:off x="8970264" y="1234440"/>
            <a:ext cx="2606040" cy="4983480"/>
          </a:xfrm>
          <a:prstGeom prst="roundRect">
            <a:avLst>
              <a:gd name="adj" fmla="val 3509"/>
            </a:avLst>
          </a:prstGeom>
          <a:solidFill>
            <a:srgbClr val="FFFFFF"/>
          </a:solidFill>
          <a:ln w="12700">
            <a:solidFill>
              <a:srgbClr val="E0E0E0"/>
            </a:solidFill>
            <a:prstDash val="solid"/>
          </a:ln>
        </p:spPr>
      </p:sp>
      <p:sp>
        <p:nvSpPr>
          <p:cNvPr id="22" name="Shape 17"/>
          <p:cNvSpPr/>
          <p:nvPr/>
        </p:nvSpPr>
        <p:spPr>
          <a:xfrm>
            <a:off x="9153144" y="1417320"/>
            <a:ext cx="685800" cy="685800"/>
          </a:xfrm>
          <a:prstGeom prst="ellipse">
            <a:avLst/>
          </a:prstGeom>
          <a:solidFill>
            <a:srgbClr val="E3001B"/>
          </a:solidFill>
          <a:ln w="12700">
            <a:solidFill>
              <a:srgbClr val="E3001B"/>
            </a:solidFill>
            <a:prstDash val="solid"/>
          </a:ln>
        </p:spPr>
      </p:sp>
      <p:pic>
        <p:nvPicPr>
          <p:cNvPr id="23" name="Image 3" descr="preencoded.png">    </p:cNvPr>
          <p:cNvPicPr>
            <a:picLocks noChangeAspect="1"/>
          </p:cNvPicPr>
          <p:nvPr/>
        </p:nvPicPr>
        <p:blipFill>
          <a:blip r:embed="rId4"/>
          <a:stretch>
            <a:fillRect/>
          </a:stretch>
        </p:blipFill>
        <p:spPr>
          <a:xfrm>
            <a:off x="9345168" y="1609344"/>
            <a:ext cx="301752" cy="301752"/>
          </a:xfrm>
          <a:prstGeom prst="rect">
            <a:avLst/>
          </a:prstGeom>
        </p:spPr>
      </p:pic>
      <p:sp>
        <p:nvSpPr>
          <p:cNvPr id="24" name="Text 18"/>
          <p:cNvSpPr txBox="1"/>
          <p:nvPr/>
        </p:nvSpPr>
        <p:spPr>
          <a:xfrm>
            <a:off x="9930384"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4</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Deliver</a:t>
            </a:r>
            <a:endParaRPr lang="en-US" sz="1500" dirty="0"/>
          </a:p>
        </p:txBody>
      </p:sp>
      <p:sp>
        <p:nvSpPr>
          <p:cNvPr id="25" name="Text 19"/>
          <p:cNvSpPr txBox="1"/>
          <p:nvPr/>
        </p:nvSpPr>
        <p:spPr>
          <a:xfrm>
            <a:off x="9153144"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Rehearse a real presentation aloud 3 times</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List 5 tough questions and A-A-B answers</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Ask one peer to score you on the feedback form</a:t>
            </a:r>
            <a:endParaRPr lang="en-US" sz="1400" dirty="0"/>
          </a:p>
        </p:txBody>
      </p:sp>
      <p:sp>
        <p:nvSpPr>
          <p:cNvPr id="26" name="Text 20"/>
          <p:cNvSpPr txBox="1"/>
          <p:nvPr/>
        </p:nvSpPr>
        <p:spPr>
          <a:xfrm>
            <a:off x="9153144"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you send your before/after slide to the facilitator</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31</a:t>
            </a:fld>
            <a:endParaRPr lang="en-US"/>
          </a:p>
        </p:txBody>
      </p:sp>
    </p:spTree>
  </p:cSld>
  <p:clrMapOvr>
    <a:masterClrMapping/>
  </p:clrMapOvr>
</p:sld>
</file>

<file path=ppt/theme/theme1.xml><?xml version="1.0" encoding="utf-8"?>
<a:theme xmlns:a="http://schemas.openxmlformats.org/drawingml/2006/main" name="HCI Workshop Red">
  <a:themeElements>
    <a:clrScheme name="HCI Workshop Red">
      <a:dk1>
        <a:srgbClr val="1A1A1A"/>
      </a:dk1>
      <a:lt1>
        <a:srgbClr val="FFFFFF"/>
      </a:lt1>
      <a:dk2>
        <a:srgbClr val="4A4A4A"/>
      </a:dk2>
      <a:lt2>
        <a:srgbClr val="F4F4F4"/>
      </a:lt2>
      <a:accent1>
        <a:srgbClr val="E3001B"/>
      </a:accent1>
      <a:accent2>
        <a:srgbClr val="9E0012"/>
      </a:accent2>
      <a:accent3>
        <a:srgbClr val="8A8A8A"/>
      </a:accent3>
      <a:accent4>
        <a:srgbClr val="F28C96"/>
      </a:accent4>
      <a:accent5>
        <a:srgbClr val="333333"/>
      </a:accent5>
      <a:accent6>
        <a:srgbClr val="D9D9D9"/>
      </a:accent6>
      <a:hlink>
        <a:srgbClr val="E3001B"/>
      </a:hlink>
      <a:folHlink>
        <a:srgbClr val="9E0012"/>
      </a:folHlink>
    </a:clrScheme>
    <a:fontScheme name="HCI Workshop R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 the Decision — HCI Talent Pool Workshop</dc:title>
  <dc:subject>PptxGenJS Presentation</dc:subject>
  <dc:creator>Workshop facilitator</dc:creator>
  <cp:lastModifiedBy>Workshop facilitator</cp:lastModifiedBy>
  <cp:revision>1</cp:revision>
  <dcterms:created xsi:type="dcterms:W3CDTF">2026-10-28T12:45:33Z</dcterms:created>
  <dcterms:modified xsi:type="dcterms:W3CDTF">2026-10-28T12:45:33Z</dcterms:modified>
</cp:coreProperties>
</file>