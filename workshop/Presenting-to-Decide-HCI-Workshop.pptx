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e575acb-47dd-b03b-fd12-1ab520d710ff}">
          <p14:sldIdLst>
            <p14:sldId id="256"/>
            <p14:sldId id="257"/>
            <p14:sldId id="258"/>
            <p14:sldId id="259"/>
            <p14:sldId id="260"/>
          </p14:sldIdLst>
        </p14:section>
        <p14:section name="1 · Audience and message" id="{00ca1506-5522-8398-7a24-0d3c0db2444c}">
          <p14:sldIdLst>
            <p14:sldId id="261"/>
            <p14:sldId id="262"/>
            <p14:sldId id="263"/>
            <p14:sldId id="264"/>
            <p14:sldId id="265"/>
            <p14:sldId id="266"/>
          </p14:sldIdLst>
        </p14:section>
        <p14:section name="2 · Storyline" id="{5dc34b1c-db67-f6ed-c9cf-f50ab38b354a}">
          <p14:sldIdLst>
            <p14:sldId id="267"/>
            <p14:sldId id="268"/>
            <p14:sldId id="269"/>
            <p14:sldId id="270"/>
            <p14:sldId id="271"/>
            <p14:sldId id="272"/>
          </p14:sldIdLst>
        </p14:section>
        <p14:section name="Break" id="{28216c1f-7c8f-609d-f1b3-c8dfc68628b9}">
          <p14:sldIdLst>
            <p14:sldId id="273"/>
          </p14:sldIdLst>
        </p14:section>
        <p14:section name="3 · Slide design" id="{603c9d98-cdce-fff1-47d9-62815921dc89}">
          <p14:sldIdLst>
            <p14:sldId id="274"/>
            <p14:sldId id="275"/>
            <p14:sldId id="276"/>
            <p14:sldId id="277"/>
            <p14:sldId id="278"/>
            <p14:sldId id="279"/>
            <p14:sldId id="280"/>
            <p14:sldId id="281"/>
          </p14:sldIdLst>
        </p14:section>
        <p14:section name="4 · Delivery and Q&amp;A" id="{da940ae8-bb5a-5595-e573-f0c0bf208206}">
          <p14:sldIdLst>
            <p14:sldId id="282"/>
            <p14:sldId id="283"/>
            <p14:sldId id="284"/>
            <p14:sldId id="285"/>
            <p14:sldId id="286"/>
          </p14:sldIdLst>
        </p14:section>
        <p14:section name="5 · Practice and close" id="{cf81ae63-322d-c8b4-53a2-888744cecb57}">
          <p14:sldIdLst>
            <p14:sldId id="287"/>
            <p14:sldId id="288"/>
            <p14:sldId id="289"/>
          </p14:sldIdLst>
        </p14:section>
        <p14:section name="Appendix · Handouts" id="{10516b32-55bb-aeb7-0c03-8d9f4aed7ae1}">
          <p14:sldIdLst>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East Java</c:v>
                </c:pt>
              </c:strCache>
            </c:strRef>
          </c:tx>
          <c:spPr>
            <a:solidFill>
              <a:srgbClr val="E3001B"/>
            </a:solidFill>
            <a:ln w="38100" cap="flat">
              <a:solidFill>
                <a:srgbClr val="E3001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3001B"/>
              </a:solidFill>
              <a:ln w="9525" cap="flat">
                <a:solidFill>
                  <a:srgbClr val="E3001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4.1</c:v>
                </c:pt>
                <c:pt idx="1">
                  <c:v>4.3</c:v>
                </c:pt>
                <c:pt idx="2">
                  <c:v>4.8</c:v>
                </c:pt>
                <c:pt idx="3">
                  <c:v>5.6</c:v>
                </c:pt>
                <c:pt idx="4">
                  <c:v>6.4</c:v>
                </c:pt>
                <c:pt idx="5">
                  <c:v>7.1</c:v>
                </c:pt>
              </c:numCache>
            </c:numRef>
          </c:val>
          <c:smooth val="0"/>
        </c:ser>
        <c:ser>
          <c:idx val="1"/>
          <c:order val="1"/>
          <c:tx>
            <c:strRef>
              <c:f>Sheet1!$C$1</c:f>
              <c:strCache>
                <c:ptCount val="1"/>
                <c:pt idx="0">
                  <c:v>National</c:v>
                </c:pt>
              </c:strCache>
            </c:strRef>
          </c:tx>
          <c:spPr>
            <a:solidFill>
              <a:srgbClr val="BDBDBD"/>
            </a:solidFill>
            <a:ln w="38100" cap="flat">
              <a:solidFill>
                <a:srgbClr val="BDBDB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BDBDBD"/>
              </a:solidFill>
              <a:ln w="9525" cap="flat">
                <a:solidFill>
                  <a:srgbClr val="BDBDBD"/>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4.2</c:v>
                </c:pt>
                <c:pt idx="1">
                  <c:v>4.2</c:v>
                </c:pt>
                <c:pt idx="2">
                  <c:v>4.1</c:v>
                </c:pt>
                <c:pt idx="3">
                  <c:v>4.2</c:v>
                </c:pt>
                <c:pt idx="4">
                  <c:v>4.3</c:v>
                </c:pt>
                <c:pt idx="5">
                  <c:v>4.2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DBDBD"/>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Other regions</c:v>
                </c:pt>
              </c:strCache>
            </c:strRef>
          </c:tx>
          <c:spPr>
            <a:solidFill>
              <a:srgbClr val="C8C8C8"/>
            </a:solidFill>
            <a:effectLst/>
          </c:spPr>
          <c:invertIfNegative val="0"/>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Sheet1!$B$2:$B$8</c:f>
              <c:numCache>
                <c:formatCode>General</c:formatCode>
                <c:ptCount val="7"/>
                <c:pt idx="0">
                  <c:v>4</c:v>
                </c:pt>
                <c:pt idx="1">
                  <c:v>4.3</c:v>
                </c:pt>
                <c:pt idx="2">
                  <c:v>4.1</c:v>
                </c:pt>
                <c:pt idx="3">
                  <c:v>0</c:v>
                </c:pt>
                <c:pt idx="4">
                  <c:v>4.6</c:v>
                </c:pt>
                <c:pt idx="5">
                  <c:v>4.4</c:v>
                </c:pt>
                <c:pt idx="6">
                  <c:v>4.2</c:v>
                </c:pt>
              </c:numCache>
            </c:numRef>
          </c:val>
        </c:ser>
        <c:ser>
          <c:idx val="1"/>
          <c:order val="1"/>
          <c:tx>
            <c:strRef>
              <c:f>Sheet1!$C$1</c:f>
              <c:strCache>
                <c:ptCount val="1"/>
                <c:pt idx="0">
                  <c:v>East Java</c:v>
                </c:pt>
              </c:strCache>
            </c:strRef>
          </c:tx>
          <c:spPr>
            <a:solidFill>
              <a:srgbClr val="E3001B"/>
            </a:solidFill>
            <a:effectLst/>
          </c:spPr>
          <c:invertIfNegative val="0"/>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Jabodetabek</c:v>
                  </c:pt>
                  <c:pt idx="1">
                    <c:v>West Java</c:v>
                  </c:pt>
                  <c:pt idx="2">
                    <c:v>Central Java</c:v>
                  </c:pt>
                  <c:pt idx="3">
                    <c:v>East Java</c:v>
                  </c:pt>
                  <c:pt idx="4">
                    <c:v>Sumatra</c:v>
                  </c:pt>
                  <c:pt idx="5">
                    <c:v>Kalimantan</c:v>
                  </c:pt>
                  <c:pt idx="6">
                    <c:v>Sulawesi</c:v>
                  </c:pt>
                </c:lvl>
              </c:multiLvlStrCache>
            </c:multiLvlStrRef>
          </c:cat>
          <c:val>
            <c:numRef>
              <c:f>Sheet1!$C$2:$C$8</c:f>
              <c:numCache>
                <c:formatCode>General</c:formatCode>
                <c:ptCount val="7"/>
                <c:pt idx="0">
                  <c:v>0</c:v>
                </c:pt>
                <c:pt idx="1">
                  <c:v>0</c:v>
                </c:pt>
                <c:pt idx="2">
                  <c:v>0</c:v>
                </c:pt>
                <c:pt idx="3">
                  <c:v>7.1</c:v>
                </c:pt>
                <c:pt idx="4">
                  <c:v>0</c:v>
                </c:pt>
                <c:pt idx="5">
                  <c:v>0</c:v>
                </c:pt>
                <c:pt idx="6">
                  <c:v>0</c:v>
                </c:pt>
              </c:numCache>
            </c:numRef>
          </c:val>
        </c:ser>
        <c:dLbls>
          <c:numFmt formatCode="0.0&quot;%&quot;;;;"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DBDBD"/>
            </a:solidFill>
            <a:prstDash val="solid"/>
            <a:round/>
          </a:ln>
        </c:spPr>
        <c:txPr>
          <a:bodyPr/>
          <a:lstStyle/>
          <a:p>
            <a:pPr>
              <a:defRPr sz="13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Approval rate</c:v>
                </c:pt>
              </c:strCache>
            </c:strRef>
          </c:tx>
          <c:spPr>
            <a:solidFill>
              <a:srgbClr val="E3001B"/>
            </a:solidFill>
            <a:ln w="38100" cap="flat">
              <a:solidFill>
                <a:srgbClr val="E3001B"/>
              </a:solidFill>
              <a:prstDash val="solid"/>
              <a:round/>
            </a:ln>
            <a:effectLst/>
          </c:spPr>
          <c:invertIfNegative val="0"/>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c:symbol val="circle"/>
            <c:size val="7"/>
            <c:spPr>
              <a:solidFill>
                <a:srgbClr val="E3001B"/>
              </a:solidFill>
              <a:ln w="9525" cap="flat">
                <a:solidFill>
                  <a:srgbClr val="E3001B"/>
                </a:solidFill>
                <a:prstDash val="solid"/>
                <a:round/>
              </a:ln>
              <a:effectLst/>
            </c:spPr>
          </c:marker>
          <c:cat>
            <c:multiLvlStrRef>
              <c:f>Sheet1!$A$2:$A$6</c:f>
              <c:multiLvlStrCache>
                <c:ptCount val="5"/>
                <c:lvl>
                  <c:pt idx="0">
                    <c:v>Jan</c:v>
                  </c:pt>
                  <c:pt idx="1">
                    <c:v>Feb</c:v>
                  </c:pt>
                  <c:pt idx="2">
                    <c:v>Mar</c:v>
                  </c:pt>
                  <c:pt idx="3">
                    <c:v>Apr</c:v>
                  </c:pt>
                  <c:pt idx="4">
                    <c:v>May</c:v>
                  </c:pt>
                </c:lvl>
              </c:multiLvlStrCache>
            </c:multiLvlStrRef>
          </c:cat>
          <c:val>
            <c:numRef>
              <c:f>Sheet1!$B$2:$B$6</c:f>
              <c:numCache>
                <c:formatCode>General</c:formatCode>
                <c:ptCount val="5"/>
                <c:pt idx="0">
                  <c:v>58</c:v>
                </c:pt>
                <c:pt idx="1">
                  <c:v>58</c:v>
                </c:pt>
                <c:pt idx="2">
                  <c:v>58</c:v>
                </c:pt>
                <c:pt idx="3">
                  <c:v>57</c:v>
                </c:pt>
                <c:pt idx="4">
                  <c:v>53</c:v>
                </c:pt>
              </c:numCache>
            </c:numRef>
          </c:val>
          <c:smooth val="0"/>
        </c:ser>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DBDBD"/>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62"/>
          <c:min val="4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Sales</c:v>
                </c:pt>
              </c:strCache>
            </c:strRef>
          </c:tx>
          <c:spPr>
            <a:solidFill>
              <a:schemeClr val="accent1"/>
            </a:solidFill>
            <a:ln w="9525" cap="flat">
              <a:solidFill>
                <a:srgbClr val="F9F9F9"/>
              </a:solidFill>
              <a:prstDash val="solid"/>
              <a:round/>
            </a:ln>
            <a:effectLst/>
          </c:spPr>
          <c:dPt>
            <c:idx val="0"/>
            <c:bubble3D val="0"/>
            <c:spPr>
              <a:solidFill>
                <a:srgbClr val="7F7F7F"/>
              </a:solidFill>
              <a:effectLst/>
            </c:spPr>
          </c:dPt>
          <c:dPt>
            <c:idx val="1"/>
            <c:bubble3D val="0"/>
            <c:spPr>
              <a:solidFill>
                <a:srgbClr val="A5A5A5"/>
              </a:solidFill>
              <a:effectLst/>
            </c:spPr>
          </c:dPt>
          <c:dPt>
            <c:idx val="2"/>
            <c:bubble3D val="0"/>
            <c:spPr>
              <a:solidFill>
                <a:srgbClr val="C9C9C9"/>
              </a:solidFill>
              <a:effectLst/>
            </c:spPr>
          </c:dPt>
          <c:dPt>
            <c:idx val="3"/>
            <c:bubble3D val="0"/>
            <c:spPr>
              <a:solidFill>
                <a:srgbClr val="D86A6A"/>
              </a:solidFill>
              <a:effectLst/>
            </c:spPr>
          </c:dPt>
          <c:dPt>
            <c:idx val="4"/>
            <c:bubble3D val="0"/>
            <c:spPr>
              <a:solidFill>
                <a:srgbClr val="E8A0A0"/>
              </a:solidFill>
              <a:effectLst/>
            </c:spPr>
          </c:dPt>
          <c:dPt>
            <c:idx val="5"/>
            <c:bubble3D val="0"/>
            <c:spPr>
              <a:solidFill>
                <a:srgbClr val="F2C4C4"/>
              </a:solidFill>
              <a:effectLst/>
            </c:spPr>
          </c:dPt>
          <c:dLbls>
            <c:dLbl>
              <c:idx val="0"/>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dLbl>
              <c:idx val="4"/>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dLbl>
              <c:idx val="5"/>
              <c:numFmt formatCode="0%" sourceLinked="0"/>
              <c:spPr/>
              <c:txPr>
                <a:bodyPr/>
                <a:lstStyle/>
                <a:p>
                  <a:pPr>
                    <a:defRPr sz="1100" b="0" i="0" u="none" strike="noStrike">
                      <a:solidFill>
                        <a:srgbClr val="1A1A1A"/>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Jan</c:v>
                </c:pt>
                <c:pt idx="1">
                  <c:v>Feb</c:v>
                </c:pt>
                <c:pt idx="2">
                  <c:v>Mar</c:v>
                </c:pt>
                <c:pt idx="3">
                  <c:v>Apr</c:v>
                </c:pt>
                <c:pt idx="4">
                  <c:v>May</c:v>
                </c:pt>
                <c:pt idx="5">
                  <c:v>Jun</c:v>
                </c:pt>
              </c:strCache>
            </c:strRef>
          </c:cat>
          <c:val>
            <c:numRef>
              <c:f>Sheet1!$B$2:$B$7</c:f>
              <c:numCache>
                <c:ptCount val="6"/>
                <c:pt idx="0">
                  <c:v>52</c:v>
                </c:pt>
                <c:pt idx="1">
                  <c:v>54</c:v>
                </c:pt>
                <c:pt idx="2">
                  <c:v>55</c:v>
                </c:pt>
                <c:pt idx="3">
                  <c:v>49</c:v>
                </c:pt>
                <c:pt idx="4">
                  <c:v>46</c:v>
                </c:pt>
                <c:pt idx="5">
                  <c:v>45</c:v>
                </c:pt>
              </c:numCache>
            </c:numRef>
          </c:val>
        </c:ser>
        <c:firstSliceAng val="0"/>
      </c:pieChart>
      <c:spPr>
        <a:noFill/>
        <a:ln>
          <a:noFill/>
        </a:ln>
        <a:effectLst/>
      </c:spPr>
    </c:plotArea>
    <c:legend>
      <c:legendPos val="r"/>
      <c:overlay val="0"/>
      <c:txPr>
        <a:bodyPr/>
        <a:lstStyle/>
        <a:p>
          <a:pPr>
            <a:defRPr sz="1200">
              <a:solidFill>
                <a:srgbClr val="6B6B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Sales</c:v>
                </c:pt>
              </c:strCache>
            </c:strRef>
          </c:tx>
          <c:spPr>
            <a:solidFill>
              <a:srgbClr val="E3001B"/>
            </a:solidFill>
            <a:ln w="38100" cap="flat">
              <a:solidFill>
                <a:srgbClr val="E3001B"/>
              </a:solidFill>
              <a:prstDash val="solid"/>
              <a:round/>
            </a:ln>
            <a:effectLst/>
          </c:spPr>
          <c:invertIfNegative val="0"/>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c:symbol val="circle"/>
            <c:size val="7"/>
            <c:spPr>
              <a:solidFill>
                <a:srgbClr val="E3001B"/>
              </a:solidFill>
              <a:ln w="9525" cap="flat">
                <a:solidFill>
                  <a:srgbClr val="E3001B"/>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52</c:v>
                </c:pt>
                <c:pt idx="1">
                  <c:v>54</c:v>
                </c:pt>
                <c:pt idx="2">
                  <c:v>55</c:v>
                </c:pt>
                <c:pt idx="3">
                  <c:v>49</c:v>
                </c:pt>
                <c:pt idx="4">
                  <c:v>46</c:v>
                </c:pt>
                <c:pt idx="5">
                  <c:v>45</c:v>
                </c:pt>
              </c:numCache>
            </c:numRef>
          </c:val>
          <c:smooth val="0"/>
        </c:ser>
        <c:dLbls>
          <c:numFmt formatCode="#,##0" sourceLinked="0"/>
          <c:txPr>
            <a:bodyPr/>
            <a:lstStyle/>
            <a:p>
              <a:pPr>
                <a:defRPr b="0" i="0" strike="noStrike" sz="12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DBDBD"/>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60"/>
          <c:min val="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[0:00–0:01 · Title — be on this slide as people sit down]
SAY: "Selamat pagi. Before we start, take a pen and write on your card one presentation you must give in the next 30 days. That is the topic you will practise today."
DO: Hand out index cards and the case cards on each table. Groups of 3–4 per table.
PHOTO SLOT (right half): "young Indonesian professional presenting to executives in a modern boardroom".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[0:01–0:05 · Hook]
DO: Show the slide in silence for 10 seconds.
ASK: "You are the Director of Risk. You have 30 seconds before your next meeting. Which slide do you act on, and what would you decide?" Hands up for A, then for B.
ASK (to a table, not a person — safer): "What does Slide A make you do?" Expected answer: search the table, compare numbers, guess the point.
SAY: "Slide A is complete. Slide B is useful. Both use the same data. Today is about the difference."
TRANSITION: "So what do senior leaders actually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[0:05–0:07]
SAY: "When a Director reads your slide, they are asking three silent questions. What is your answer? Why should I care? What do you need from me? If they must dig for any of the three, you lose them."
ASK: "Think of the last management review you attended. Which of these three was usually missing?" Let 2–3 people answer from their seats; thank each one by name.
SAY: "Everything else — the full tables, the methodology — is backup. It goes in the appendix, ready if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[0:07–0:08 · Empowerment promise (Patrick Winston, MIT "How to Speak")]
SAY: "Here is my promise. In two hours you will have done three things — not heard about them, done them." Read the three outcomes.
SAY: "Everything we use today comes from proven sources: Barbara Minto, Nancy Duarte, Chris Anderson of TED, Patrick Winston of MIT, and Cole Knaflic. I will credit them as we go, but we will keep it practical."
PHOTO SLOT (left): "confident Southeast Asian woman presenting slides to a small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[0:08–0:10 · Agenda and ground rules]
SAY: "Red is you working. Grey is me talking. Notice how much red there is."
GROUND RULES (say them, 30 seconds): 1) No wrong answers in exercises — we practise on illustrative cases, not real numbers. 2) We speak in English; if a word is missing, say it in Bahasa and the table helps. 3) Feedback is always 'one thing that worked, one thing to try'.
TRANSITION: "Let's start where every good presentation starts — not with slides, but with the person you are presenting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Section 1 divider]
SAY: "Part one: before you open PowerPoint, answer two questions. Who decides? And what is the one thing I want them to do?"
PHOTO SLOT (left half): "Indonesian senior manager listening attentively in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[0:11–0:14]
SAY: "Pick the most senior person who will decide. Write three lines: what must they KNOW, what should they FEEL, what must they DO. Here's an example from our East Java case for the Director of Risk."
ASK: "For your own topic — who is the real decision maker? Is it the person chairing the meeting, or someone they report to?" Give 30 seconds of silent thinking before asking anyone (respect hesitation; silence is fine).
TIP: In hierarchical meetings, the 'Do' must match what that person can actually approve. If they can't approve it, your ask is to escalate.
USE TOMORROW: Before any presentation, write Know / Feel / Do on a sticky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[0:14–0:17 · Barbara Minto, The Pyramid Principle]
SAY: "Most of us were trained to present like a school report: background, method, findings, and finally the conclusion on the last slide. Senior leaders want the reverse. Answer at the top. Three reasons underneath. Data under each reason."
SAY: "Why? Because a Director may be pulled out of the room after two minutes. With the pyramid, they leave with your answer."
CULTURE NOTE: "In Indonesian culture we often build up politely to the point. That is respectful in many situations. In a decision meeting, the most respectful thing you can do is save the leader's time — answer first."
USE TOMORROW: Write your answer sentence before you open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[0:17–0:19]
SAY: "Here is the East Java case as a pyramid. Read only the top box — you already know what I want. Read the middle row — you know why. The numbers are there if you doubt me."
ASK: "Which reason would the Director challenge first?" (Usually 'it is fixable' — so that one needs the strongest evidence.)
NOTE: All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[0:19–0:23 · SCQA, also from Barbara Minto]
SAY: "The pyramid is the structure. SCQA is how you open. Four sentences. Situation: what everyone agrees on. Complication: what changed. Question: what it makes us ask. Answer: your recommendation."
SAY: "In a decision meeting you can say the Answer first, then S-C-Q as the reason — 'I recommend X. Here's why: ...'"
DEMO: Read the East Java example aloud in under 30 seconds. Time yourself on stage — it shows it can be done.
USE TOMORROW: Open your next monthly review with four SCQA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[0:23–0:35 · Exercise 1 — 12 min, pairs]
SET-UP (1 min): "Work in pairs. Use your own topic from the index card, or take one of the three case cards on your table."
RUN: Put a 12-minute timer on screen. Call time at each step: "3 minutes — you should have your answer sentence."
WALK THE ROOM: Look for answers that are topics ('Update on East Java') rather than recommendations. Coach: "What do you want the Director to DO?"
SAFE PARTICIPATION: Ask pairs (not individuals) to share. Pick 2 pairs you heard doing well while walking — tell them in advance: "Can you read yours in 2 minutes?"
DEBRIEF (2 min): Two pairs read their SCQA. Room gives a thumbs up if the Answer is a clear action.
TRANSITION: "You now have the top of your pyramid. Next: turn it into a storyline."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Section 2 divider]
SAY: "You have your answer. Now we turn it into a story that pulls the room forward — and we test it with one simple trick consultants use every day."
PHOTO SLOT (left half): "team planning a storyline with sticky notes on a glass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[0:36–0:39 · Nancy Duarte, Resonate / HBR]
SAY: "Duarte studied great speeches and found one shape: they move back and forth between how things are today and how they could be. That contrast creates tension, and tension keeps attention. At the end: a call to action and a picture of the better future."
SAY: "Second idea from Duarte: the audience is the hero, not you. You are the mentor who gives the hero a tool. So talk about what THEY gain — their targets, their customers."
ASK: "For Case B, what is 'what is' and 'what could be'?" Then reveal the example on the right.
USE TOMORROW: Write one 'today... / imagine...' pair for your next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[0:39–0:42 · Chris Anderson (TED, HBR "How to Give a Killer Presentation"), Nancy Duarte]
SAY: "Chris Anderson, who runs TED, says the number-one mistake is trying to say too much. A great talk carries one idea. Duarte calls it the Big Idea: your point of view, plus what is at stake."
DO: Read the weak version, pause, then read the strong version. Ask: "Which one makes you want to hear the next slide?"
TWO TESTS: Can you say it in one breath? Could someone in the room disagree? If nobody could disagree, it's not a point of view — it's a topic.
USE TOMORROW: Cut every slide that does not support your Big Idea. Move it to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[0:42–0:45 · Consulting practice: action titles + headline test]
SAY: "This is the most useful trick from consulting firms. Write each slide title as a full sentence that states the takeaway. Then read only the titles, left to right. If the story makes sense, your deck works. If not, no amount of design will save it."
DO: Read the five titles aloud, slowly. Then: "Did you understand the proposal without seeing a single chart? That's the test."
ASK: "Which title would a CFO question first?" (Usually #3 — payback. So that slide needs the strongest data.)
USE TOMORROW: Before sending any deck, open Outline View in PowerPoint and read only the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[0:45–0:47]
SAY: "You don't need to invent a structure every month. Here are four templates for what you present most. Take a photo; it's also on your cheat sheet."
ASK: "Which row is closest to your next presentation?" Show of hands per row — low-risk participation.
USE TOMORROW: Copy the row for your next presentation into your slide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[0:47–0:55 · Exercise 2 — 8 min core + swap; groups of 3–4]
NOTE ON TIME: If Section 1 ran long, cut step 3 to 2 minutes; never cut the swap — the swap is the learning.
SET-UP: "Each group picks ONE topic from Exercise 1 — the clearest answer sentence. Five sticky notes, five action titles."
RUN: Timer on screen. At 4 minutes: "Swap with the next table now."
WATCH FOR: topic titles ('Background', 'Data', 'Next steps'). Coach: "What is the takeaway of that slide in one sentence?"
DEBRIEF (2 min): "Which title got a ✗ and how did you fix it?" Ask one table to read their five titles aloud.
TRANSITION: "Ten-minute break. When you come back, we design the slides that sit under these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[0:55–1:05 · Break]
DO: Put a visible countdown on screen. Use the break to prepare laptops for Exercise 3 (each group: one laptop with PowerPoint and the case BEFORE slides from the appendix of the facilitator guide).
TIP: Chat informally with quieter participants during the break — they often contribute more afterwards.
PHOTO SLOT (full bleed): "coffee cups and snacks on a meeting table, warm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Section 3 divider]
SAY: "Welcome back. You have a storyline. Now each slide must prove its title in five seconds."
PHOTO SLOT (left half): "laptop screen showing a clean business chart in an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[1:05–1:07]
SAY: "A topic title tells me what the slide is about. An action title tells me what to think. Leaders only read the title and the highlighted number — so the title must carry the message."
DO: Read each pair. Ask the room: "Which one would your Director remember tomorrow?"
RULES (right box): full sentence; max two lines; one message; includes a number or a verb.
USE TOMORROW: Rewrite every title in your next deck using the four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[1:07–1:09 · Cole Nussbaumer Knaflic, Storytelling with Data]
SAY: "First decide what you want to show: a comparison, a change over time, a part of a whole, a relationship, or one key number. Then the chart chooses itself."
SAY: "Two habits to drop: pie charts with many slices — the eye can't compare angles — and 3D charts. And when you only have one number that matters, just show the number, big."
ASK: "Monthly 30+ DPD for the last 12 months — which chart?" (Line.) "Sales by 7 regions this month?" (Horizontal bar,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[1:09–1:11 · Knaflic: declutter and focus attention]
SAY: "Three steps. One: delete everything that doesn't carry information — borders, gridlines, 3D, legends you can replace with a direct label. Two: make everything grey. Three: colour only the one bar you are talking about, and say why in the title."
DO: Point at the red bar. "Where did your eye go? That's the point. Home Credit red is our highlight colour — use it for one thing only."
USE TOMORROW: Take one chart from your last monthly review and apply the three steps — it takes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[1:11–1:13 · Makeover 1]
SAY: "Before: a dashboard. Every number is correct, and the Director must find the story alone. After: one action title, one chart, one highlighted drop, and the cause."
ASK: "What changed?" Let tables call out answers: title, one chart, colour, cause stated.
KEY POINT: The dashboard isn't deleted — it moves to the appendix as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[1:13–1:14 · Makeover 2]
SAY: "Before: everything we know, in the order we discovered it. After: the ask in the title, three numbers that prove it, and the decision at the bottom."
ASK: "Which three numbers did we keep, and why those?" (Benefit, saving, payback — what a CFO needs to approve.)
KEY POINT: Big numbers with short labels are the most persuasive 'chart' for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[1:14–1:15 · Makeover 3]
SAY: "Before: a pie chart of months. A pie can't show time, so the drop is invisible. After: a line with the event marked. Now the story — and the cause — is obvious."
ASK: "What question will the Regional Head ask next?" (How much will the 0% match cost? → That's the next slide in the storyline.)
TRANSITION: "Your turn — make over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[1:15–1:25 · Exercise 3 — 10 min, same groups, one laptop per group]
TIME NOTE: If you are running late, show only Makeover 1 in full and flick through 2 and 3 in 30 seconds each.
SET-UP: "Take slide 2 or 3 from your sticky-note storyline. Build it on the laptop — or sketch it on A4 if you're faster on paper."
RUN: Timer. At 7 minutes: "Swap laptops with the next table for a 3-minute headline-and-highlight check."
WATCH FOR: default Excel charts pasted in; legends; more than one colour. Coach with the three steps: delete, grey, highlight.
DEBRIEF: Show one before/after on the projector (ask the group first — never surprise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Section 4 divider]
SAY: "Great slides can still fail in the room. Two things decide it: how you rehearse, and how you answer the hard question from the most senior person."
PHOTO SLOT (left half): "speaker answering a question from executives across a table,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[1:25–1:27]
SAY: "The single best delivery habit: rehearse out loud, not in your head. Your mouth finds the hard sentences your brain skips."
DEMO: Say the East Java key number twice — once rushed, once with a 2-second pause after it. Ask: "Which one did you remember?"
EYE CONTACT: "One sentence, one person. Include the most senior person and the quiet ones at the side."
NOTE: "You may have heard of 'power posing'. The research is weak — skip it. Preparation is what gives confidence."
USE TOMORROW: Rehearse your next presentation aloud once, timed, the day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[1:27–1:29 · Patrick Winston, MIT "How to Speak"]
SAY: "Winston taught MIT students for 40 years. Three of his rules are perfect for management meetings. Start with an empowerment promise — what they will be able to decide by the end. Cycle: say your Big Idea at the start, the middle and the end, because someone is always checking their phone. And finish with your contributions, not 'Thank you'. 'Thank you' wastes your most-watched slide."
DO: Show the last slide of this deck later — it follows this rule.
USE TOMORROW: Replace your 'Thank you / Q&amp;A' slide with 'What we found and what we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[1:29–1:32]
SAY: "When a senior leader challenges you, three moves. Acknowledge — show you heard, without being defensive. Answer short — one or two sentences, with a fact. Bridge back — link to your Big Idea or your ask."
DEMO: Role-play the dialogue with a volunteer who has agreed in advance to read the Director's line.
CULTURE NOTE: "Being respectful does not mean being silent or vague. A clear, short answer IS respectful to a senior leader's time."
IF YOU DON'T KNOW: "I don't have that number with me; I'll send it by 3 pm today." Then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[1:32–1:40 · Exercise 4 — 8 min, trios]
SET-UP: "Trios. Roles: Presenter, Director, Observer. Presenter says their answer sentence in 30 seconds. Director picks one question card. Presenter uses acknowledge–answer–bridge. Observer gives one tip. Rotate every 2.5 minutes."
WHY TRIOS: Everyone gets to play the Director — juniors practise pushing back on a 'senior', which builds confidence on both sides.
RUN: Call "Rotate!" at 2:30 and 5:00.
DEBRIEF (1 min): "Which question was hardest? What bridge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[1:40–1:57 · Practice round — 17 min, trios (5 trios for 15 people; one group of 4 if 16, with 2.5-min pitches)]
SET-UP (2 min): "Same trios. Each person pitches their own topic in 3 minutes: Big Idea, 2–3 action-titled points (sketches or your laptop slide), and the ask. Then 2 minutes of feedback using the form."
RUN: 3 rounds × 5 min. Strict timer — call "Feedback now" at 3:00 and "Rotate" at 5:00.
FEEDBACK RULE: one thing that worked, then one thing to try. In that order. Specific: "Your title for slide 2 was clear because…"
FACILITATOR: Sit in with each trio for one round; note one great example to share at the close (ask permission).
TIME NOTE: If Exercises 3–4 overran, start this at 1:42 and keep 3 rounds × 5 min — protect this block above all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[1:57–1:59 · Commitments]
SAY: "Take your index card. Complete this sentence. Be specific: which presentation, which date, which technique, and who will give you feedback."
DO: Ask each trio to read their commitments to each other — not to the whole room (safer). Collect cards or ask people to photograph them; send a reminder email in 2 weeks.
SAY: "Your 30-day plan is in the handout: one small habit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[1:59–2:00 · Close — contributions, not "thank you" (Winston)]
SAY: "We started with two slides of the same data. You now know why one gets a decision. Three moves: answer first, story in the titles, one number and one clear ask."
SAY: "Your next presentation is your next practice round. Send me your before/after slide in the next 30 days — I'll share the best ones with the talent pool."
DO: Hand out the cheat sheet, feedback form and 30-day plan (appendix pages). Stop here — don't end with a 'Thank you' slide.
PHOTO SLOT (right): "diverse Indonesian team applauding at the end of a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on A4 landscape, one per participant. Also reproduced in FACILITATOR-GUIDE.md.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A4 landscape, 2 copies per participant (one per round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Handout: print A4 landscape. Send a reminder email at day 14 and ask for before/after slides at day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rtlCol="0"/>
          <a:lstStyle>
            <a:lvl1pPr algn="l" indent="0" marL="0">
              <a:buNone/>
              <a:defRPr lang="en-US" sz="2600" b="1" dirty="0">
                <a:solidFill>
                  <a:srgbClr val="1A1A1A"/>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nvSpPr>
        <p:spPr>
          <a:xfrm>
            <a:off x="7985455" y="6400800"/>
            <a:ext cx="3200400" cy="274320"/>
          </a:xfrm>
          <a:prstGeom prst="rect">
            <a:avLst/>
          </a:prstGeom>
          <a:noFill/>
          <a:ln/>
        </p:spPr>
        <p:txBody>
          <a:bodyPr wrap="square"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Presenting to Decide  ·  HCI Talent Pool</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XERCISE">
    <p:bg>
      <p:bgPr>
        <a:solidFill>
          <a:srgbClr val="FDECE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rtlCol="0"/>
          <a:lstStyle>
            <a:lvl1pPr algn="l" indent="0" marL="0">
              <a:buNone/>
              <a:defRPr lang="en-US" sz="2600" b="1" dirty="0">
                <a:solidFill>
                  <a:srgbClr val="9E0012"/>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nvSpPr>
        <p:spPr>
          <a:xfrm>
            <a:off x="10088575" y="6355080"/>
            <a:ext cx="1097280" cy="329184"/>
          </a:xfrm>
          <a:prstGeom prst="roundRect">
            <a:avLst>
              <a:gd name="adj" fmla="val 50000"/>
            </a:avLst>
          </a:prstGeom>
          <a:solidFill>
            <a:srgbClr val="E3001B"/>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HANDS-ON</a:t>
            </a:r>
            <a:endParaRPr lang="en-US" sz="11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E3001B"/>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9E0012"/>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ANDOU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6B6B"/>
                </a:solidFill>
                <a:latin typeface="Calibri" pitchFamily="34" charset="0"/>
                <a:ea typeface="Calibri" pitchFamily="34" charset="-122"/>
                <a:cs typeface="Calibri" pitchFamily="34" charset="-120"/>
              </a:rPr>
              <a:t>Presenting to Decide  ·  HCI Talent Pool  ·  Participant handout</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3.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3.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6.xml"/><Relationship Id="rId6"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39682" y="0"/>
            <a:ext cx="5852014" cy="6858000"/>
          </a:xfrm>
          <a:prstGeom prst="rect">
            <a:avLst/>
          </a:prstGeom>
          <a:solidFill>
            <a:srgbClr val="9E0012"/>
          </a:solidFill>
          <a:ln w="12700">
            <a:solidFill>
              <a:srgbClr val="9E0012"/>
            </a:solidFill>
            <a:prstDash val="solid"/>
          </a:ln>
        </p:spPr>
      </p:sp>
      <p:sp>
        <p:nvSpPr>
          <p:cNvPr id="3" name="Shape 1"/>
          <p:cNvSpPr/>
          <p:nvPr/>
        </p:nvSpPr>
        <p:spPr>
          <a:xfrm>
            <a:off x="6924883" y="1088195"/>
            <a:ext cx="4681611" cy="4681611"/>
          </a:xfrm>
          <a:prstGeom prst="ellipse">
            <a:avLst/>
          </a:prstGeom>
          <a:solidFill>
            <a:srgbClr val="E3001B">
              <a:alpha val="60000"/>
            </a:srgbClr>
          </a:solidFill>
          <a:ln w="12700">
            <a:solidFill>
              <a:srgbClr val="E3001B">
                <a:alpha val="0"/>
              </a:srgbClr>
            </a:solidFill>
            <a:prstDash val="solid"/>
          </a:ln>
        </p:spPr>
      </p:sp>
      <p:pic>
        <p:nvPicPr>
          <p:cNvPr id="4" name="Image 0" descr="young Indonesian professional presenting to executives in a modern boardroom">    </p:cNvPr>
          <p:cNvPicPr>
            <a:picLocks noChangeAspect="1"/>
          </p:cNvPicPr>
          <p:nvPr/>
        </p:nvPicPr>
        <p:blipFill>
          <a:blip r:embed="rId1">
            <a:alphaModFix amt="90000"/>
          </a:blip>
          <a:stretch>
            <a:fillRect/>
          </a:stretch>
        </p:blipFill>
        <p:spPr>
          <a:xfrm>
            <a:off x="8442728" y="2606040"/>
            <a:ext cx="1645920" cy="1645920"/>
          </a:xfrm>
          <a:prstGeom prst="rect">
            <a:avLst/>
          </a:prstGeom>
        </p:spPr>
      </p:pic>
      <p:sp>
        <p:nvSpPr>
          <p:cNvPr id="5" name="Text 2"/>
          <p:cNvSpPr txBox="1"/>
          <p:nvPr/>
        </p:nvSpPr>
        <p:spPr>
          <a:xfrm>
            <a:off x="548640" y="822960"/>
            <a:ext cx="6035040" cy="365760"/>
          </a:xfrm>
          <a:prstGeom prst="rect">
            <a:avLst/>
          </a:prstGeom>
          <a:noFill/>
          <a:ln/>
        </p:spPr>
        <p:txBody>
          <a:bodyPr wrap="square" lIns="635" tIns="635" rIns="635" bIns="635" rtlCol="0" anchor="ctr"/>
          <a:lstStyle/>
          <a:p>
            <a:pPr indent="0" marL="0">
              <a:buNone/>
            </a:pPr>
            <a:r>
              <a:rPr lang="en-US" sz="1300" b="1" spc="200" kern="0" dirty="0">
                <a:solidFill>
                  <a:srgbClr val="FFD6DA"/>
                </a:solidFill>
                <a:latin typeface="Calibri" pitchFamily="34" charset="0"/>
                <a:ea typeface="Calibri" pitchFamily="34" charset="-122"/>
                <a:cs typeface="Calibri" pitchFamily="34" charset="-120"/>
              </a:rPr>
              <a:t>TALENT POOL WORKSHOP  ·  HOME CREDIT INDONESIA</a:t>
            </a:r>
            <a:endParaRPr lang="en-US" sz="1300" dirty="0"/>
          </a:p>
        </p:txBody>
      </p:sp>
      <p:sp>
        <p:nvSpPr>
          <p:cNvPr id="6" name="Text 3"/>
          <p:cNvSpPr txBox="1"/>
          <p:nvPr/>
        </p:nvSpPr>
        <p:spPr>
          <a:xfrm>
            <a:off x="548640" y="1371600"/>
            <a:ext cx="6035040" cy="1737360"/>
          </a:xfrm>
          <a:prstGeom prst="rect">
            <a:avLst/>
          </a:prstGeom>
          <a:noFill/>
          <a:ln/>
        </p:spPr>
        <p:txBody>
          <a:bodyPr wrap="square" lIns="635" tIns="635" rIns="635" bIns="635" rtlCol="0" anchor="t"/>
          <a:lstStyle/>
          <a:p>
            <a:pPr indent="0" marL="0">
              <a:buNone/>
            </a:pPr>
            <a:r>
              <a:rPr lang="en-US" sz="4800" b="1" dirty="0">
                <a:solidFill>
                  <a:srgbClr val="FFFFFF"/>
                </a:solidFill>
                <a:latin typeface="Arial" pitchFamily="34" charset="0"/>
                <a:ea typeface="Arial" pitchFamily="34" charset="-122"/>
                <a:cs typeface="Arial" pitchFamily="34" charset="-120"/>
              </a:rPr>
              <a:t>Presenting to Decide</a:t>
            </a:r>
            <a:endParaRPr lang="en-US" sz="4800" dirty="0"/>
          </a:p>
        </p:txBody>
      </p:sp>
      <p:sp>
        <p:nvSpPr>
          <p:cNvPr id="7" name="Text 4"/>
          <p:cNvSpPr txBox="1"/>
          <p:nvPr/>
        </p:nvSpPr>
        <p:spPr>
          <a:xfrm>
            <a:off x="548640" y="3291840"/>
            <a:ext cx="5669280" cy="1188720"/>
          </a:xfrm>
          <a:prstGeom prst="rect">
            <a:avLst/>
          </a:prstGeom>
          <a:noFill/>
          <a:ln/>
        </p:spPr>
        <p:txBody>
          <a:bodyPr wrap="square" lIns="635" tIns="635" rIns="635" bIns="635" rtlCol="0" anchor="t"/>
          <a:lstStyle/>
          <a:p>
            <a:pPr indent="0" marL="0">
              <a:buNone/>
            </a:pPr>
            <a:r>
              <a:rPr lang="en-US" sz="2000" dirty="0">
                <a:solidFill>
                  <a:srgbClr val="FFFFFF"/>
                </a:solidFill>
                <a:latin typeface="Calibri" pitchFamily="34" charset="0"/>
                <a:ea typeface="Calibri" pitchFamily="34" charset="-122"/>
                <a:cs typeface="Calibri" pitchFamily="34" charset="-120"/>
              </a:rPr>
              <a:t>Turn any messy business topic into a clear, data-backed story that gets a decision from senior management</a:t>
            </a:r>
            <a:endParaRPr lang="en-US" sz="2000" dirty="0"/>
          </a:p>
        </p:txBody>
      </p:sp>
      <p:sp>
        <p:nvSpPr>
          <p:cNvPr id="8" name="Text 5"/>
          <p:cNvSpPr txBox="1"/>
          <p:nvPr/>
        </p:nvSpPr>
        <p:spPr>
          <a:xfrm>
            <a:off x="548640" y="4846320"/>
            <a:ext cx="1188720"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1300" b="1" dirty="0">
                <a:solidFill>
                  <a:srgbClr val="E3001B"/>
                </a:solidFill>
                <a:latin typeface="Calibri" pitchFamily="34" charset="0"/>
                <a:ea typeface="Calibri" pitchFamily="34" charset="-122"/>
                <a:cs typeface="Calibri" pitchFamily="34" charset="-120"/>
              </a:rPr>
              <a:t>2 hours</a:t>
            </a:r>
            <a:endParaRPr lang="en-US" sz="1300" dirty="0"/>
          </a:p>
        </p:txBody>
      </p:sp>
      <p:sp>
        <p:nvSpPr>
          <p:cNvPr id="9" name="Text 6"/>
          <p:cNvSpPr txBox="1"/>
          <p:nvPr/>
        </p:nvSpPr>
        <p:spPr>
          <a:xfrm>
            <a:off x="1874520" y="4846320"/>
            <a:ext cx="1645920"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1300" b="1" dirty="0">
                <a:solidFill>
                  <a:srgbClr val="E3001B"/>
                </a:solidFill>
                <a:latin typeface="Calibri" pitchFamily="34" charset="0"/>
                <a:ea typeface="Calibri" pitchFamily="34" charset="-122"/>
                <a:cs typeface="Calibri" pitchFamily="34" charset="-120"/>
              </a:rPr>
              <a:t>50% hands-on</a:t>
            </a:r>
            <a:endParaRPr lang="en-US" sz="1300" dirty="0"/>
          </a:p>
        </p:txBody>
      </p:sp>
      <p:sp>
        <p:nvSpPr>
          <p:cNvPr id="10" name="Text 7"/>
          <p:cNvSpPr txBox="1"/>
          <p:nvPr/>
        </p:nvSpPr>
        <p:spPr>
          <a:xfrm>
            <a:off x="3657600" y="4846320"/>
            <a:ext cx="2194560" cy="329184"/>
          </a:xfrm>
          <a:prstGeom prst="roundRect">
            <a:avLst>
              <a:gd name="adj" fmla="val 50000"/>
            </a:avLst>
          </a:prstGeom>
          <a:solidFill>
            <a:srgbClr val="FFFFFF"/>
          </a:solidFill>
          <a:ln/>
        </p:spPr>
        <p:txBody>
          <a:bodyPr wrap="square" lIns="0" tIns="0" rIns="0" bIns="0" rtlCol="0" anchor="ctr"/>
          <a:lstStyle/>
          <a:p>
            <a:pPr algn="ctr" indent="0" marL="0">
              <a:buNone/>
            </a:pPr>
            <a:r>
              <a:rPr lang="en-US" sz="1300" b="1" dirty="0">
                <a:solidFill>
                  <a:srgbClr val="E3001B"/>
                </a:solidFill>
                <a:latin typeface="Calibri" pitchFamily="34" charset="0"/>
                <a:ea typeface="Calibri" pitchFamily="34" charset="-122"/>
                <a:cs typeface="Calibri" pitchFamily="34" charset="-120"/>
              </a:rPr>
              <a:t>Bring one real topic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Same data, two slides: only one gets a decision in 30 seconds</a:t>
            </a:r>
            <a:endParaRPr lang="en-US" sz="2600" dirty="0"/>
          </a:p>
        </p:txBody>
      </p:sp>
      <p:sp>
        <p:nvSpPr>
          <p:cNvPr id="4" name="Text 1"/>
          <p:cNvSpPr txBox="1"/>
          <p:nvPr/>
        </p:nvSpPr>
        <p:spPr>
          <a:xfrm>
            <a:off x="548640" y="1463040"/>
            <a:ext cx="109728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SLIDE A</a:t>
            </a:r>
            <a:endParaRPr lang="en-US" sz="1200" dirty="0"/>
          </a:p>
        </p:txBody>
      </p:sp>
      <p:sp>
        <p:nvSpPr>
          <p:cNvPr id="5" name="Shape 2"/>
          <p:cNvSpPr/>
          <p:nvPr/>
        </p:nvSpPr>
        <p:spPr>
          <a:xfrm>
            <a:off x="548640" y="1874520"/>
            <a:ext cx="5394960" cy="4114800"/>
          </a:xfrm>
          <a:prstGeom prst="roundRect">
            <a:avLst>
              <a:gd name="adj" fmla="val 2222"/>
            </a:avLst>
          </a:prstGeom>
          <a:solidFill>
            <a:srgbClr val="F4F4F4"/>
          </a:solidFill>
          <a:ln w="12700">
            <a:solidFill>
              <a:srgbClr val="F4F4F4"/>
            </a:solidFill>
            <a:prstDash val="solid"/>
          </a:ln>
        </p:spPr>
      </p:sp>
      <p:sp>
        <p:nvSpPr>
          <p:cNvPr id="6" name="Text 3"/>
          <p:cNvSpPr txBox="1"/>
          <p:nvPr/>
        </p:nvSpPr>
        <p:spPr>
          <a:xfrm>
            <a:off x="777240" y="2011680"/>
            <a:ext cx="4937760" cy="41148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East Java Portfolio Update — June</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2560320"/>
          <a:ext cx="4937760" cy="914400"/>
        </p:xfrm>
        <a:graphic>
          <a:graphicData uri="http://schemas.openxmlformats.org/drawingml/2006/table">
            <a:tbl>
              <a:tblPr/>
              <a:tblGrid>
                <a:gridCol w="1371600"/>
                <a:gridCol w="594360"/>
                <a:gridCol w="594360"/>
                <a:gridCol w="594360"/>
                <a:gridCol w="594360"/>
                <a:gridCol w="594360"/>
                <a:gridCol w="594360"/>
              </a:tblGrid>
              <a:tr h="329184">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Jan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Feb</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Mar</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Apr</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Jun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Volume (IDR bn)</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44.8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49.5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51.4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 Contracts</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18,204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18,960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19,611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20,433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21,350</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22,071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Approval rate</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30+ DPD (MOB3)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New merchants</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Avg ticket (IDR m)</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2.26</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2.27</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2.28</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2.31</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2.32</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2.33</a:t>
                      </a:r>
                      <a:endParaRPr lang="en-US" sz="1100" dirty="0">
                        <a:latin typeface="Calibri" charset="0"/>
                        <a:ea typeface="Calibri" charset="0"/>
                        <a:cs typeface="Calibri" charset="0"/>
                      </a:endParaRPr>
                    </a:p>
                  </a:txBody>
                  <a:tcPr marL="36576" marR="36576" marT="36576" marB="36576">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bl>
          </a:graphicData>
        </a:graphic>
      </p:graphicFrame>
      <p:pic>
        <p:nvPicPr>
          <p:cNvPr id="8" name="Image 0" descr="preencoded.png">    </p:cNvPr>
          <p:cNvPicPr>
            <a:picLocks noChangeAspect="1"/>
          </p:cNvPicPr>
          <p:nvPr/>
        </p:nvPicPr>
        <p:blipFill>
          <a:blip r:embed="rId1"/>
          <a:stretch>
            <a:fillRect/>
          </a:stretch>
        </p:blipFill>
        <p:spPr>
          <a:xfrm>
            <a:off x="5303520" y="1463040"/>
            <a:ext cx="365760" cy="365760"/>
          </a:xfrm>
          <a:prstGeom prst="rect">
            <a:avLst/>
          </a:prstGeom>
        </p:spPr>
      </p:pic>
      <p:sp>
        <p:nvSpPr>
          <p:cNvPr id="9" name="Text 4"/>
          <p:cNvSpPr txBox="1"/>
          <p:nvPr/>
        </p:nvSpPr>
        <p:spPr>
          <a:xfrm>
            <a:off x="6263640" y="1463040"/>
            <a:ext cx="109728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SLIDE B</a:t>
            </a:r>
            <a:endParaRPr lang="en-US" sz="1200" dirty="0"/>
          </a:p>
        </p:txBody>
      </p:sp>
      <p:sp>
        <p:nvSpPr>
          <p:cNvPr id="10" name="Shape 5"/>
          <p:cNvSpPr/>
          <p:nvPr/>
        </p:nvSpPr>
        <p:spPr>
          <a:xfrm>
            <a:off x="6263640" y="1874520"/>
            <a:ext cx="5394960" cy="4114800"/>
          </a:xfrm>
          <a:prstGeom prst="roundRect">
            <a:avLst>
              <a:gd name="adj" fmla="val 2222"/>
            </a:avLst>
          </a:prstGeom>
          <a:solidFill>
            <a:srgbClr val="FFFFFF"/>
          </a:solidFill>
          <a:ln w="19050">
            <a:solidFill>
              <a:srgbClr val="E3001B"/>
            </a:solidFill>
            <a:prstDash val="solid"/>
          </a:ln>
        </p:spPr>
      </p:sp>
      <p:sp>
        <p:nvSpPr>
          <p:cNvPr id="11" name="Text 6"/>
          <p:cNvSpPr txBox="1"/>
          <p:nvPr/>
        </p:nvSpPr>
        <p:spPr>
          <a:xfrm>
            <a:off x="6492240" y="1965960"/>
            <a:ext cx="4937760" cy="77724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East Java early delinquency nearly doubled since January — 12 new merchants drive it; pause them now</a:t>
            </a:r>
            <a:endParaRPr lang="en-US" sz="1500" dirty="0"/>
          </a:p>
        </p:txBody>
      </p:sp>
      <p:graphicFrame>
        <p:nvGraphicFramePr>
          <p:cNvPr id="12" name="Chart 0" descr=""/>
          <p:cNvGraphicFramePr/>
          <p:nvPr/>
        </p:nvGraphicFramePr>
        <p:xfrm>
          <a:off x="6400800" y="2743200"/>
          <a:ext cx="5120640" cy="3108960"/>
        </p:xfrm>
        <a:graphic xmlns:a="http://schemas.openxmlformats.org/drawingml/2006/main">
          <a:graphicData uri="http://schemas.openxmlformats.org/drawingml/2006/chart">
            <c:chart xmlns:c="http://schemas.openxmlformats.org/drawingml/2006/chart" r:id="rId2"/>
          </a:graphicData>
        </a:graphic>
      </p:graphicFrame>
      <p:sp>
        <p:nvSpPr>
          <p:cNvPr id="13" name="Text 7"/>
          <p:cNvSpPr txBox="1"/>
          <p:nvPr/>
        </p:nvSpPr>
        <p:spPr>
          <a:xfrm>
            <a:off x="10652760" y="2697480"/>
            <a:ext cx="914400" cy="365760"/>
          </a:xfrm>
          <a:prstGeom prst="rect">
            <a:avLst/>
          </a:prstGeom>
          <a:noFill/>
          <a:ln/>
        </p:spPr>
        <p:txBody>
          <a:bodyPr wrap="square" lIns="635" tIns="635" rIns="635" bIns="635" rtlCol="0" anchor="ctr"/>
          <a:lstStyle/>
          <a:p>
            <a:pPr algn="r" indent="0" marL="0">
              <a:buNone/>
            </a:pPr>
            <a:r>
              <a:rPr lang="en-US" sz="1600" b="1" dirty="0">
                <a:solidFill>
                  <a:srgbClr val="E3001B"/>
                </a:solidFill>
                <a:latin typeface="Calibri" pitchFamily="34" charset="0"/>
                <a:ea typeface="Calibri" pitchFamily="34" charset="-122"/>
                <a:cs typeface="Calibri" pitchFamily="34" charset="-120"/>
              </a:rPr>
              <a:t>7.1%</a:t>
            </a:r>
            <a:endParaRPr lang="en-US" sz="1600" dirty="0"/>
          </a:p>
        </p:txBody>
      </p:sp>
      <p:pic>
        <p:nvPicPr>
          <p:cNvPr id="14" name="Image 1" descr="preencoded.png">    </p:cNvPr>
          <p:cNvPicPr>
            <a:picLocks noChangeAspect="1"/>
          </p:cNvPicPr>
          <p:nvPr/>
        </p:nvPicPr>
        <p:blipFill>
          <a:blip r:embed="rId3"/>
          <a:stretch>
            <a:fillRect/>
          </a:stretch>
        </p:blipFill>
        <p:spPr>
          <a:xfrm>
            <a:off x="11292840" y="1463040"/>
            <a:ext cx="365760" cy="365760"/>
          </a:xfrm>
          <a:prstGeom prst="rect">
            <a:avLst/>
          </a:prstGeom>
        </p:spPr>
      </p:pic>
      <p:sp>
        <p:nvSpPr>
          <p:cNvPr id="15" name="Text 8"/>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Senior leaders scan every slide for three things: the answer, the so-what, and the ask</a:t>
            </a:r>
            <a:endParaRPr lang="en-US" sz="2600" dirty="0"/>
          </a:p>
        </p:txBody>
      </p:sp>
      <p:sp>
        <p:nvSpPr>
          <p:cNvPr id="4" name="Shape 1"/>
          <p:cNvSpPr/>
          <p:nvPr/>
        </p:nvSpPr>
        <p:spPr>
          <a:xfrm>
            <a:off x="548640" y="1645920"/>
            <a:ext cx="3474720" cy="3566160"/>
          </a:xfrm>
          <a:prstGeom prst="roundRect">
            <a:avLst>
              <a:gd name="adj" fmla="val 2632"/>
            </a:avLst>
          </a:prstGeom>
          <a:solidFill>
            <a:srgbClr val="F4F4F4"/>
          </a:solidFill>
          <a:ln w="12700">
            <a:solidFill>
              <a:srgbClr val="F4F4F4"/>
            </a:solidFill>
            <a:prstDash val="solid"/>
          </a:ln>
        </p:spPr>
      </p:sp>
      <p:sp>
        <p:nvSpPr>
          <p:cNvPr id="5" name="Shape 2"/>
          <p:cNvSpPr/>
          <p:nvPr/>
        </p:nvSpPr>
        <p:spPr>
          <a:xfrm>
            <a:off x="1783080" y="1965960"/>
            <a:ext cx="1005840" cy="100584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2064715" y="2247595"/>
            <a:ext cx="442570" cy="442570"/>
          </a:xfrm>
          <a:prstGeom prst="rect">
            <a:avLst/>
          </a:prstGeom>
        </p:spPr>
      </p:pic>
      <p:sp>
        <p:nvSpPr>
          <p:cNvPr id="7" name="Text 3"/>
          <p:cNvSpPr txBox="1"/>
          <p:nvPr/>
        </p:nvSpPr>
        <p:spPr>
          <a:xfrm>
            <a:off x="822960" y="3154680"/>
            <a:ext cx="2926080" cy="457200"/>
          </a:xfrm>
          <a:prstGeom prst="rect">
            <a:avLst/>
          </a:prstGeom>
          <a:noFill/>
          <a:ln/>
        </p:spPr>
        <p:txBody>
          <a:bodyPr wrap="square" lIns="635" tIns="635" rIns="635" bIns="635" rtlCol="0" anchor="ctr"/>
          <a:lstStyle/>
          <a:p>
            <a:pPr algn="ctr" indent="0" marL="0">
              <a:buNone/>
            </a:pPr>
            <a:r>
              <a:rPr lang="en-US" sz="2000" b="1" dirty="0">
                <a:solidFill>
                  <a:srgbClr val="1A1A1A"/>
                </a:solidFill>
                <a:latin typeface="Arial" pitchFamily="34" charset="0"/>
                <a:ea typeface="Arial" pitchFamily="34" charset="-122"/>
                <a:cs typeface="Arial" pitchFamily="34" charset="-120"/>
              </a:rPr>
              <a:t>The answer</a:t>
            </a:r>
            <a:endParaRPr lang="en-US" sz="2000" dirty="0"/>
          </a:p>
        </p:txBody>
      </p:sp>
      <p:sp>
        <p:nvSpPr>
          <p:cNvPr id="8" name="Text 4"/>
          <p:cNvSpPr txBox="1"/>
          <p:nvPr/>
        </p:nvSpPr>
        <p:spPr>
          <a:xfrm>
            <a:off x="822960" y="3657600"/>
            <a:ext cx="2926080" cy="128016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What do you recommend or conclude? Say it in one sentence, first.</a:t>
            </a:r>
            <a:endParaRPr lang="en-US" sz="1500" dirty="0"/>
          </a:p>
        </p:txBody>
      </p:sp>
      <p:sp>
        <p:nvSpPr>
          <p:cNvPr id="9" name="Shape 5"/>
          <p:cNvSpPr/>
          <p:nvPr/>
        </p:nvSpPr>
        <p:spPr>
          <a:xfrm>
            <a:off x="4297680" y="1645920"/>
            <a:ext cx="3474720" cy="3566160"/>
          </a:xfrm>
          <a:prstGeom prst="roundRect">
            <a:avLst>
              <a:gd name="adj" fmla="val 2632"/>
            </a:avLst>
          </a:prstGeom>
          <a:solidFill>
            <a:srgbClr val="F4F4F4"/>
          </a:solidFill>
          <a:ln w="12700">
            <a:solidFill>
              <a:srgbClr val="F4F4F4"/>
            </a:solidFill>
            <a:prstDash val="solid"/>
          </a:ln>
        </p:spPr>
      </p:sp>
      <p:sp>
        <p:nvSpPr>
          <p:cNvPr id="10" name="Shape 6"/>
          <p:cNvSpPr/>
          <p:nvPr/>
        </p:nvSpPr>
        <p:spPr>
          <a:xfrm>
            <a:off x="5532120" y="1965960"/>
            <a:ext cx="1005840" cy="1005840"/>
          </a:xfrm>
          <a:prstGeom prst="ellipse">
            <a:avLst/>
          </a:prstGeom>
          <a:solidFill>
            <a:srgbClr val="E3001B"/>
          </a:solidFill>
          <a:ln w="12700">
            <a:solidFill>
              <a:srgbClr val="E3001B"/>
            </a:solidFill>
            <a:prstDash val="solid"/>
          </a:ln>
        </p:spPr>
      </p:sp>
      <p:pic>
        <p:nvPicPr>
          <p:cNvPr id="11" name="Image 1" descr="preencoded.png">    </p:cNvPr>
          <p:cNvPicPr>
            <a:picLocks noChangeAspect="1"/>
          </p:cNvPicPr>
          <p:nvPr/>
        </p:nvPicPr>
        <p:blipFill>
          <a:blip r:embed="rId2"/>
          <a:stretch>
            <a:fillRect/>
          </a:stretch>
        </p:blipFill>
        <p:spPr>
          <a:xfrm>
            <a:off x="5813755" y="2247595"/>
            <a:ext cx="442570" cy="442570"/>
          </a:xfrm>
          <a:prstGeom prst="rect">
            <a:avLst/>
          </a:prstGeom>
        </p:spPr>
      </p:pic>
      <p:sp>
        <p:nvSpPr>
          <p:cNvPr id="12" name="Text 7"/>
          <p:cNvSpPr txBox="1"/>
          <p:nvPr/>
        </p:nvSpPr>
        <p:spPr>
          <a:xfrm>
            <a:off x="4572000" y="3154680"/>
            <a:ext cx="2926080" cy="457200"/>
          </a:xfrm>
          <a:prstGeom prst="rect">
            <a:avLst/>
          </a:prstGeom>
          <a:noFill/>
          <a:ln/>
        </p:spPr>
        <p:txBody>
          <a:bodyPr wrap="square" lIns="635" tIns="635" rIns="635" bIns="635" rtlCol="0" anchor="ctr"/>
          <a:lstStyle/>
          <a:p>
            <a:pPr algn="ctr" indent="0" marL="0">
              <a:buNone/>
            </a:pPr>
            <a:r>
              <a:rPr lang="en-US" sz="2000" b="1" dirty="0">
                <a:solidFill>
                  <a:srgbClr val="1A1A1A"/>
                </a:solidFill>
                <a:latin typeface="Arial" pitchFamily="34" charset="0"/>
                <a:ea typeface="Arial" pitchFamily="34" charset="-122"/>
                <a:cs typeface="Arial" pitchFamily="34" charset="-120"/>
              </a:rPr>
              <a:t>The so-what</a:t>
            </a:r>
            <a:endParaRPr lang="en-US" sz="2000" dirty="0"/>
          </a:p>
        </p:txBody>
      </p:sp>
      <p:sp>
        <p:nvSpPr>
          <p:cNvPr id="13" name="Text 8"/>
          <p:cNvSpPr txBox="1"/>
          <p:nvPr/>
        </p:nvSpPr>
        <p:spPr>
          <a:xfrm>
            <a:off x="4572000" y="3657600"/>
            <a:ext cx="2926080" cy="128016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Why it matters to them: money, risk, customers, or their targets.</a:t>
            </a:r>
            <a:endParaRPr lang="en-US" sz="1500" dirty="0"/>
          </a:p>
        </p:txBody>
      </p:sp>
      <p:sp>
        <p:nvSpPr>
          <p:cNvPr id="14" name="Shape 9"/>
          <p:cNvSpPr/>
          <p:nvPr/>
        </p:nvSpPr>
        <p:spPr>
          <a:xfrm>
            <a:off x="8046720" y="1645920"/>
            <a:ext cx="3474720" cy="3566160"/>
          </a:xfrm>
          <a:prstGeom prst="roundRect">
            <a:avLst>
              <a:gd name="adj" fmla="val 2632"/>
            </a:avLst>
          </a:prstGeom>
          <a:solidFill>
            <a:srgbClr val="F4F4F4"/>
          </a:solidFill>
          <a:ln w="12700">
            <a:solidFill>
              <a:srgbClr val="F4F4F4"/>
            </a:solidFill>
            <a:prstDash val="solid"/>
          </a:ln>
        </p:spPr>
      </p:sp>
      <p:sp>
        <p:nvSpPr>
          <p:cNvPr id="15" name="Shape 10"/>
          <p:cNvSpPr/>
          <p:nvPr/>
        </p:nvSpPr>
        <p:spPr>
          <a:xfrm>
            <a:off x="9281160" y="1965960"/>
            <a:ext cx="1005840" cy="1005840"/>
          </a:xfrm>
          <a:prstGeom prst="ellipse">
            <a:avLst/>
          </a:prstGeom>
          <a:solidFill>
            <a:srgbClr val="E3001B"/>
          </a:solidFill>
          <a:ln w="12700">
            <a:solidFill>
              <a:srgbClr val="E3001B"/>
            </a:solidFill>
            <a:prstDash val="solid"/>
          </a:ln>
        </p:spPr>
      </p:sp>
      <p:pic>
        <p:nvPicPr>
          <p:cNvPr id="16" name="Image 2" descr="preencoded.png">    </p:cNvPr>
          <p:cNvPicPr>
            <a:picLocks noChangeAspect="1"/>
          </p:cNvPicPr>
          <p:nvPr/>
        </p:nvPicPr>
        <p:blipFill>
          <a:blip r:embed="rId3"/>
          <a:stretch>
            <a:fillRect/>
          </a:stretch>
        </p:blipFill>
        <p:spPr>
          <a:xfrm>
            <a:off x="9562795" y="2247595"/>
            <a:ext cx="442570" cy="442570"/>
          </a:xfrm>
          <a:prstGeom prst="rect">
            <a:avLst/>
          </a:prstGeom>
        </p:spPr>
      </p:pic>
      <p:sp>
        <p:nvSpPr>
          <p:cNvPr id="17" name="Text 11"/>
          <p:cNvSpPr txBox="1"/>
          <p:nvPr/>
        </p:nvSpPr>
        <p:spPr>
          <a:xfrm>
            <a:off x="8321040" y="3154680"/>
            <a:ext cx="2926080" cy="457200"/>
          </a:xfrm>
          <a:prstGeom prst="rect">
            <a:avLst/>
          </a:prstGeom>
          <a:noFill/>
          <a:ln/>
        </p:spPr>
        <p:txBody>
          <a:bodyPr wrap="square" lIns="635" tIns="635" rIns="635" bIns="635" rtlCol="0" anchor="ctr"/>
          <a:lstStyle/>
          <a:p>
            <a:pPr algn="ctr" indent="0" marL="0">
              <a:buNone/>
            </a:pPr>
            <a:r>
              <a:rPr lang="en-US" sz="2000" b="1" dirty="0">
                <a:solidFill>
                  <a:srgbClr val="1A1A1A"/>
                </a:solidFill>
                <a:latin typeface="Arial" pitchFamily="34" charset="0"/>
                <a:ea typeface="Arial" pitchFamily="34" charset="-122"/>
                <a:cs typeface="Arial" pitchFamily="34" charset="-120"/>
              </a:rPr>
              <a:t>The ask</a:t>
            </a:r>
            <a:endParaRPr lang="en-US" sz="2000" dirty="0"/>
          </a:p>
        </p:txBody>
      </p:sp>
      <p:sp>
        <p:nvSpPr>
          <p:cNvPr id="18" name="Text 12"/>
          <p:cNvSpPr txBox="1"/>
          <p:nvPr/>
        </p:nvSpPr>
        <p:spPr>
          <a:xfrm>
            <a:off x="8321040" y="3657600"/>
            <a:ext cx="2926080" cy="128016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The decision, budget or support you need — today, from this room.</a:t>
            </a:r>
            <a:endParaRPr lang="en-US" sz="1500" dirty="0"/>
          </a:p>
        </p:txBody>
      </p:sp>
      <p:sp>
        <p:nvSpPr>
          <p:cNvPr id="19" name="Text 13"/>
          <p:cNvSpPr txBox="1"/>
          <p:nvPr/>
        </p:nvSpPr>
        <p:spPr>
          <a:xfrm>
            <a:off x="548640" y="5440680"/>
            <a:ext cx="10972800" cy="45720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Everything else is backup. </a:t>
            </a:r>
            <a:pPr indent="0" marL="0">
              <a:buNone/>
            </a:pPr>
            <a:r>
              <a:rPr lang="en-US" sz="1700" dirty="0">
                <a:solidFill>
                  <a:srgbClr val="1A1A1A"/>
                </a:solidFill>
                <a:latin typeface="Calibri" pitchFamily="34" charset="0"/>
                <a:ea typeface="Calibri" pitchFamily="34" charset="-122"/>
                <a:cs typeface="Calibri" pitchFamily="34" charset="-120"/>
              </a:rPr>
              <a:t>Put it in the appendix, ready for questions.</a:t>
            </a:r>
            <a:endParaRPr lang="en-US" sz="17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By the end of today you will pitch one real topic in 3 minutes and leave with a reusable checklist</a:t>
            </a:r>
            <a:endParaRPr lang="en-US" sz="2600" dirty="0"/>
          </a:p>
        </p:txBody>
      </p:sp>
      <p:sp>
        <p:nvSpPr>
          <p:cNvPr id="4" name="Shape 1"/>
          <p:cNvSpPr/>
          <p:nvPr/>
        </p:nvSpPr>
        <p:spPr>
          <a:xfrm>
            <a:off x="548640" y="1554480"/>
            <a:ext cx="4206240" cy="4480560"/>
          </a:xfrm>
          <a:prstGeom prst="rect">
            <a:avLst/>
          </a:prstGeom>
          <a:solidFill>
            <a:srgbClr val="9E0012"/>
          </a:solidFill>
          <a:ln w="12700">
            <a:solidFill>
              <a:srgbClr val="9E0012"/>
            </a:solidFill>
            <a:prstDash val="solid"/>
          </a:ln>
        </p:spPr>
      </p:sp>
      <p:sp>
        <p:nvSpPr>
          <p:cNvPr id="5" name="Shape 2"/>
          <p:cNvSpPr/>
          <p:nvPr/>
        </p:nvSpPr>
        <p:spPr>
          <a:xfrm>
            <a:off x="969264" y="2112264"/>
            <a:ext cx="3364992" cy="3364992"/>
          </a:xfrm>
          <a:prstGeom prst="ellipse">
            <a:avLst/>
          </a:prstGeom>
          <a:solidFill>
            <a:srgbClr val="E3001B">
              <a:alpha val="60000"/>
            </a:srgbClr>
          </a:solidFill>
          <a:ln w="12700">
            <a:solidFill>
              <a:srgbClr val="E3001B">
                <a:alpha val="0"/>
              </a:srgbClr>
            </a:solidFill>
            <a:prstDash val="solid"/>
          </a:ln>
        </p:spPr>
      </p:sp>
      <p:pic>
        <p:nvPicPr>
          <p:cNvPr id="6" name="Image 0" descr="confident Southeast Asian woman presenting slides to a small team">    </p:cNvPr>
          <p:cNvPicPr>
            <a:picLocks noChangeAspect="1"/>
          </p:cNvPicPr>
          <p:nvPr/>
        </p:nvPicPr>
        <p:blipFill>
          <a:blip r:embed="rId1">
            <a:alphaModFix amt="90000"/>
          </a:blip>
          <a:stretch>
            <a:fillRect/>
          </a:stretch>
        </p:blipFill>
        <p:spPr>
          <a:xfrm>
            <a:off x="2012412" y="3155412"/>
            <a:ext cx="1278697" cy="1278697"/>
          </a:xfrm>
          <a:prstGeom prst="rect">
            <a:avLst/>
          </a:prstGeom>
        </p:spPr>
      </p:pic>
      <p:sp>
        <p:nvSpPr>
          <p:cNvPr id="7" name="Text 3"/>
          <p:cNvSpPr txBox="1"/>
          <p:nvPr/>
        </p:nvSpPr>
        <p:spPr>
          <a:xfrm>
            <a:off x="5212080" y="1691640"/>
            <a:ext cx="822960" cy="822960"/>
          </a:xfrm>
          <a:prstGeom prst="rect">
            <a:avLst/>
          </a:prstGeom>
          <a:noFill/>
          <a:ln/>
        </p:spPr>
        <p:txBody>
          <a:bodyPr wrap="square" lIns="0" tIns="0" rIns="0" bIns="0" rtlCol="0" anchor="t"/>
          <a:lstStyle/>
          <a:p>
            <a:pPr indent="0" marL="0">
              <a:buNone/>
            </a:pPr>
            <a:r>
              <a:rPr lang="en-US" sz="4000" b="1" dirty="0">
                <a:solidFill>
                  <a:srgbClr val="E3001B"/>
                </a:solidFill>
                <a:latin typeface="Arial" pitchFamily="34" charset="0"/>
                <a:ea typeface="Arial" pitchFamily="34" charset="-122"/>
                <a:cs typeface="Arial" pitchFamily="34" charset="-120"/>
              </a:rPr>
              <a:t>1</a:t>
            </a:r>
            <a:endParaRPr lang="en-US" sz="4000" dirty="0"/>
          </a:p>
        </p:txBody>
      </p:sp>
      <p:sp>
        <p:nvSpPr>
          <p:cNvPr id="8" name="Text 4"/>
          <p:cNvSpPr txBox="1"/>
          <p:nvPr/>
        </p:nvSpPr>
        <p:spPr>
          <a:xfrm>
            <a:off x="6035040" y="1691640"/>
            <a:ext cx="5577840" cy="1188720"/>
          </a:xfrm>
          <a:prstGeom prst="rect">
            <a:avLst/>
          </a:prstGeom>
          <a:noFill/>
          <a:ln/>
        </p:spPr>
        <p:txBody>
          <a:bodyPr wrap="square" lIns="635" tIns="635" rIns="635" bIns="635"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Find your one message</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Answer first with the Pyramid Principle and SCQA</a:t>
            </a:r>
            <a:endParaRPr lang="en-US" sz="1500" dirty="0"/>
          </a:p>
        </p:txBody>
      </p:sp>
      <p:sp>
        <p:nvSpPr>
          <p:cNvPr id="9" name="Text 5"/>
          <p:cNvSpPr txBox="1"/>
          <p:nvPr/>
        </p:nvSpPr>
        <p:spPr>
          <a:xfrm>
            <a:off x="5212080" y="3154680"/>
            <a:ext cx="822960" cy="822960"/>
          </a:xfrm>
          <a:prstGeom prst="rect">
            <a:avLst/>
          </a:prstGeom>
          <a:noFill/>
          <a:ln/>
        </p:spPr>
        <p:txBody>
          <a:bodyPr wrap="square" lIns="0" tIns="0" rIns="0" bIns="0" rtlCol="0" anchor="t"/>
          <a:lstStyle/>
          <a:p>
            <a:pPr indent="0" marL="0">
              <a:buNone/>
            </a:pPr>
            <a:r>
              <a:rPr lang="en-US" sz="4000" b="1" dirty="0">
                <a:solidFill>
                  <a:srgbClr val="E3001B"/>
                </a:solidFill>
                <a:latin typeface="Arial" pitchFamily="34" charset="0"/>
                <a:ea typeface="Arial" pitchFamily="34" charset="-122"/>
                <a:cs typeface="Arial" pitchFamily="34" charset="-120"/>
              </a:rPr>
              <a:t>2</a:t>
            </a:r>
            <a:endParaRPr lang="en-US" sz="4000" dirty="0"/>
          </a:p>
        </p:txBody>
      </p:sp>
      <p:sp>
        <p:nvSpPr>
          <p:cNvPr id="10" name="Text 6"/>
          <p:cNvSpPr txBox="1"/>
          <p:nvPr/>
        </p:nvSpPr>
        <p:spPr>
          <a:xfrm>
            <a:off x="6035040" y="3154680"/>
            <a:ext cx="5577840" cy="1188720"/>
          </a:xfrm>
          <a:prstGeom prst="rect">
            <a:avLst/>
          </a:prstGeom>
          <a:noFill/>
          <a:ln/>
        </p:spPr>
        <p:txBody>
          <a:bodyPr wrap="square" lIns="635" tIns="635" rIns="635" bIns="635"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Build a storyline that passes the headline test</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Titles alone tell the whole story</a:t>
            </a:r>
            <a:endParaRPr lang="en-US" sz="1500" dirty="0"/>
          </a:p>
        </p:txBody>
      </p:sp>
      <p:sp>
        <p:nvSpPr>
          <p:cNvPr id="11" name="Text 7"/>
          <p:cNvSpPr txBox="1"/>
          <p:nvPr/>
        </p:nvSpPr>
        <p:spPr>
          <a:xfrm>
            <a:off x="5212080" y="4617720"/>
            <a:ext cx="822960" cy="822960"/>
          </a:xfrm>
          <a:prstGeom prst="rect">
            <a:avLst/>
          </a:prstGeom>
          <a:noFill/>
          <a:ln/>
        </p:spPr>
        <p:txBody>
          <a:bodyPr wrap="square" lIns="0" tIns="0" rIns="0" bIns="0" rtlCol="0" anchor="t"/>
          <a:lstStyle/>
          <a:p>
            <a:pPr indent="0" marL="0">
              <a:buNone/>
            </a:pPr>
            <a:r>
              <a:rPr lang="en-US" sz="4000" b="1" dirty="0">
                <a:solidFill>
                  <a:srgbClr val="E3001B"/>
                </a:solidFill>
                <a:latin typeface="Arial" pitchFamily="34" charset="0"/>
                <a:ea typeface="Arial" pitchFamily="34" charset="-122"/>
                <a:cs typeface="Arial" pitchFamily="34" charset="-120"/>
              </a:rPr>
              <a:t>3</a:t>
            </a:r>
            <a:endParaRPr lang="en-US" sz="4000" dirty="0"/>
          </a:p>
        </p:txBody>
      </p:sp>
      <p:sp>
        <p:nvSpPr>
          <p:cNvPr id="12" name="Text 8"/>
          <p:cNvSpPr txBox="1"/>
          <p:nvPr/>
        </p:nvSpPr>
        <p:spPr>
          <a:xfrm>
            <a:off x="6035040" y="4617720"/>
            <a:ext cx="5577840" cy="1188720"/>
          </a:xfrm>
          <a:prstGeom prst="rect">
            <a:avLst/>
          </a:prstGeom>
          <a:noFill/>
          <a:ln/>
        </p:spPr>
        <p:txBody>
          <a:bodyPr wrap="square" lIns="635" tIns="635" rIns="635" bIns="635" rtlCol="0" anchor="t"/>
          <a:lstStyle/>
          <a:p>
            <a:pPr indent="0" marL="0">
              <a:buNone/>
            </a:pPr>
            <a:r>
              <a:rPr lang="en-US" sz="1900" b="1" dirty="0">
                <a:solidFill>
                  <a:srgbClr val="1A1A1A"/>
                </a:solidFill>
                <a:latin typeface="Calibri" pitchFamily="34" charset="0"/>
                <a:ea typeface="Calibri" pitchFamily="34" charset="-122"/>
                <a:cs typeface="Calibri" pitchFamily="34" charset="-120"/>
              </a:rPr>
              <a:t>Design and deliver slides that ask for a decision</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One chart, one number, calm answers to tough questions</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Half of the next 120 minutes is you practising, not me talking</a:t>
            </a:r>
            <a:endParaRPr lang="en-US" sz="2600" dirty="0"/>
          </a:p>
        </p:txBody>
      </p:sp>
      <p:sp>
        <p:nvSpPr>
          <p:cNvPr id="4" name="Text 1"/>
          <p:cNvSpPr txBox="1"/>
          <p:nvPr/>
        </p:nvSpPr>
        <p:spPr>
          <a:xfrm>
            <a:off x="548640" y="150876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0–10</a:t>
            </a:r>
            <a:endParaRPr lang="en-US" sz="1400" dirty="0"/>
          </a:p>
        </p:txBody>
      </p:sp>
      <p:sp>
        <p:nvSpPr>
          <p:cNvPr id="5" name="Text 2"/>
          <p:cNvSpPr txBox="1"/>
          <p:nvPr/>
        </p:nvSpPr>
        <p:spPr>
          <a:xfrm>
            <a:off x="1600200" y="150876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Opening: why most slides don't get decisions</a:t>
            </a:r>
            <a:endParaRPr lang="en-US" sz="1500" dirty="0"/>
          </a:p>
        </p:txBody>
      </p:sp>
      <p:sp>
        <p:nvSpPr>
          <p:cNvPr id="6" name="Shape 3"/>
          <p:cNvSpPr/>
          <p:nvPr/>
        </p:nvSpPr>
        <p:spPr>
          <a:xfrm>
            <a:off x="6400800" y="1572768"/>
            <a:ext cx="1243584" cy="292608"/>
          </a:xfrm>
          <a:prstGeom prst="rect">
            <a:avLst/>
          </a:prstGeom>
          <a:solidFill>
            <a:srgbClr val="BDBDBD"/>
          </a:solidFill>
          <a:ln w="12700">
            <a:solidFill>
              <a:srgbClr val="FFFFFF"/>
            </a:solidFill>
            <a:prstDash val="solid"/>
          </a:ln>
        </p:spPr>
      </p:sp>
      <p:sp>
        <p:nvSpPr>
          <p:cNvPr id="7" name="Shape 4"/>
          <p:cNvSpPr/>
          <p:nvPr/>
        </p:nvSpPr>
        <p:spPr>
          <a:xfrm>
            <a:off x="7644384" y="1572768"/>
            <a:ext cx="310896" cy="292608"/>
          </a:xfrm>
          <a:prstGeom prst="rect">
            <a:avLst/>
          </a:prstGeom>
          <a:solidFill>
            <a:srgbClr val="E3001B"/>
          </a:solidFill>
          <a:ln w="12700">
            <a:solidFill>
              <a:srgbClr val="FFFFFF"/>
            </a:solidFill>
            <a:prstDash val="solid"/>
          </a:ln>
        </p:spPr>
      </p:sp>
      <p:sp>
        <p:nvSpPr>
          <p:cNvPr id="8" name="Text 5"/>
          <p:cNvSpPr txBox="1"/>
          <p:nvPr/>
        </p:nvSpPr>
        <p:spPr>
          <a:xfrm>
            <a:off x="8046720" y="150876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10 min</a:t>
            </a:r>
            <a:endParaRPr lang="en-US" sz="1200" dirty="0"/>
          </a:p>
        </p:txBody>
      </p:sp>
      <p:sp>
        <p:nvSpPr>
          <p:cNvPr id="9" name="Text 6"/>
          <p:cNvSpPr txBox="1"/>
          <p:nvPr/>
        </p:nvSpPr>
        <p:spPr>
          <a:xfrm>
            <a:off x="548640" y="205740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10–35</a:t>
            </a:r>
            <a:endParaRPr lang="en-US" sz="1400" dirty="0"/>
          </a:p>
        </p:txBody>
      </p:sp>
      <p:sp>
        <p:nvSpPr>
          <p:cNvPr id="10" name="Text 7"/>
          <p:cNvSpPr txBox="1"/>
          <p:nvPr/>
        </p:nvSpPr>
        <p:spPr>
          <a:xfrm>
            <a:off x="1600200" y="205740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1 · Know your audience, find your one message</a:t>
            </a:r>
            <a:endParaRPr lang="en-US" sz="1500" dirty="0"/>
          </a:p>
        </p:txBody>
      </p:sp>
      <p:sp>
        <p:nvSpPr>
          <p:cNvPr id="11" name="Shape 8"/>
          <p:cNvSpPr/>
          <p:nvPr/>
        </p:nvSpPr>
        <p:spPr>
          <a:xfrm>
            <a:off x="6400800" y="2121408"/>
            <a:ext cx="2020824" cy="292608"/>
          </a:xfrm>
          <a:prstGeom prst="rect">
            <a:avLst/>
          </a:prstGeom>
          <a:solidFill>
            <a:srgbClr val="BDBDBD"/>
          </a:solidFill>
          <a:ln w="12700">
            <a:solidFill>
              <a:srgbClr val="FFFFFF"/>
            </a:solidFill>
            <a:prstDash val="solid"/>
          </a:ln>
        </p:spPr>
      </p:sp>
      <p:sp>
        <p:nvSpPr>
          <p:cNvPr id="12" name="Shape 9"/>
          <p:cNvSpPr/>
          <p:nvPr/>
        </p:nvSpPr>
        <p:spPr>
          <a:xfrm>
            <a:off x="8421624" y="2121408"/>
            <a:ext cx="1865376" cy="292608"/>
          </a:xfrm>
          <a:prstGeom prst="rect">
            <a:avLst/>
          </a:prstGeom>
          <a:solidFill>
            <a:srgbClr val="E3001B"/>
          </a:solidFill>
          <a:ln w="12700">
            <a:solidFill>
              <a:srgbClr val="FFFFFF"/>
            </a:solidFill>
            <a:prstDash val="solid"/>
          </a:ln>
        </p:spPr>
      </p:sp>
      <p:sp>
        <p:nvSpPr>
          <p:cNvPr id="13" name="Text 10"/>
          <p:cNvSpPr txBox="1"/>
          <p:nvPr/>
        </p:nvSpPr>
        <p:spPr>
          <a:xfrm>
            <a:off x="10378440" y="205740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25 min</a:t>
            </a:r>
            <a:endParaRPr lang="en-US" sz="1200" dirty="0"/>
          </a:p>
        </p:txBody>
      </p:sp>
      <p:sp>
        <p:nvSpPr>
          <p:cNvPr id="14" name="Text 11"/>
          <p:cNvSpPr txBox="1"/>
          <p:nvPr/>
        </p:nvSpPr>
        <p:spPr>
          <a:xfrm>
            <a:off x="548640" y="260604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35–55</a:t>
            </a:r>
            <a:endParaRPr lang="en-US" sz="1400" dirty="0"/>
          </a:p>
        </p:txBody>
      </p:sp>
      <p:sp>
        <p:nvSpPr>
          <p:cNvPr id="15" name="Text 12"/>
          <p:cNvSpPr txBox="1"/>
          <p:nvPr/>
        </p:nvSpPr>
        <p:spPr>
          <a:xfrm>
            <a:off x="1600200" y="260604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2 · Build the storyline</a:t>
            </a:r>
            <a:endParaRPr lang="en-US" sz="1500" dirty="0"/>
          </a:p>
        </p:txBody>
      </p:sp>
      <p:sp>
        <p:nvSpPr>
          <p:cNvPr id="16" name="Shape 13"/>
          <p:cNvSpPr/>
          <p:nvPr/>
        </p:nvSpPr>
        <p:spPr>
          <a:xfrm>
            <a:off x="6400800" y="2670048"/>
            <a:ext cx="1865376" cy="292608"/>
          </a:xfrm>
          <a:prstGeom prst="rect">
            <a:avLst/>
          </a:prstGeom>
          <a:solidFill>
            <a:srgbClr val="BDBDBD"/>
          </a:solidFill>
          <a:ln w="12700">
            <a:solidFill>
              <a:srgbClr val="FFFFFF"/>
            </a:solidFill>
            <a:prstDash val="solid"/>
          </a:ln>
        </p:spPr>
      </p:sp>
      <p:sp>
        <p:nvSpPr>
          <p:cNvPr id="17" name="Shape 14"/>
          <p:cNvSpPr/>
          <p:nvPr/>
        </p:nvSpPr>
        <p:spPr>
          <a:xfrm>
            <a:off x="8266176" y="2670048"/>
            <a:ext cx="1243584" cy="292608"/>
          </a:xfrm>
          <a:prstGeom prst="rect">
            <a:avLst/>
          </a:prstGeom>
          <a:solidFill>
            <a:srgbClr val="E3001B"/>
          </a:solidFill>
          <a:ln w="12700">
            <a:solidFill>
              <a:srgbClr val="FFFFFF"/>
            </a:solidFill>
            <a:prstDash val="solid"/>
          </a:ln>
        </p:spPr>
      </p:sp>
      <p:sp>
        <p:nvSpPr>
          <p:cNvPr id="18" name="Text 15"/>
          <p:cNvSpPr txBox="1"/>
          <p:nvPr/>
        </p:nvSpPr>
        <p:spPr>
          <a:xfrm>
            <a:off x="9601200" y="260604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20 min</a:t>
            </a:r>
            <a:endParaRPr lang="en-US" sz="1200" dirty="0"/>
          </a:p>
        </p:txBody>
      </p:sp>
      <p:sp>
        <p:nvSpPr>
          <p:cNvPr id="19" name="Text 16"/>
          <p:cNvSpPr txBox="1"/>
          <p:nvPr/>
        </p:nvSpPr>
        <p:spPr>
          <a:xfrm>
            <a:off x="548640" y="315468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55–65</a:t>
            </a:r>
            <a:endParaRPr lang="en-US" sz="1400" dirty="0"/>
          </a:p>
        </p:txBody>
      </p:sp>
      <p:sp>
        <p:nvSpPr>
          <p:cNvPr id="20" name="Text 17"/>
          <p:cNvSpPr txBox="1"/>
          <p:nvPr/>
        </p:nvSpPr>
        <p:spPr>
          <a:xfrm>
            <a:off x="1600200" y="3154680"/>
            <a:ext cx="4754880" cy="411480"/>
          </a:xfrm>
          <a:prstGeom prst="rect">
            <a:avLst/>
          </a:prstGeom>
          <a:noFill/>
          <a:ln/>
        </p:spPr>
        <p:txBody>
          <a:bodyPr wrap="square" lIns="635" tIns="635" rIns="635" bIns="635" rtlCol="0" anchor="ctr"/>
          <a:lstStyle/>
          <a:p>
            <a:pPr indent="0" marL="0">
              <a:buNone/>
            </a:pPr>
            <a:r>
              <a:rPr lang="en-US" sz="1500" dirty="0">
                <a:solidFill>
                  <a:srgbClr val="6B6B6B"/>
                </a:solidFill>
                <a:latin typeface="Calibri" pitchFamily="34" charset="0"/>
                <a:ea typeface="Calibri" pitchFamily="34" charset="-122"/>
                <a:cs typeface="Calibri" pitchFamily="34" charset="-120"/>
              </a:rPr>
              <a:t>Break</a:t>
            </a:r>
            <a:endParaRPr lang="en-US" sz="1500" dirty="0"/>
          </a:p>
        </p:txBody>
      </p:sp>
      <p:sp>
        <p:nvSpPr>
          <p:cNvPr id="21" name="Shape 18"/>
          <p:cNvSpPr/>
          <p:nvPr/>
        </p:nvSpPr>
        <p:spPr>
          <a:xfrm>
            <a:off x="6400800" y="3218688"/>
            <a:ext cx="1554480" cy="292608"/>
          </a:xfrm>
          <a:prstGeom prst="rect">
            <a:avLst/>
          </a:prstGeom>
          <a:solidFill>
            <a:srgbClr val="E6E6E6"/>
          </a:solidFill>
          <a:ln w="12700">
            <a:solidFill>
              <a:srgbClr val="FFFFFF"/>
            </a:solidFill>
            <a:prstDash val="solid"/>
          </a:ln>
        </p:spPr>
      </p:sp>
      <p:sp>
        <p:nvSpPr>
          <p:cNvPr id="22" name="Text 19"/>
          <p:cNvSpPr txBox="1"/>
          <p:nvPr/>
        </p:nvSpPr>
        <p:spPr>
          <a:xfrm>
            <a:off x="8046720" y="315468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10 min</a:t>
            </a:r>
            <a:endParaRPr lang="en-US" sz="1200" dirty="0"/>
          </a:p>
        </p:txBody>
      </p:sp>
      <p:sp>
        <p:nvSpPr>
          <p:cNvPr id="23" name="Text 20"/>
          <p:cNvSpPr txBox="1"/>
          <p:nvPr/>
        </p:nvSpPr>
        <p:spPr>
          <a:xfrm>
            <a:off x="548640" y="370332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65–85</a:t>
            </a:r>
            <a:endParaRPr lang="en-US" sz="1400" dirty="0"/>
          </a:p>
        </p:txBody>
      </p:sp>
      <p:sp>
        <p:nvSpPr>
          <p:cNvPr id="24" name="Text 21"/>
          <p:cNvSpPr txBox="1"/>
          <p:nvPr/>
        </p:nvSpPr>
        <p:spPr>
          <a:xfrm>
            <a:off x="1600200" y="370332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3 · Design slides that persuade</a:t>
            </a:r>
            <a:endParaRPr lang="en-US" sz="1500" dirty="0"/>
          </a:p>
        </p:txBody>
      </p:sp>
      <p:sp>
        <p:nvSpPr>
          <p:cNvPr id="25" name="Shape 22"/>
          <p:cNvSpPr/>
          <p:nvPr/>
        </p:nvSpPr>
        <p:spPr>
          <a:xfrm>
            <a:off x="6400800" y="3767328"/>
            <a:ext cx="1554480" cy="292608"/>
          </a:xfrm>
          <a:prstGeom prst="rect">
            <a:avLst/>
          </a:prstGeom>
          <a:solidFill>
            <a:srgbClr val="BDBDBD"/>
          </a:solidFill>
          <a:ln w="12700">
            <a:solidFill>
              <a:srgbClr val="FFFFFF"/>
            </a:solidFill>
            <a:prstDash val="solid"/>
          </a:ln>
        </p:spPr>
      </p:sp>
      <p:sp>
        <p:nvSpPr>
          <p:cNvPr id="26" name="Shape 23"/>
          <p:cNvSpPr/>
          <p:nvPr/>
        </p:nvSpPr>
        <p:spPr>
          <a:xfrm>
            <a:off x="7955280" y="3767328"/>
            <a:ext cx="1554480" cy="292608"/>
          </a:xfrm>
          <a:prstGeom prst="rect">
            <a:avLst/>
          </a:prstGeom>
          <a:solidFill>
            <a:srgbClr val="E3001B"/>
          </a:solidFill>
          <a:ln w="12700">
            <a:solidFill>
              <a:srgbClr val="FFFFFF"/>
            </a:solidFill>
            <a:prstDash val="solid"/>
          </a:ln>
        </p:spPr>
      </p:sp>
      <p:sp>
        <p:nvSpPr>
          <p:cNvPr id="27" name="Text 24"/>
          <p:cNvSpPr txBox="1"/>
          <p:nvPr/>
        </p:nvSpPr>
        <p:spPr>
          <a:xfrm>
            <a:off x="9601200" y="370332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20 min</a:t>
            </a:r>
            <a:endParaRPr lang="en-US" sz="1200" dirty="0"/>
          </a:p>
        </p:txBody>
      </p:sp>
      <p:sp>
        <p:nvSpPr>
          <p:cNvPr id="28" name="Text 25"/>
          <p:cNvSpPr txBox="1"/>
          <p:nvPr/>
        </p:nvSpPr>
        <p:spPr>
          <a:xfrm>
            <a:off x="548640" y="425196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85–100</a:t>
            </a:r>
            <a:endParaRPr lang="en-US" sz="1400" dirty="0"/>
          </a:p>
        </p:txBody>
      </p:sp>
      <p:sp>
        <p:nvSpPr>
          <p:cNvPr id="29" name="Text 26"/>
          <p:cNvSpPr txBox="1"/>
          <p:nvPr/>
        </p:nvSpPr>
        <p:spPr>
          <a:xfrm>
            <a:off x="1600200" y="425196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4 · Deliver and handle tough questions</a:t>
            </a:r>
            <a:endParaRPr lang="en-US" sz="1500" dirty="0"/>
          </a:p>
        </p:txBody>
      </p:sp>
      <p:sp>
        <p:nvSpPr>
          <p:cNvPr id="30" name="Shape 27"/>
          <p:cNvSpPr/>
          <p:nvPr/>
        </p:nvSpPr>
        <p:spPr>
          <a:xfrm>
            <a:off x="6400800" y="4315968"/>
            <a:ext cx="1088136" cy="292608"/>
          </a:xfrm>
          <a:prstGeom prst="rect">
            <a:avLst/>
          </a:prstGeom>
          <a:solidFill>
            <a:srgbClr val="BDBDBD"/>
          </a:solidFill>
          <a:ln w="12700">
            <a:solidFill>
              <a:srgbClr val="FFFFFF"/>
            </a:solidFill>
            <a:prstDash val="solid"/>
          </a:ln>
        </p:spPr>
      </p:sp>
      <p:sp>
        <p:nvSpPr>
          <p:cNvPr id="31" name="Shape 28"/>
          <p:cNvSpPr/>
          <p:nvPr/>
        </p:nvSpPr>
        <p:spPr>
          <a:xfrm>
            <a:off x="7488936" y="4315968"/>
            <a:ext cx="1243584" cy="292608"/>
          </a:xfrm>
          <a:prstGeom prst="rect">
            <a:avLst/>
          </a:prstGeom>
          <a:solidFill>
            <a:srgbClr val="E3001B"/>
          </a:solidFill>
          <a:ln w="12700">
            <a:solidFill>
              <a:srgbClr val="FFFFFF"/>
            </a:solidFill>
            <a:prstDash val="solid"/>
          </a:ln>
        </p:spPr>
      </p:sp>
      <p:sp>
        <p:nvSpPr>
          <p:cNvPr id="32" name="Text 29"/>
          <p:cNvSpPr txBox="1"/>
          <p:nvPr/>
        </p:nvSpPr>
        <p:spPr>
          <a:xfrm>
            <a:off x="8823960" y="425196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15 min</a:t>
            </a:r>
            <a:endParaRPr lang="en-US" sz="1200" dirty="0"/>
          </a:p>
        </p:txBody>
      </p:sp>
      <p:sp>
        <p:nvSpPr>
          <p:cNvPr id="33" name="Text 30"/>
          <p:cNvSpPr txBox="1"/>
          <p:nvPr/>
        </p:nvSpPr>
        <p:spPr>
          <a:xfrm>
            <a:off x="548640" y="480060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100–117</a:t>
            </a:r>
            <a:endParaRPr lang="en-US" sz="1400" dirty="0"/>
          </a:p>
        </p:txBody>
      </p:sp>
      <p:sp>
        <p:nvSpPr>
          <p:cNvPr id="34" name="Text 31"/>
          <p:cNvSpPr txBox="1"/>
          <p:nvPr/>
        </p:nvSpPr>
        <p:spPr>
          <a:xfrm>
            <a:off x="1600200" y="480060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5 · Practice round with peer feedback</a:t>
            </a:r>
            <a:endParaRPr lang="en-US" sz="1500" dirty="0"/>
          </a:p>
        </p:txBody>
      </p:sp>
      <p:sp>
        <p:nvSpPr>
          <p:cNvPr id="35" name="Shape 32"/>
          <p:cNvSpPr/>
          <p:nvPr/>
        </p:nvSpPr>
        <p:spPr>
          <a:xfrm>
            <a:off x="6400800" y="4864608"/>
            <a:ext cx="2642616" cy="292608"/>
          </a:xfrm>
          <a:prstGeom prst="rect">
            <a:avLst/>
          </a:prstGeom>
          <a:solidFill>
            <a:srgbClr val="E3001B"/>
          </a:solidFill>
          <a:ln w="12700">
            <a:solidFill>
              <a:srgbClr val="FFFFFF"/>
            </a:solidFill>
            <a:prstDash val="solid"/>
          </a:ln>
        </p:spPr>
      </p:sp>
      <p:sp>
        <p:nvSpPr>
          <p:cNvPr id="36" name="Text 33"/>
          <p:cNvSpPr txBox="1"/>
          <p:nvPr/>
        </p:nvSpPr>
        <p:spPr>
          <a:xfrm>
            <a:off x="9134856" y="480060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17 min</a:t>
            </a:r>
            <a:endParaRPr lang="en-US" sz="1200" dirty="0"/>
          </a:p>
        </p:txBody>
      </p:sp>
      <p:sp>
        <p:nvSpPr>
          <p:cNvPr id="37" name="Text 34"/>
          <p:cNvSpPr txBox="1"/>
          <p:nvPr/>
        </p:nvSpPr>
        <p:spPr>
          <a:xfrm>
            <a:off x="548640" y="5349240"/>
            <a:ext cx="1005840" cy="41148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117–120</a:t>
            </a:r>
            <a:endParaRPr lang="en-US" sz="1400" dirty="0"/>
          </a:p>
        </p:txBody>
      </p:sp>
      <p:sp>
        <p:nvSpPr>
          <p:cNvPr id="38" name="Text 35"/>
          <p:cNvSpPr txBox="1"/>
          <p:nvPr/>
        </p:nvSpPr>
        <p:spPr>
          <a:xfrm>
            <a:off x="1600200" y="5349240"/>
            <a:ext cx="4754880" cy="41148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Commitments and close</a:t>
            </a:r>
            <a:endParaRPr lang="en-US" sz="1500" dirty="0"/>
          </a:p>
        </p:txBody>
      </p:sp>
      <p:sp>
        <p:nvSpPr>
          <p:cNvPr id="39" name="Shape 36"/>
          <p:cNvSpPr/>
          <p:nvPr/>
        </p:nvSpPr>
        <p:spPr>
          <a:xfrm>
            <a:off x="6400800" y="5413248"/>
            <a:ext cx="466344" cy="292608"/>
          </a:xfrm>
          <a:prstGeom prst="rect">
            <a:avLst/>
          </a:prstGeom>
          <a:solidFill>
            <a:srgbClr val="E3001B"/>
          </a:solidFill>
          <a:ln w="12700">
            <a:solidFill>
              <a:srgbClr val="FFFFFF"/>
            </a:solidFill>
            <a:prstDash val="solid"/>
          </a:ln>
        </p:spPr>
      </p:sp>
      <p:sp>
        <p:nvSpPr>
          <p:cNvPr id="40" name="Text 37"/>
          <p:cNvSpPr txBox="1"/>
          <p:nvPr/>
        </p:nvSpPr>
        <p:spPr>
          <a:xfrm>
            <a:off x="6958584" y="5349240"/>
            <a:ext cx="914400" cy="41148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3 min</a:t>
            </a:r>
            <a:endParaRPr lang="en-US" sz="1200" dirty="0"/>
          </a:p>
        </p:txBody>
      </p:sp>
      <p:sp>
        <p:nvSpPr>
          <p:cNvPr id="41" name="Shape 38"/>
          <p:cNvSpPr/>
          <p:nvPr/>
        </p:nvSpPr>
        <p:spPr>
          <a:xfrm>
            <a:off x="548640" y="6035040"/>
            <a:ext cx="274320" cy="201168"/>
          </a:xfrm>
          <a:prstGeom prst="rect">
            <a:avLst/>
          </a:prstGeom>
          <a:solidFill>
            <a:srgbClr val="E3001B"/>
          </a:solidFill>
          <a:ln w="12700">
            <a:solidFill>
              <a:srgbClr val="E3001B"/>
            </a:solidFill>
            <a:prstDash val="solid"/>
          </a:ln>
        </p:spPr>
      </p:sp>
      <p:sp>
        <p:nvSpPr>
          <p:cNvPr id="42" name="Text 39"/>
          <p:cNvSpPr txBox="1"/>
          <p:nvPr/>
        </p:nvSpPr>
        <p:spPr>
          <a:xfrm>
            <a:off x="914400" y="5961888"/>
            <a:ext cx="3657600" cy="347472"/>
          </a:xfrm>
          <a:prstGeom prst="rect">
            <a:avLst/>
          </a:prstGeom>
          <a:noFill/>
          <a:ln/>
        </p:spPr>
        <p:txBody>
          <a:bodyPr wrap="square" lIns="635" tIns="635" rIns="635" bIns="635"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Hands-on: 60 of 120 minutes</a:t>
            </a:r>
            <a:endParaRPr lang="en-US" sz="1300" dirty="0"/>
          </a:p>
        </p:txBody>
      </p:sp>
      <p:sp>
        <p:nvSpPr>
          <p:cNvPr id="43" name="Shape 40"/>
          <p:cNvSpPr/>
          <p:nvPr/>
        </p:nvSpPr>
        <p:spPr>
          <a:xfrm>
            <a:off x="4389120" y="6035040"/>
            <a:ext cx="274320" cy="201168"/>
          </a:xfrm>
          <a:prstGeom prst="rect">
            <a:avLst/>
          </a:prstGeom>
          <a:solidFill>
            <a:srgbClr val="BDBDBD"/>
          </a:solidFill>
          <a:ln w="12700">
            <a:solidFill>
              <a:srgbClr val="BDBDBD"/>
            </a:solidFill>
            <a:prstDash val="solid"/>
          </a:ln>
        </p:spPr>
      </p:sp>
      <p:sp>
        <p:nvSpPr>
          <p:cNvPr id="44" name="Text 41"/>
          <p:cNvSpPr txBox="1"/>
          <p:nvPr/>
        </p:nvSpPr>
        <p:spPr>
          <a:xfrm>
            <a:off x="4754880" y="5961888"/>
            <a:ext cx="2743200" cy="347472"/>
          </a:xfrm>
          <a:prstGeom prst="rect">
            <a:avLst/>
          </a:prstGeom>
          <a:noFill/>
          <a:ln/>
        </p:spPr>
        <p:txBody>
          <a:bodyPr wrap="square" lIns="635" tIns="635" rIns="635" bIns="635" rtlCol="0" anchor="ctr"/>
          <a:lstStyle/>
          <a:p>
            <a:pPr indent="0" marL="0">
              <a:buNone/>
            </a:pPr>
            <a:r>
              <a:rPr lang="en-US" sz="1300" dirty="0">
                <a:solidFill>
                  <a:srgbClr val="6B6B6B"/>
                </a:solidFill>
                <a:latin typeface="Calibri" pitchFamily="34" charset="0"/>
                <a:ea typeface="Calibri" pitchFamily="34" charset="-122"/>
                <a:cs typeface="Calibri" pitchFamily="34" charset="-120"/>
              </a:rPr>
              <a:t>Input and demos</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Indonesian senior manager listening attentively in a meeting">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188720"/>
            <a:ext cx="4572000" cy="1371600"/>
          </a:xfrm>
          <a:prstGeom prst="rect">
            <a:avLst/>
          </a:prstGeom>
          <a:noFill/>
          <a:ln/>
        </p:spPr>
        <p:txBody>
          <a:bodyPr wrap="square" lIns="635" tIns="635" rIns="635" bIns="635" rtlCol="0" anchor="ctr"/>
          <a:lstStyle/>
          <a:p>
            <a:pPr indent="0" marL="0">
              <a:buNone/>
            </a:pPr>
            <a:r>
              <a:rPr lang="en-US" sz="9600" b="1" dirty="0">
                <a:solidFill>
                  <a:srgbClr val="FFFFFF">
                    <a:alpha val="70000"/>
                  </a:srgbClr>
                </a:solidFill>
                <a:latin typeface="Arial" pitchFamily="34" charset="0"/>
                <a:ea typeface="Arial" pitchFamily="34" charset="-122"/>
                <a:cs typeface="Arial" pitchFamily="34" charset="-120"/>
              </a:rPr>
              <a:t>01</a:t>
            </a:r>
            <a:endParaRPr lang="en-US" sz="9600" dirty="0"/>
          </a:p>
        </p:txBody>
      </p:sp>
      <p:sp>
        <p:nvSpPr>
          <p:cNvPr id="6" name="Text 3"/>
          <p:cNvSpPr txBox="1"/>
          <p:nvPr/>
        </p:nvSpPr>
        <p:spPr>
          <a:xfrm>
            <a:off x="6735928" y="2651760"/>
            <a:ext cx="5120640" cy="1737360"/>
          </a:xfrm>
          <a:prstGeom prst="rect">
            <a:avLst/>
          </a:prstGeom>
          <a:noFill/>
          <a:ln/>
        </p:spPr>
        <p:txBody>
          <a:bodyPr wrap="square" lIns="635" tIns="635" rIns="635" bIns="635" rtlCol="0" anchor="t"/>
          <a:lstStyle/>
          <a:p>
            <a:pPr indent="0" marL="0">
              <a:buNone/>
            </a:pPr>
            <a:r>
              <a:rPr lang="en-US" sz="3600" b="1" dirty="0">
                <a:solidFill>
                  <a:srgbClr val="FFFFFF"/>
                </a:solidFill>
                <a:latin typeface="Arial" pitchFamily="34" charset="0"/>
                <a:ea typeface="Arial" pitchFamily="34" charset="-122"/>
                <a:cs typeface="Arial" pitchFamily="34" charset="-120"/>
              </a:rPr>
              <a:t>Know your audience, find your one message</a:t>
            </a:r>
            <a:endParaRPr lang="en-US" sz="3600" dirty="0"/>
          </a:p>
        </p:txBody>
      </p:sp>
      <p:sp>
        <p:nvSpPr>
          <p:cNvPr id="7" name="Text 4"/>
          <p:cNvSpPr txBox="1"/>
          <p:nvPr/>
        </p:nvSpPr>
        <p:spPr>
          <a:xfrm>
            <a:off x="6735928" y="4480560"/>
            <a:ext cx="5120640" cy="822960"/>
          </a:xfrm>
          <a:prstGeom prst="rect">
            <a:avLst/>
          </a:prstGeom>
          <a:noFill/>
          <a:ln/>
        </p:spPr>
        <p:txBody>
          <a:bodyPr wrap="square" lIns="635" tIns="635" rIns="635" bIns="635" rtlCol="0" anchor="t"/>
          <a:lstStyle/>
          <a:p>
            <a:pPr indent="0" marL="0">
              <a:buNone/>
            </a:pPr>
            <a:r>
              <a:rPr lang="en-US" sz="1800" dirty="0">
                <a:solidFill>
                  <a:srgbClr val="FFD6DA"/>
                </a:solidFill>
                <a:latin typeface="Calibri" pitchFamily="34" charset="0"/>
                <a:ea typeface="Calibri" pitchFamily="34" charset="-122"/>
                <a:cs typeface="Calibri" pitchFamily="34" charset="-120"/>
              </a:rPr>
              <a:t>10–35 min  ·  Pyramid Principle  ·  SCQA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Start from the decision maker: what must they know, feel and do after your presentation?</a:t>
            </a:r>
            <a:endParaRPr lang="en-US" sz="2600" dirty="0"/>
          </a:p>
        </p:txBody>
      </p:sp>
      <p:sp>
        <p:nvSpPr>
          <p:cNvPr id="4" name="Shape 1"/>
          <p:cNvSpPr/>
          <p:nvPr/>
        </p:nvSpPr>
        <p:spPr>
          <a:xfrm>
            <a:off x="548640" y="1600200"/>
            <a:ext cx="6949440" cy="1188720"/>
          </a:xfrm>
          <a:prstGeom prst="roundRect">
            <a:avLst>
              <a:gd name="adj" fmla="val 7692"/>
            </a:avLst>
          </a:prstGeom>
          <a:solidFill>
            <a:srgbClr val="F4F4F4"/>
          </a:solidFill>
          <a:ln w="12700">
            <a:solidFill>
              <a:srgbClr val="F4F4F4"/>
            </a:solidFill>
            <a:prstDash val="solid"/>
          </a:ln>
        </p:spPr>
      </p:sp>
      <p:sp>
        <p:nvSpPr>
          <p:cNvPr id="5" name="Text 2"/>
          <p:cNvSpPr txBox="1"/>
          <p:nvPr/>
        </p:nvSpPr>
        <p:spPr>
          <a:xfrm>
            <a:off x="777240" y="1691640"/>
            <a:ext cx="1188720" cy="100584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KNOW</a:t>
            </a:r>
            <a:endParaRPr lang="en-US" sz="2200" dirty="0"/>
          </a:p>
        </p:txBody>
      </p:sp>
      <p:sp>
        <p:nvSpPr>
          <p:cNvPr id="6" name="Text 3"/>
          <p:cNvSpPr txBox="1"/>
          <p:nvPr/>
        </p:nvSpPr>
        <p:spPr>
          <a:xfrm>
            <a:off x="2011680" y="1691640"/>
            <a:ext cx="5303520" cy="10058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East Java 30+ DPD is 7.1% vs 4.2% nationally — and 12 new merchants drive most of it</a:t>
            </a:r>
            <a:endParaRPr lang="en-US" sz="1600" dirty="0"/>
          </a:p>
        </p:txBody>
      </p:sp>
      <p:sp>
        <p:nvSpPr>
          <p:cNvPr id="7" name="Shape 4"/>
          <p:cNvSpPr/>
          <p:nvPr/>
        </p:nvSpPr>
        <p:spPr>
          <a:xfrm>
            <a:off x="548640" y="2971800"/>
            <a:ext cx="6949440" cy="1188720"/>
          </a:xfrm>
          <a:prstGeom prst="roundRect">
            <a:avLst>
              <a:gd name="adj" fmla="val 7692"/>
            </a:avLst>
          </a:prstGeom>
          <a:solidFill>
            <a:srgbClr val="F4F4F4"/>
          </a:solidFill>
          <a:ln w="12700">
            <a:solidFill>
              <a:srgbClr val="F4F4F4"/>
            </a:solidFill>
            <a:prstDash val="solid"/>
          </a:ln>
        </p:spPr>
      </p:sp>
      <p:sp>
        <p:nvSpPr>
          <p:cNvPr id="8" name="Text 5"/>
          <p:cNvSpPr txBox="1"/>
          <p:nvPr/>
        </p:nvSpPr>
        <p:spPr>
          <a:xfrm>
            <a:off x="777240" y="3063240"/>
            <a:ext cx="1188720" cy="100584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FEEL</a:t>
            </a:r>
            <a:endParaRPr lang="en-US" sz="2200" dirty="0"/>
          </a:p>
        </p:txBody>
      </p:sp>
      <p:sp>
        <p:nvSpPr>
          <p:cNvPr id="9" name="Text 6"/>
          <p:cNvSpPr txBox="1"/>
          <p:nvPr/>
        </p:nvSpPr>
        <p:spPr>
          <a:xfrm>
            <a:off x="2011680" y="3063240"/>
            <a:ext cx="5303520" cy="10058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Confident the problem is contained and the team has it under control</a:t>
            </a:r>
            <a:endParaRPr lang="en-US" sz="1600" dirty="0"/>
          </a:p>
        </p:txBody>
      </p:sp>
      <p:sp>
        <p:nvSpPr>
          <p:cNvPr id="10" name="Shape 7"/>
          <p:cNvSpPr/>
          <p:nvPr/>
        </p:nvSpPr>
        <p:spPr>
          <a:xfrm>
            <a:off x="548640" y="4343400"/>
            <a:ext cx="6949440" cy="1188720"/>
          </a:xfrm>
          <a:prstGeom prst="roundRect">
            <a:avLst>
              <a:gd name="adj" fmla="val 7692"/>
            </a:avLst>
          </a:prstGeom>
          <a:solidFill>
            <a:srgbClr val="FDECEE"/>
          </a:solidFill>
          <a:ln w="12700">
            <a:solidFill>
              <a:srgbClr val="FDECEE"/>
            </a:solidFill>
            <a:prstDash val="solid"/>
          </a:ln>
        </p:spPr>
      </p:sp>
      <p:sp>
        <p:nvSpPr>
          <p:cNvPr id="11" name="Text 8"/>
          <p:cNvSpPr txBox="1"/>
          <p:nvPr/>
        </p:nvSpPr>
        <p:spPr>
          <a:xfrm>
            <a:off x="777240" y="4434840"/>
            <a:ext cx="1188720" cy="1005840"/>
          </a:xfrm>
          <a:prstGeom prst="rect">
            <a:avLst/>
          </a:prstGeom>
          <a:noFill/>
          <a:ln/>
        </p:spPr>
        <p:txBody>
          <a:bodyPr wrap="square" lIns="635" tIns="635" rIns="635" bIns="635" rtlCol="0" anchor="ctr"/>
          <a:lstStyle/>
          <a:p>
            <a:pPr indent="0" marL="0">
              <a:buNone/>
            </a:pPr>
            <a:r>
              <a:rPr lang="en-US" sz="2200" b="1" dirty="0">
                <a:solidFill>
                  <a:srgbClr val="E3001B"/>
                </a:solidFill>
                <a:latin typeface="Arial" pitchFamily="34" charset="0"/>
                <a:ea typeface="Arial" pitchFamily="34" charset="-122"/>
                <a:cs typeface="Arial" pitchFamily="34" charset="-120"/>
              </a:rPr>
              <a:t>DO</a:t>
            </a:r>
            <a:endParaRPr lang="en-US" sz="2200" dirty="0"/>
          </a:p>
        </p:txBody>
      </p:sp>
      <p:sp>
        <p:nvSpPr>
          <p:cNvPr id="12" name="Text 9"/>
          <p:cNvSpPr txBox="1"/>
          <p:nvPr/>
        </p:nvSpPr>
        <p:spPr>
          <a:xfrm>
            <a:off x="2011680" y="4434840"/>
            <a:ext cx="5303520" cy="1005840"/>
          </a:xfrm>
          <a:prstGeom prst="rect">
            <a:avLst/>
          </a:prstGeom>
          <a:noFill/>
          <a:ln/>
        </p:spPr>
        <p:txBody>
          <a:bodyPr wrap="square" lIns="635" tIns="635" rIns="635" bIns="635"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Approve a 60-day onboarding pause for 12 merchants — today</a:t>
            </a:r>
            <a:endParaRPr lang="en-US" sz="1600" dirty="0"/>
          </a:p>
        </p:txBody>
      </p:sp>
      <p:sp>
        <p:nvSpPr>
          <p:cNvPr id="13" name="Text 10"/>
          <p:cNvSpPr txBox="1"/>
          <p:nvPr/>
        </p:nvSpPr>
        <p:spPr>
          <a:xfrm>
            <a:off x="548640" y="5760720"/>
            <a:ext cx="6400800" cy="320040"/>
          </a:xfrm>
          <a:prstGeom prst="rect">
            <a:avLst/>
          </a:prstGeom>
          <a:noFill/>
          <a:ln/>
        </p:spPr>
        <p:txBody>
          <a:bodyPr wrap="square" lIns="635" tIns="635" rIns="635" bIns="635"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Example: Director of Risk, East Java case</a:t>
            </a:r>
            <a:endParaRPr lang="en-US" sz="1200" dirty="0"/>
          </a:p>
        </p:txBody>
      </p:sp>
      <p:sp>
        <p:nvSpPr>
          <p:cNvPr id="14" name="Shape 11"/>
          <p:cNvSpPr/>
          <p:nvPr/>
        </p:nvSpPr>
        <p:spPr>
          <a:xfrm>
            <a:off x="7863840" y="1600200"/>
            <a:ext cx="3794760" cy="3931920"/>
          </a:xfrm>
          <a:prstGeom prst="roundRect">
            <a:avLst>
              <a:gd name="adj" fmla="val 2410"/>
            </a:avLst>
          </a:prstGeom>
          <a:solidFill>
            <a:srgbClr val="9E0012"/>
          </a:solidFill>
          <a:ln w="12700">
            <a:solidFill>
              <a:srgbClr val="9E0012"/>
            </a:solidFill>
            <a:prstDash val="solid"/>
          </a:ln>
        </p:spPr>
      </p:sp>
      <p:sp>
        <p:nvSpPr>
          <p:cNvPr id="15" name="Shape 12"/>
          <p:cNvSpPr/>
          <p:nvPr/>
        </p:nvSpPr>
        <p:spPr>
          <a:xfrm>
            <a:off x="9098280" y="1783080"/>
            <a:ext cx="914400" cy="91440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1"/>
          <a:stretch>
            <a:fillRect/>
          </a:stretch>
        </p:blipFill>
        <p:spPr>
          <a:xfrm>
            <a:off x="9354312" y="2039112"/>
            <a:ext cx="402336" cy="402336"/>
          </a:xfrm>
          <a:prstGeom prst="rect">
            <a:avLst/>
          </a:prstGeom>
        </p:spPr>
      </p:pic>
      <p:sp>
        <p:nvSpPr>
          <p:cNvPr id="17" name="Text 13"/>
          <p:cNvSpPr txBox="1"/>
          <p:nvPr/>
        </p:nvSpPr>
        <p:spPr>
          <a:xfrm>
            <a:off x="8092440" y="2788920"/>
            <a:ext cx="3383280" cy="41148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Quick audience check</a:t>
            </a:r>
            <a:endParaRPr lang="en-US" sz="1700" dirty="0"/>
          </a:p>
        </p:txBody>
      </p:sp>
      <p:sp>
        <p:nvSpPr>
          <p:cNvPr id="18" name="Text 14"/>
          <p:cNvSpPr txBox="1"/>
          <p:nvPr/>
        </p:nvSpPr>
        <p:spPr>
          <a:xfrm>
            <a:off x="8092440" y="3246120"/>
            <a:ext cx="3383280" cy="219456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do they already know?</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will they push back on?</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can they decide in this meeting?</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What do they worry about most: targets, risk or people?</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Pyramid Principle: give the answer first, then the reasons, then the data</a:t>
            </a:r>
            <a:endParaRPr lang="en-US" sz="2600" dirty="0"/>
          </a:p>
        </p:txBody>
      </p:sp>
      <p:sp>
        <p:nvSpPr>
          <p:cNvPr id="4" name="Shape 1"/>
          <p:cNvSpPr/>
          <p:nvPr/>
        </p:nvSpPr>
        <p:spPr>
          <a:xfrm>
            <a:off x="1737360" y="1600200"/>
            <a:ext cx="2743200" cy="1417320"/>
          </a:xfrm>
          <a:prstGeom prst="triangle">
            <a:avLst/>
          </a:prstGeom>
          <a:solidFill>
            <a:srgbClr val="E3001B"/>
          </a:solidFill>
          <a:ln w="25400">
            <a:solidFill>
              <a:srgbClr val="FFFFFF"/>
            </a:solidFill>
            <a:prstDash val="solid"/>
          </a:ln>
        </p:spPr>
      </p:sp>
      <p:sp>
        <p:nvSpPr>
          <p:cNvPr id="5" name="Shape 2"/>
          <p:cNvSpPr/>
          <p:nvPr/>
        </p:nvSpPr>
        <p:spPr>
          <a:xfrm>
            <a:off x="1051560" y="3063240"/>
            <a:ext cx="4114800" cy="1325880"/>
          </a:xfrm>
          <a:prstGeom prst="trapezoid">
            <a:avLst/>
          </a:prstGeom>
          <a:solidFill>
            <a:srgbClr val="B5101F"/>
          </a:solidFill>
          <a:ln w="25400">
            <a:solidFill>
              <a:srgbClr val="FFFFFF"/>
            </a:solidFill>
            <a:prstDash val="solid"/>
          </a:ln>
        </p:spPr>
      </p:sp>
      <p:sp>
        <p:nvSpPr>
          <p:cNvPr id="6" name="Shape 3"/>
          <p:cNvSpPr/>
          <p:nvPr/>
        </p:nvSpPr>
        <p:spPr>
          <a:xfrm>
            <a:off x="365760" y="4434840"/>
            <a:ext cx="5486400" cy="1325880"/>
          </a:xfrm>
          <a:prstGeom prst="trapezoid">
            <a:avLst/>
          </a:prstGeom>
          <a:solidFill>
            <a:srgbClr val="5C5C5C"/>
          </a:solidFill>
          <a:ln w="25400">
            <a:solidFill>
              <a:srgbClr val="FFFFFF"/>
            </a:solidFill>
            <a:prstDash val="solid"/>
          </a:ln>
        </p:spPr>
      </p:sp>
      <p:sp>
        <p:nvSpPr>
          <p:cNvPr id="7" name="Text 4"/>
          <p:cNvSpPr txBox="1"/>
          <p:nvPr/>
        </p:nvSpPr>
        <p:spPr>
          <a:xfrm>
            <a:off x="2194560" y="2331720"/>
            <a:ext cx="1828800" cy="54864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p>
        </p:txBody>
      </p:sp>
      <p:sp>
        <p:nvSpPr>
          <p:cNvPr id="8" name="Text 5"/>
          <p:cNvSpPr txBox="1"/>
          <p:nvPr/>
        </p:nvSpPr>
        <p:spPr>
          <a:xfrm>
            <a:off x="1737360" y="3429000"/>
            <a:ext cx="274320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 supporting reasons</a:t>
            </a:r>
            <a:endParaRPr lang="en-US" sz="1600" dirty="0"/>
          </a:p>
        </p:txBody>
      </p:sp>
      <p:sp>
        <p:nvSpPr>
          <p:cNvPr id="9" name="Text 6"/>
          <p:cNvSpPr txBox="1"/>
          <p:nvPr/>
        </p:nvSpPr>
        <p:spPr>
          <a:xfrm>
            <a:off x="1280160" y="4800600"/>
            <a:ext cx="365760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 and evidence for each reason</a:t>
            </a:r>
            <a:endParaRPr lang="en-US" sz="1600" dirty="0"/>
          </a:p>
        </p:txBody>
      </p:sp>
      <p:sp>
        <p:nvSpPr>
          <p:cNvPr id="10" name="Text 7"/>
          <p:cNvSpPr txBox="1"/>
          <p:nvPr/>
        </p:nvSpPr>
        <p:spPr>
          <a:xfrm>
            <a:off x="6583680" y="1645920"/>
            <a:ext cx="5029200" cy="1188720"/>
          </a:xfrm>
          <a:prstGeom prst="rect">
            <a:avLst/>
          </a:prstGeom>
          <a:noFill/>
          <a:ln/>
        </p:spPr>
        <p:txBody>
          <a:bodyPr wrap="square" lIns="635" tIns="635" rIns="635" bIns="635" rtlCol="0" anchor="t"/>
          <a:lstStyle/>
          <a:p>
            <a:pPr indent="0" marL="0">
              <a:buNone/>
            </a:pPr>
            <a:r>
              <a:rPr lang="en-US" sz="1900" b="1" dirty="0">
                <a:solidFill>
                  <a:srgbClr val="E3001B"/>
                </a:solidFill>
                <a:latin typeface="Calibri" pitchFamily="34" charset="0"/>
                <a:ea typeface="Calibri" pitchFamily="34" charset="-122"/>
                <a:cs typeface="Calibri" pitchFamily="34" charset="-120"/>
              </a:rPr>
              <a:t>Why it works</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A leader can stop listening at any level and still leave with your answer.</a:t>
            </a:r>
            <a:endParaRPr lang="en-US" sz="1600" dirty="0"/>
          </a:p>
        </p:txBody>
      </p:sp>
      <p:sp>
        <p:nvSpPr>
          <p:cNvPr id="11" name="Text 8"/>
          <p:cNvSpPr txBox="1"/>
          <p:nvPr/>
        </p:nvSpPr>
        <p:spPr>
          <a:xfrm>
            <a:off x="6583680" y="2971800"/>
            <a:ext cx="5029200" cy="1371600"/>
          </a:xfrm>
          <a:prstGeom prst="rect">
            <a:avLst/>
          </a:prstGeom>
          <a:noFill/>
          <a:ln/>
        </p:spPr>
        <p:txBody>
          <a:bodyPr wrap="square" lIns="635" tIns="635" rIns="635" bIns="635" rtlCol="0" anchor="t"/>
          <a:lstStyle/>
          <a:p>
            <a:pPr indent="0" marL="0">
              <a:buNone/>
            </a:pPr>
            <a:r>
              <a:rPr lang="en-US" sz="1900" b="1" dirty="0">
                <a:solidFill>
                  <a:srgbClr val="E3001B"/>
                </a:solidFill>
                <a:latin typeface="Calibri" pitchFamily="34" charset="0"/>
                <a:ea typeface="Calibri" pitchFamily="34" charset="-122"/>
                <a:cs typeface="Calibri" pitchFamily="34" charset="-120"/>
              </a:rPr>
              <a:t>Watch out</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We are trained to build up to the conclusion. In a decision meeting, flip it: saving the leader's time is the respectful choice.</a:t>
            </a:r>
            <a:endParaRPr lang="en-US" sz="1600" dirty="0"/>
          </a:p>
        </p:txBody>
      </p:sp>
      <p:sp>
        <p:nvSpPr>
          <p:cNvPr id="12" name="Shape 9"/>
          <p:cNvSpPr/>
          <p:nvPr/>
        </p:nvSpPr>
        <p:spPr>
          <a:xfrm>
            <a:off x="6583680" y="4526280"/>
            <a:ext cx="5029200" cy="1188720"/>
          </a:xfrm>
          <a:prstGeom prst="roundRect">
            <a:avLst>
              <a:gd name="adj" fmla="val 7692"/>
            </a:avLst>
          </a:prstGeom>
          <a:solidFill>
            <a:srgbClr val="FDECEE"/>
          </a:solidFill>
          <a:ln w="12700">
            <a:solidFill>
              <a:srgbClr val="FDECEE"/>
            </a:solidFill>
            <a:prstDash val="solid"/>
          </a:ln>
        </p:spPr>
      </p:sp>
      <p:sp>
        <p:nvSpPr>
          <p:cNvPr id="13" name="Text 10"/>
          <p:cNvSpPr txBox="1"/>
          <p:nvPr/>
        </p:nvSpPr>
        <p:spPr>
          <a:xfrm>
            <a:off x="6812280" y="4617720"/>
            <a:ext cx="4663440" cy="100584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Use it tomorrow: </a:t>
            </a:r>
            <a:pPr indent="0" marL="0">
              <a:buNone/>
            </a:pPr>
            <a:r>
              <a:rPr lang="en-US" sz="1600" dirty="0">
                <a:solidFill>
                  <a:srgbClr val="1A1A1A"/>
                </a:solidFill>
                <a:latin typeface="Calibri" pitchFamily="34" charset="0"/>
                <a:ea typeface="Calibri" pitchFamily="34" charset="-122"/>
                <a:cs typeface="Calibri" pitchFamily="34" charset="-120"/>
              </a:rPr>
              <a:t>write your one-sentence answer before you open PowerPoint.</a:t>
            </a:r>
            <a:endParaRPr lang="en-US" sz="1600" dirty="0"/>
          </a:p>
        </p:txBody>
      </p:sp>
      <p:sp>
        <p:nvSpPr>
          <p:cNvPr id="14" name="Text 11"/>
          <p:cNvSpPr txBox="1"/>
          <p:nvPr/>
        </p:nvSpPr>
        <p:spPr>
          <a:xfrm>
            <a:off x="548640" y="5989320"/>
            <a:ext cx="73152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Barbara Minto, The Pyramid Principle</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Example: one recommendation, three reasons, each backed by one number</a:t>
            </a:r>
            <a:endParaRPr lang="en-US" sz="2600" dirty="0"/>
          </a:p>
        </p:txBody>
      </p:sp>
      <p:sp>
        <p:nvSpPr>
          <p:cNvPr id="4" name="Shape 1"/>
          <p:cNvSpPr/>
          <p:nvPr/>
        </p:nvSpPr>
        <p:spPr>
          <a:xfrm>
            <a:off x="2468880" y="1554480"/>
            <a:ext cx="7406640" cy="960120"/>
          </a:xfrm>
          <a:prstGeom prst="roundRect">
            <a:avLst>
              <a:gd name="adj" fmla="val 9524"/>
            </a:avLst>
          </a:prstGeom>
          <a:solidFill>
            <a:srgbClr val="E3001B"/>
          </a:solidFill>
          <a:ln w="12700">
            <a:solidFill>
              <a:srgbClr val="E3001B"/>
            </a:solidFill>
            <a:prstDash val="solid"/>
          </a:ln>
        </p:spPr>
      </p:sp>
      <p:sp>
        <p:nvSpPr>
          <p:cNvPr id="5" name="Text 2"/>
          <p:cNvSpPr txBox="1"/>
          <p:nvPr/>
        </p:nvSpPr>
        <p:spPr>
          <a:xfrm>
            <a:off x="2651760" y="1600200"/>
            <a:ext cx="7040880" cy="86868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Pause onboarding of 12 new East Java merchants for 60 days and tighten the score cut-off</a:t>
            </a:r>
            <a:endParaRPr lang="en-US" sz="1800" dirty="0"/>
          </a:p>
        </p:txBody>
      </p:sp>
      <p:sp>
        <p:nvSpPr>
          <p:cNvPr id="6" name="Shape 3"/>
          <p:cNvSpPr/>
          <p:nvPr/>
        </p:nvSpPr>
        <p:spPr>
          <a:xfrm>
            <a:off x="2423160" y="2788920"/>
            <a:ext cx="7498080" cy="0"/>
          </a:xfrm>
          <a:prstGeom prst="line">
            <a:avLst/>
          </a:prstGeom>
          <a:noFill/>
          <a:ln w="19050">
            <a:solidFill>
              <a:srgbClr val="BDBDBD"/>
            </a:solidFill>
            <a:prstDash val="solid"/>
          </a:ln>
        </p:spPr>
      </p:sp>
      <p:sp>
        <p:nvSpPr>
          <p:cNvPr id="7" name="Shape 4"/>
          <p:cNvSpPr/>
          <p:nvPr/>
        </p:nvSpPr>
        <p:spPr>
          <a:xfrm>
            <a:off x="6172200" y="2514600"/>
            <a:ext cx="0" cy="274320"/>
          </a:xfrm>
          <a:prstGeom prst="line">
            <a:avLst/>
          </a:prstGeom>
          <a:noFill/>
          <a:ln w="19050">
            <a:solidFill>
              <a:srgbClr val="BDBDBD"/>
            </a:solidFill>
            <a:prstDash val="solid"/>
          </a:ln>
        </p:spPr>
      </p:sp>
      <p:sp>
        <p:nvSpPr>
          <p:cNvPr id="8" name="Shape 5"/>
          <p:cNvSpPr/>
          <p:nvPr/>
        </p:nvSpPr>
        <p:spPr>
          <a:xfrm>
            <a:off x="2423160" y="2788920"/>
            <a:ext cx="0" cy="274320"/>
          </a:xfrm>
          <a:prstGeom prst="line">
            <a:avLst/>
          </a:prstGeom>
          <a:noFill/>
          <a:ln w="19050">
            <a:solidFill>
              <a:srgbClr val="BDBDBD"/>
            </a:solidFill>
            <a:prstDash val="solid"/>
          </a:ln>
        </p:spPr>
      </p:sp>
      <p:sp>
        <p:nvSpPr>
          <p:cNvPr id="9" name="Shape 6"/>
          <p:cNvSpPr/>
          <p:nvPr/>
        </p:nvSpPr>
        <p:spPr>
          <a:xfrm>
            <a:off x="548640" y="3063240"/>
            <a:ext cx="3566160" cy="914400"/>
          </a:xfrm>
          <a:prstGeom prst="roundRect">
            <a:avLst>
              <a:gd name="adj" fmla="val 10000"/>
            </a:avLst>
          </a:prstGeom>
          <a:solidFill>
            <a:srgbClr val="3D3D3D"/>
          </a:solidFill>
          <a:ln w="12700">
            <a:solidFill>
              <a:srgbClr val="3D3D3D"/>
            </a:solidFill>
            <a:prstDash val="solid"/>
          </a:ln>
        </p:spPr>
      </p:sp>
      <p:sp>
        <p:nvSpPr>
          <p:cNvPr id="10" name="Text 7"/>
          <p:cNvSpPr txBox="1"/>
          <p:nvPr/>
        </p:nvSpPr>
        <p:spPr>
          <a:xfrm>
            <a:off x="685800" y="3108960"/>
            <a:ext cx="3291840" cy="82296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The problem is concentrated</a:t>
            </a:r>
            <a:endParaRPr lang="en-US" sz="1700" dirty="0"/>
          </a:p>
        </p:txBody>
      </p:sp>
      <p:sp>
        <p:nvSpPr>
          <p:cNvPr id="11" name="Shape 8"/>
          <p:cNvSpPr/>
          <p:nvPr/>
        </p:nvSpPr>
        <p:spPr>
          <a:xfrm>
            <a:off x="548640" y="4160520"/>
            <a:ext cx="3566160" cy="1463040"/>
          </a:xfrm>
          <a:prstGeom prst="roundRect">
            <a:avLst>
              <a:gd name="adj" fmla="val 6250"/>
            </a:avLst>
          </a:prstGeom>
          <a:solidFill>
            <a:srgbClr val="F4F4F4"/>
          </a:solidFill>
          <a:ln w="12700">
            <a:solidFill>
              <a:srgbClr val="F4F4F4"/>
            </a:solidFill>
            <a:prstDash val="solid"/>
          </a:ln>
        </p:spPr>
      </p:sp>
      <p:sp>
        <p:nvSpPr>
          <p:cNvPr id="12" name="Shape 9"/>
          <p:cNvSpPr/>
          <p:nvPr/>
        </p:nvSpPr>
        <p:spPr>
          <a:xfrm>
            <a:off x="731520" y="4526280"/>
            <a:ext cx="640080" cy="640080"/>
          </a:xfrm>
          <a:prstGeom prst="ellipse">
            <a:avLst/>
          </a:prstGeom>
          <a:solidFill>
            <a:srgbClr val="FFFFFF"/>
          </a:solidFill>
          <a:ln w="12700">
            <a:solidFill>
              <a:srgbClr val="FFFFFF"/>
            </a:solidFill>
            <a:prstDash val="solid"/>
          </a:ln>
        </p:spPr>
      </p:sp>
      <p:pic>
        <p:nvPicPr>
          <p:cNvPr id="13" name="Image 0" descr="preencoded.png">    </p:cNvPr>
          <p:cNvPicPr>
            <a:picLocks noChangeAspect="1"/>
          </p:cNvPicPr>
          <p:nvPr/>
        </p:nvPicPr>
        <p:blipFill>
          <a:blip r:embed="rId1"/>
          <a:stretch>
            <a:fillRect/>
          </a:stretch>
        </p:blipFill>
        <p:spPr>
          <a:xfrm>
            <a:off x="910742" y="4705502"/>
            <a:ext cx="281635" cy="281635"/>
          </a:xfrm>
          <a:prstGeom prst="rect">
            <a:avLst/>
          </a:prstGeom>
        </p:spPr>
      </p:pic>
      <p:sp>
        <p:nvSpPr>
          <p:cNvPr id="14" name="Text 10"/>
          <p:cNvSpPr txBox="1"/>
          <p:nvPr/>
        </p:nvSpPr>
        <p:spPr>
          <a:xfrm>
            <a:off x="1508760" y="4251960"/>
            <a:ext cx="2468880" cy="128016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12 stores drive 60% of early defaults in the region</a:t>
            </a:r>
            <a:endParaRPr lang="en-US" sz="1500" dirty="0"/>
          </a:p>
        </p:txBody>
      </p:sp>
      <p:sp>
        <p:nvSpPr>
          <p:cNvPr id="15" name="Shape 11"/>
          <p:cNvSpPr/>
          <p:nvPr/>
        </p:nvSpPr>
        <p:spPr>
          <a:xfrm>
            <a:off x="6172200" y="2788920"/>
            <a:ext cx="0" cy="274320"/>
          </a:xfrm>
          <a:prstGeom prst="line">
            <a:avLst/>
          </a:prstGeom>
          <a:noFill/>
          <a:ln w="19050">
            <a:solidFill>
              <a:srgbClr val="BDBDBD"/>
            </a:solidFill>
            <a:prstDash val="solid"/>
          </a:ln>
        </p:spPr>
      </p:sp>
      <p:sp>
        <p:nvSpPr>
          <p:cNvPr id="16" name="Shape 12"/>
          <p:cNvSpPr/>
          <p:nvPr/>
        </p:nvSpPr>
        <p:spPr>
          <a:xfrm>
            <a:off x="4297680" y="3063240"/>
            <a:ext cx="3566160" cy="914400"/>
          </a:xfrm>
          <a:prstGeom prst="roundRect">
            <a:avLst>
              <a:gd name="adj" fmla="val 10000"/>
            </a:avLst>
          </a:prstGeom>
          <a:solidFill>
            <a:srgbClr val="3D3D3D"/>
          </a:solidFill>
          <a:ln w="12700">
            <a:solidFill>
              <a:srgbClr val="3D3D3D"/>
            </a:solidFill>
            <a:prstDash val="solid"/>
          </a:ln>
        </p:spPr>
      </p:sp>
      <p:sp>
        <p:nvSpPr>
          <p:cNvPr id="17" name="Text 13"/>
          <p:cNvSpPr txBox="1"/>
          <p:nvPr/>
        </p:nvSpPr>
        <p:spPr>
          <a:xfrm>
            <a:off x="4434840" y="3108960"/>
            <a:ext cx="3291840" cy="82296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The problem is new</a:t>
            </a:r>
            <a:endParaRPr lang="en-US" sz="1700" dirty="0"/>
          </a:p>
        </p:txBody>
      </p:sp>
      <p:sp>
        <p:nvSpPr>
          <p:cNvPr id="18" name="Shape 14"/>
          <p:cNvSpPr/>
          <p:nvPr/>
        </p:nvSpPr>
        <p:spPr>
          <a:xfrm>
            <a:off x="4297680" y="4160520"/>
            <a:ext cx="3566160" cy="1463040"/>
          </a:xfrm>
          <a:prstGeom prst="roundRect">
            <a:avLst>
              <a:gd name="adj" fmla="val 6250"/>
            </a:avLst>
          </a:prstGeom>
          <a:solidFill>
            <a:srgbClr val="F4F4F4"/>
          </a:solidFill>
          <a:ln w="12700">
            <a:solidFill>
              <a:srgbClr val="F4F4F4"/>
            </a:solidFill>
            <a:prstDash val="solid"/>
          </a:ln>
        </p:spPr>
      </p:sp>
      <p:sp>
        <p:nvSpPr>
          <p:cNvPr id="19" name="Shape 15"/>
          <p:cNvSpPr/>
          <p:nvPr/>
        </p:nvSpPr>
        <p:spPr>
          <a:xfrm>
            <a:off x="4480560" y="4526280"/>
            <a:ext cx="640080" cy="640080"/>
          </a:xfrm>
          <a:prstGeom prst="ellipse">
            <a:avLst/>
          </a:prstGeom>
          <a:solidFill>
            <a:srgbClr val="FFFFFF"/>
          </a:solidFill>
          <a:ln w="12700">
            <a:solidFill>
              <a:srgbClr val="FFFFFF"/>
            </a:solidFill>
            <a:prstDash val="solid"/>
          </a:ln>
        </p:spPr>
      </p:sp>
      <p:pic>
        <p:nvPicPr>
          <p:cNvPr id="20" name="Image 1" descr="preencoded.png">    </p:cNvPr>
          <p:cNvPicPr>
            <a:picLocks noChangeAspect="1"/>
          </p:cNvPicPr>
          <p:nvPr/>
        </p:nvPicPr>
        <p:blipFill>
          <a:blip r:embed="rId2"/>
          <a:stretch>
            <a:fillRect/>
          </a:stretch>
        </p:blipFill>
        <p:spPr>
          <a:xfrm>
            <a:off x="4659782" y="4705502"/>
            <a:ext cx="281635" cy="281635"/>
          </a:xfrm>
          <a:prstGeom prst="rect">
            <a:avLst/>
          </a:prstGeom>
        </p:spPr>
      </p:pic>
      <p:sp>
        <p:nvSpPr>
          <p:cNvPr id="21" name="Text 16"/>
          <p:cNvSpPr txBox="1"/>
          <p:nvPr/>
        </p:nvSpPr>
        <p:spPr>
          <a:xfrm>
            <a:off x="5257800" y="4251960"/>
            <a:ext cx="2468880" cy="128016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All 12 joined in Q1 under the relaxed cut-off</a:t>
            </a:r>
            <a:endParaRPr lang="en-US" sz="1500" dirty="0"/>
          </a:p>
        </p:txBody>
      </p:sp>
      <p:sp>
        <p:nvSpPr>
          <p:cNvPr id="22" name="Shape 17"/>
          <p:cNvSpPr/>
          <p:nvPr/>
        </p:nvSpPr>
        <p:spPr>
          <a:xfrm>
            <a:off x="9921240" y="2788920"/>
            <a:ext cx="0" cy="274320"/>
          </a:xfrm>
          <a:prstGeom prst="line">
            <a:avLst/>
          </a:prstGeom>
          <a:noFill/>
          <a:ln w="19050">
            <a:solidFill>
              <a:srgbClr val="BDBDBD"/>
            </a:solidFill>
            <a:prstDash val="solid"/>
          </a:ln>
        </p:spPr>
      </p:sp>
      <p:sp>
        <p:nvSpPr>
          <p:cNvPr id="23" name="Shape 18"/>
          <p:cNvSpPr/>
          <p:nvPr/>
        </p:nvSpPr>
        <p:spPr>
          <a:xfrm>
            <a:off x="8046720" y="3063240"/>
            <a:ext cx="3566160" cy="914400"/>
          </a:xfrm>
          <a:prstGeom prst="roundRect">
            <a:avLst>
              <a:gd name="adj" fmla="val 10000"/>
            </a:avLst>
          </a:prstGeom>
          <a:solidFill>
            <a:srgbClr val="3D3D3D"/>
          </a:solidFill>
          <a:ln w="12700">
            <a:solidFill>
              <a:srgbClr val="3D3D3D"/>
            </a:solidFill>
            <a:prstDash val="solid"/>
          </a:ln>
        </p:spPr>
      </p:sp>
      <p:sp>
        <p:nvSpPr>
          <p:cNvPr id="24" name="Text 19"/>
          <p:cNvSpPr txBox="1"/>
          <p:nvPr/>
        </p:nvSpPr>
        <p:spPr>
          <a:xfrm>
            <a:off x="8183880" y="3108960"/>
            <a:ext cx="3291840" cy="822960"/>
          </a:xfrm>
          <a:prstGeom prst="rect">
            <a:avLst/>
          </a:prstGeom>
          <a:noFill/>
          <a:ln/>
        </p:spPr>
        <p:txBody>
          <a:bodyPr wrap="square" lIns="635" tIns="635" rIns="635" bIns="635"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The problem is fixable</a:t>
            </a:r>
            <a:endParaRPr lang="en-US" sz="1700" dirty="0"/>
          </a:p>
        </p:txBody>
      </p:sp>
      <p:sp>
        <p:nvSpPr>
          <p:cNvPr id="25" name="Shape 20"/>
          <p:cNvSpPr/>
          <p:nvPr/>
        </p:nvSpPr>
        <p:spPr>
          <a:xfrm>
            <a:off x="8046720" y="4160520"/>
            <a:ext cx="3566160" cy="1463040"/>
          </a:xfrm>
          <a:prstGeom prst="roundRect">
            <a:avLst>
              <a:gd name="adj" fmla="val 6250"/>
            </a:avLst>
          </a:prstGeom>
          <a:solidFill>
            <a:srgbClr val="F4F4F4"/>
          </a:solidFill>
          <a:ln w="12700">
            <a:solidFill>
              <a:srgbClr val="F4F4F4"/>
            </a:solidFill>
            <a:prstDash val="solid"/>
          </a:ln>
        </p:spPr>
      </p:sp>
      <p:sp>
        <p:nvSpPr>
          <p:cNvPr id="26" name="Shape 21"/>
          <p:cNvSpPr/>
          <p:nvPr/>
        </p:nvSpPr>
        <p:spPr>
          <a:xfrm>
            <a:off x="8229600" y="4526280"/>
            <a:ext cx="640080" cy="640080"/>
          </a:xfrm>
          <a:prstGeom prst="ellipse">
            <a:avLst/>
          </a:prstGeom>
          <a:solidFill>
            <a:srgbClr val="FFFFFF"/>
          </a:solidFill>
          <a:ln w="12700">
            <a:solidFill>
              <a:srgbClr val="FFFFFF"/>
            </a:solidFill>
            <a:prstDash val="solid"/>
          </a:ln>
        </p:spPr>
      </p:sp>
      <p:pic>
        <p:nvPicPr>
          <p:cNvPr id="27" name="Image 2" descr="preencoded.png">    </p:cNvPr>
          <p:cNvPicPr>
            <a:picLocks noChangeAspect="1"/>
          </p:cNvPicPr>
          <p:nvPr/>
        </p:nvPicPr>
        <p:blipFill>
          <a:blip r:embed="rId3"/>
          <a:stretch>
            <a:fillRect/>
          </a:stretch>
        </p:blipFill>
        <p:spPr>
          <a:xfrm>
            <a:off x="8408822" y="4705502"/>
            <a:ext cx="281635" cy="281635"/>
          </a:xfrm>
          <a:prstGeom prst="rect">
            <a:avLst/>
          </a:prstGeom>
        </p:spPr>
      </p:pic>
      <p:sp>
        <p:nvSpPr>
          <p:cNvPr id="28" name="Text 22"/>
          <p:cNvSpPr txBox="1"/>
          <p:nvPr/>
        </p:nvSpPr>
        <p:spPr>
          <a:xfrm>
            <a:off x="9006840" y="4251960"/>
            <a:ext cx="2468880" cy="128016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A tighter cut-off cut early defaults by a third in a West Java pilot</a:t>
            </a:r>
            <a:endParaRPr lang="en-US" sz="1500" dirty="0"/>
          </a:p>
        </p:txBody>
      </p:sp>
      <p:sp>
        <p:nvSpPr>
          <p:cNvPr id="29" name="Text 23"/>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SCQA turns any update into a four-sentence story leaders can follow</a:t>
            </a:r>
            <a:endParaRPr lang="en-US" sz="2600" dirty="0"/>
          </a:p>
        </p:txBody>
      </p:sp>
      <p:sp>
        <p:nvSpPr>
          <p:cNvPr id="4" name="Shape 1"/>
          <p:cNvSpPr/>
          <p:nvPr/>
        </p:nvSpPr>
        <p:spPr>
          <a:xfrm>
            <a:off x="548640" y="1600200"/>
            <a:ext cx="2606040" cy="4114800"/>
          </a:xfrm>
          <a:prstGeom prst="roundRect">
            <a:avLst>
              <a:gd name="adj" fmla="val 3509"/>
            </a:avLst>
          </a:prstGeom>
          <a:solidFill>
            <a:srgbClr val="F4F4F4"/>
          </a:solidFill>
          <a:ln w="12700">
            <a:solidFill>
              <a:srgbClr val="F4F4F4"/>
            </a:solidFill>
            <a:prstDash val="solid"/>
          </a:ln>
        </p:spPr>
      </p:sp>
      <p:sp>
        <p:nvSpPr>
          <p:cNvPr id="5" name="Text 2"/>
          <p:cNvSpPr txBox="1"/>
          <p:nvPr/>
        </p:nvSpPr>
        <p:spPr>
          <a:xfrm>
            <a:off x="731520" y="1737360"/>
            <a:ext cx="914400" cy="822960"/>
          </a:xfrm>
          <a:prstGeom prst="rect">
            <a:avLst/>
          </a:prstGeom>
          <a:noFill/>
          <a:ln/>
        </p:spPr>
        <p:txBody>
          <a:bodyPr wrap="square" lIns="0" tIns="0" rIns="0" bIns="0" rtlCol="0" anchor="ctr"/>
          <a:lstStyle/>
          <a:p>
            <a:pPr indent="0" marL="0">
              <a:buNone/>
            </a:pPr>
            <a:r>
              <a:rPr lang="en-US" sz="4400" b="1" dirty="0">
                <a:solidFill>
                  <a:srgbClr val="E3001B"/>
                </a:solidFill>
                <a:latin typeface="Arial" pitchFamily="34" charset="0"/>
                <a:ea typeface="Arial" pitchFamily="34" charset="-122"/>
                <a:cs typeface="Arial" pitchFamily="34" charset="-120"/>
              </a:rPr>
              <a:t>S</a:t>
            </a:r>
            <a:endParaRPr lang="en-US" sz="4400" dirty="0"/>
          </a:p>
        </p:txBody>
      </p:sp>
      <p:sp>
        <p:nvSpPr>
          <p:cNvPr id="6" name="Text 3"/>
          <p:cNvSpPr txBox="1"/>
          <p:nvPr/>
        </p:nvSpPr>
        <p:spPr>
          <a:xfrm>
            <a:off x="731520" y="2560320"/>
            <a:ext cx="2286000" cy="365760"/>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Situation</a:t>
            </a:r>
            <a:endParaRPr lang="en-US" sz="1800" dirty="0"/>
          </a:p>
        </p:txBody>
      </p:sp>
      <p:sp>
        <p:nvSpPr>
          <p:cNvPr id="7" name="Text 4"/>
          <p:cNvSpPr txBox="1"/>
          <p:nvPr/>
        </p:nvSpPr>
        <p:spPr>
          <a:xfrm>
            <a:off x="731520" y="2926080"/>
            <a:ext cx="2286000" cy="548640"/>
          </a:xfrm>
          <a:prstGeom prst="rect">
            <a:avLst/>
          </a:prstGeom>
          <a:noFill/>
          <a:ln/>
        </p:spPr>
        <p:txBody>
          <a:bodyPr wrap="square" lIns="635" tIns="635" rIns="635" bIns="635" rtlCol="0" anchor="t"/>
          <a:lstStyle/>
          <a:p>
            <a:pPr indent="0" marL="0">
              <a:buNone/>
            </a:pPr>
            <a:r>
              <a:rPr lang="en-US" sz="1300" dirty="0">
                <a:solidFill>
                  <a:srgbClr val="6B6B6B"/>
                </a:solidFill>
                <a:latin typeface="Calibri" pitchFamily="34" charset="0"/>
                <a:ea typeface="Calibri" pitchFamily="34" charset="-122"/>
                <a:cs typeface="Calibri" pitchFamily="34" charset="-120"/>
              </a:rPr>
              <a:t>What everyone already agrees on</a:t>
            </a:r>
            <a:endParaRPr lang="en-US" sz="1300" dirty="0"/>
          </a:p>
        </p:txBody>
      </p:sp>
      <p:sp>
        <p:nvSpPr>
          <p:cNvPr id="8" name="Text 5"/>
          <p:cNvSpPr txBox="1"/>
          <p:nvPr/>
        </p:nvSpPr>
        <p:spPr>
          <a:xfrm>
            <a:off x="731520" y="3566160"/>
            <a:ext cx="2286000" cy="2011680"/>
          </a:xfrm>
          <a:prstGeom prst="rect">
            <a:avLst/>
          </a:prstGeom>
          <a:noFill/>
          <a:ln/>
        </p:spPr>
        <p:txBody>
          <a:bodyPr wrap="square" lIns="635" tIns="635" rIns="635" bIns="635" rtlCol="0" anchor="t"/>
          <a:lstStyle/>
          <a:p>
            <a:pPr indent="0" marL="0">
              <a:buNone/>
            </a:pPr>
            <a:r>
              <a:rPr lang="en-US" sz="1500" i="1" dirty="0">
                <a:solidFill>
                  <a:srgbClr val="1A1A1A"/>
                </a:solidFill>
                <a:latin typeface="Calibri" pitchFamily="34" charset="0"/>
                <a:ea typeface="Calibri" pitchFamily="34" charset="-122"/>
                <a:cs typeface="Calibri" pitchFamily="34" charset="-120"/>
              </a:rPr>
              <a:t>"East Java grew new-merchant POS volume 25% in H1."</a:t>
            </a:r>
            <a:endParaRPr lang="en-US" sz="1500" dirty="0"/>
          </a:p>
        </p:txBody>
      </p:sp>
      <p:sp>
        <p:nvSpPr>
          <p:cNvPr id="9" name="Shape 6"/>
          <p:cNvSpPr/>
          <p:nvPr/>
        </p:nvSpPr>
        <p:spPr>
          <a:xfrm>
            <a:off x="3355848" y="1600200"/>
            <a:ext cx="2606040" cy="4114800"/>
          </a:xfrm>
          <a:prstGeom prst="roundRect">
            <a:avLst>
              <a:gd name="adj" fmla="val 3509"/>
            </a:avLst>
          </a:prstGeom>
          <a:solidFill>
            <a:srgbClr val="F4F4F4"/>
          </a:solidFill>
          <a:ln w="12700">
            <a:solidFill>
              <a:srgbClr val="F4F4F4"/>
            </a:solidFill>
            <a:prstDash val="solid"/>
          </a:ln>
        </p:spPr>
      </p:sp>
      <p:sp>
        <p:nvSpPr>
          <p:cNvPr id="10" name="Text 7"/>
          <p:cNvSpPr txBox="1"/>
          <p:nvPr/>
        </p:nvSpPr>
        <p:spPr>
          <a:xfrm>
            <a:off x="3538728" y="1737360"/>
            <a:ext cx="914400" cy="822960"/>
          </a:xfrm>
          <a:prstGeom prst="rect">
            <a:avLst/>
          </a:prstGeom>
          <a:noFill/>
          <a:ln/>
        </p:spPr>
        <p:txBody>
          <a:bodyPr wrap="square" lIns="0" tIns="0" rIns="0" bIns="0" rtlCol="0" anchor="ctr"/>
          <a:lstStyle/>
          <a:p>
            <a:pPr indent="0" marL="0">
              <a:buNone/>
            </a:pPr>
            <a:r>
              <a:rPr lang="en-US" sz="4400" b="1" dirty="0">
                <a:solidFill>
                  <a:srgbClr val="E3001B"/>
                </a:solidFill>
                <a:latin typeface="Arial" pitchFamily="34" charset="0"/>
                <a:ea typeface="Arial" pitchFamily="34" charset="-122"/>
                <a:cs typeface="Arial" pitchFamily="34" charset="-120"/>
              </a:rPr>
              <a:t>C</a:t>
            </a:r>
            <a:endParaRPr lang="en-US" sz="4400" dirty="0"/>
          </a:p>
        </p:txBody>
      </p:sp>
      <p:sp>
        <p:nvSpPr>
          <p:cNvPr id="11" name="Text 8"/>
          <p:cNvSpPr txBox="1"/>
          <p:nvPr/>
        </p:nvSpPr>
        <p:spPr>
          <a:xfrm>
            <a:off x="3538728" y="2560320"/>
            <a:ext cx="2286000" cy="365760"/>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Complication</a:t>
            </a:r>
            <a:endParaRPr lang="en-US" sz="1800" dirty="0"/>
          </a:p>
        </p:txBody>
      </p:sp>
      <p:sp>
        <p:nvSpPr>
          <p:cNvPr id="12" name="Text 9"/>
          <p:cNvSpPr txBox="1"/>
          <p:nvPr/>
        </p:nvSpPr>
        <p:spPr>
          <a:xfrm>
            <a:off x="3538728" y="2926080"/>
            <a:ext cx="2286000" cy="548640"/>
          </a:xfrm>
          <a:prstGeom prst="rect">
            <a:avLst/>
          </a:prstGeom>
          <a:noFill/>
          <a:ln/>
        </p:spPr>
        <p:txBody>
          <a:bodyPr wrap="square" lIns="635" tIns="635" rIns="635" bIns="635" rtlCol="0" anchor="t"/>
          <a:lstStyle/>
          <a:p>
            <a:pPr indent="0" marL="0">
              <a:buNone/>
            </a:pPr>
            <a:r>
              <a:rPr lang="en-US" sz="1300" dirty="0">
                <a:solidFill>
                  <a:srgbClr val="6B6B6B"/>
                </a:solidFill>
                <a:latin typeface="Calibri" pitchFamily="34" charset="0"/>
                <a:ea typeface="Calibri" pitchFamily="34" charset="-122"/>
                <a:cs typeface="Calibri" pitchFamily="34" charset="-120"/>
              </a:rPr>
              <a:t>What changed or went wrong</a:t>
            </a:r>
            <a:endParaRPr lang="en-US" sz="1300" dirty="0"/>
          </a:p>
        </p:txBody>
      </p:sp>
      <p:sp>
        <p:nvSpPr>
          <p:cNvPr id="13" name="Text 10"/>
          <p:cNvSpPr txBox="1"/>
          <p:nvPr/>
        </p:nvSpPr>
        <p:spPr>
          <a:xfrm>
            <a:off x="3538728" y="3566160"/>
            <a:ext cx="2286000" cy="2011680"/>
          </a:xfrm>
          <a:prstGeom prst="rect">
            <a:avLst/>
          </a:prstGeom>
          <a:noFill/>
          <a:ln/>
        </p:spPr>
        <p:txBody>
          <a:bodyPr wrap="square" lIns="635" tIns="635" rIns="635" bIns="635" rtlCol="0" anchor="t"/>
          <a:lstStyle/>
          <a:p>
            <a:pPr indent="0" marL="0">
              <a:buNone/>
            </a:pPr>
            <a:r>
              <a:rPr lang="en-US" sz="1500" i="1" dirty="0">
                <a:solidFill>
                  <a:srgbClr val="1A1A1A"/>
                </a:solidFill>
                <a:latin typeface="Calibri" pitchFamily="34" charset="0"/>
                <a:ea typeface="Calibri" pitchFamily="34" charset="-122"/>
                <a:cs typeface="Calibri" pitchFamily="34" charset="-120"/>
              </a:rPr>
              <a:t>"But early delinquency jumped from 4.1% to 7.1% — almost double the national rate."</a:t>
            </a:r>
            <a:endParaRPr lang="en-US" sz="1500" dirty="0"/>
          </a:p>
        </p:txBody>
      </p:sp>
      <p:sp>
        <p:nvSpPr>
          <p:cNvPr id="14" name="Shape 11"/>
          <p:cNvSpPr/>
          <p:nvPr/>
        </p:nvSpPr>
        <p:spPr>
          <a:xfrm>
            <a:off x="6163056" y="1600200"/>
            <a:ext cx="2606040" cy="4114800"/>
          </a:xfrm>
          <a:prstGeom prst="roundRect">
            <a:avLst>
              <a:gd name="adj" fmla="val 3509"/>
            </a:avLst>
          </a:prstGeom>
          <a:solidFill>
            <a:srgbClr val="F4F4F4"/>
          </a:solidFill>
          <a:ln w="12700">
            <a:solidFill>
              <a:srgbClr val="F4F4F4"/>
            </a:solidFill>
            <a:prstDash val="solid"/>
          </a:ln>
        </p:spPr>
      </p:sp>
      <p:sp>
        <p:nvSpPr>
          <p:cNvPr id="15" name="Text 12"/>
          <p:cNvSpPr txBox="1"/>
          <p:nvPr/>
        </p:nvSpPr>
        <p:spPr>
          <a:xfrm>
            <a:off x="6345936" y="1737360"/>
            <a:ext cx="914400" cy="822960"/>
          </a:xfrm>
          <a:prstGeom prst="rect">
            <a:avLst/>
          </a:prstGeom>
          <a:noFill/>
          <a:ln/>
        </p:spPr>
        <p:txBody>
          <a:bodyPr wrap="square" lIns="0" tIns="0" rIns="0" bIns="0" rtlCol="0" anchor="ctr"/>
          <a:lstStyle/>
          <a:p>
            <a:pPr indent="0" marL="0">
              <a:buNone/>
            </a:pPr>
            <a:r>
              <a:rPr lang="en-US" sz="4400" b="1" dirty="0">
                <a:solidFill>
                  <a:srgbClr val="E3001B"/>
                </a:solidFill>
                <a:latin typeface="Arial" pitchFamily="34" charset="0"/>
                <a:ea typeface="Arial" pitchFamily="34" charset="-122"/>
                <a:cs typeface="Arial" pitchFamily="34" charset="-120"/>
              </a:rPr>
              <a:t>Q</a:t>
            </a:r>
            <a:endParaRPr lang="en-US" sz="4400" dirty="0"/>
          </a:p>
        </p:txBody>
      </p:sp>
      <p:sp>
        <p:nvSpPr>
          <p:cNvPr id="16" name="Text 13"/>
          <p:cNvSpPr txBox="1"/>
          <p:nvPr/>
        </p:nvSpPr>
        <p:spPr>
          <a:xfrm>
            <a:off x="6345936" y="2560320"/>
            <a:ext cx="2286000" cy="365760"/>
          </a:xfrm>
          <a:prstGeom prst="rect">
            <a:avLst/>
          </a:prstGeom>
          <a:noFill/>
          <a:ln/>
        </p:spPr>
        <p:txBody>
          <a:bodyPr wrap="square" lIns="635" tIns="635" rIns="635" bIns="635"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Question</a:t>
            </a:r>
            <a:endParaRPr lang="en-US" sz="1800" dirty="0"/>
          </a:p>
        </p:txBody>
      </p:sp>
      <p:sp>
        <p:nvSpPr>
          <p:cNvPr id="17" name="Text 14"/>
          <p:cNvSpPr txBox="1"/>
          <p:nvPr/>
        </p:nvSpPr>
        <p:spPr>
          <a:xfrm>
            <a:off x="6345936" y="2926080"/>
            <a:ext cx="2286000" cy="548640"/>
          </a:xfrm>
          <a:prstGeom prst="rect">
            <a:avLst/>
          </a:prstGeom>
          <a:noFill/>
          <a:ln/>
        </p:spPr>
        <p:txBody>
          <a:bodyPr wrap="square" lIns="635" tIns="635" rIns="635" bIns="635" rtlCol="0" anchor="t"/>
          <a:lstStyle/>
          <a:p>
            <a:pPr indent="0" marL="0">
              <a:buNone/>
            </a:pPr>
            <a:r>
              <a:rPr lang="en-US" sz="1300" dirty="0">
                <a:solidFill>
                  <a:srgbClr val="6B6B6B"/>
                </a:solidFill>
                <a:latin typeface="Calibri" pitchFamily="34" charset="0"/>
                <a:ea typeface="Calibri" pitchFamily="34" charset="-122"/>
                <a:cs typeface="Calibri" pitchFamily="34" charset="-120"/>
              </a:rPr>
              <a:t>The question this raises</a:t>
            </a:r>
            <a:endParaRPr lang="en-US" sz="1300" dirty="0"/>
          </a:p>
        </p:txBody>
      </p:sp>
      <p:sp>
        <p:nvSpPr>
          <p:cNvPr id="18" name="Text 15"/>
          <p:cNvSpPr txBox="1"/>
          <p:nvPr/>
        </p:nvSpPr>
        <p:spPr>
          <a:xfrm>
            <a:off x="6345936" y="3566160"/>
            <a:ext cx="2286000" cy="2011680"/>
          </a:xfrm>
          <a:prstGeom prst="rect">
            <a:avLst/>
          </a:prstGeom>
          <a:noFill/>
          <a:ln/>
        </p:spPr>
        <p:txBody>
          <a:bodyPr wrap="square" lIns="635" tIns="635" rIns="635" bIns="635" rtlCol="0" anchor="t"/>
          <a:lstStyle/>
          <a:p>
            <a:pPr indent="0" marL="0">
              <a:buNone/>
            </a:pPr>
            <a:r>
              <a:rPr lang="en-US" sz="1500" i="1" dirty="0">
                <a:solidFill>
                  <a:srgbClr val="1A1A1A"/>
                </a:solidFill>
                <a:latin typeface="Calibri" pitchFamily="34" charset="0"/>
                <a:ea typeface="Calibri" pitchFamily="34" charset="-122"/>
                <a:cs typeface="Calibri" pitchFamily="34" charset="-120"/>
              </a:rPr>
              <a:t>"How do we keep the growth without buying bad risk?"</a:t>
            </a:r>
            <a:endParaRPr lang="en-US" sz="1500" dirty="0"/>
          </a:p>
        </p:txBody>
      </p:sp>
      <p:sp>
        <p:nvSpPr>
          <p:cNvPr id="19" name="Shape 16"/>
          <p:cNvSpPr/>
          <p:nvPr/>
        </p:nvSpPr>
        <p:spPr>
          <a:xfrm>
            <a:off x="8970264" y="1600200"/>
            <a:ext cx="2606040" cy="4114800"/>
          </a:xfrm>
          <a:prstGeom prst="roundRect">
            <a:avLst>
              <a:gd name="adj" fmla="val 3509"/>
            </a:avLst>
          </a:prstGeom>
          <a:solidFill>
            <a:srgbClr val="E3001B"/>
          </a:solidFill>
          <a:ln w="12700">
            <a:solidFill>
              <a:srgbClr val="E3001B"/>
            </a:solidFill>
            <a:prstDash val="solid"/>
          </a:ln>
        </p:spPr>
      </p:sp>
      <p:sp>
        <p:nvSpPr>
          <p:cNvPr id="20" name="Text 17"/>
          <p:cNvSpPr txBox="1"/>
          <p:nvPr/>
        </p:nvSpPr>
        <p:spPr>
          <a:xfrm>
            <a:off x="9153144" y="1737360"/>
            <a:ext cx="9144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a:t>
            </a:r>
            <a:endParaRPr lang="en-US" sz="4400" dirty="0"/>
          </a:p>
        </p:txBody>
      </p:sp>
      <p:sp>
        <p:nvSpPr>
          <p:cNvPr id="21" name="Text 18"/>
          <p:cNvSpPr txBox="1"/>
          <p:nvPr/>
        </p:nvSpPr>
        <p:spPr>
          <a:xfrm>
            <a:off x="9153144" y="2560320"/>
            <a:ext cx="2286000" cy="365760"/>
          </a:xfrm>
          <a:prstGeom prst="rect">
            <a:avLst/>
          </a:prstGeom>
          <a:noFill/>
          <a:ln/>
        </p:spPr>
        <p:txBody>
          <a:bodyPr wrap="square" lIns="635" tIns="635" rIns="635" bIns="635"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22" name="Text 19"/>
          <p:cNvSpPr txBox="1"/>
          <p:nvPr/>
        </p:nvSpPr>
        <p:spPr>
          <a:xfrm>
            <a:off x="9153144" y="2926080"/>
            <a:ext cx="2286000" cy="548640"/>
          </a:xfrm>
          <a:prstGeom prst="rect">
            <a:avLst/>
          </a:prstGeom>
          <a:noFill/>
          <a:ln/>
        </p:spPr>
        <p:txBody>
          <a:bodyPr wrap="square" lIns="635" tIns="635" rIns="635" bIns="635" rtlCol="0" anchor="t"/>
          <a:lstStyle/>
          <a:p>
            <a:pPr indent="0" marL="0">
              <a:buNone/>
            </a:pPr>
            <a:r>
              <a:rPr lang="en-US" sz="1300" dirty="0">
                <a:solidFill>
                  <a:srgbClr val="FFD6DA"/>
                </a:solidFill>
                <a:latin typeface="Calibri" pitchFamily="34" charset="0"/>
                <a:ea typeface="Calibri" pitchFamily="34" charset="-122"/>
                <a:cs typeface="Calibri" pitchFamily="34" charset="-120"/>
              </a:rPr>
              <a:t>Your recommendation</a:t>
            </a:r>
            <a:endParaRPr lang="en-US" sz="1300" dirty="0"/>
          </a:p>
        </p:txBody>
      </p:sp>
      <p:sp>
        <p:nvSpPr>
          <p:cNvPr id="23" name="Text 20"/>
          <p:cNvSpPr txBox="1"/>
          <p:nvPr/>
        </p:nvSpPr>
        <p:spPr>
          <a:xfrm>
            <a:off x="9153144" y="3566160"/>
            <a:ext cx="2286000" cy="2011680"/>
          </a:xfrm>
          <a:prstGeom prst="rect">
            <a:avLst/>
          </a:prstGeom>
          <a:noFill/>
          <a:ln/>
        </p:spPr>
        <p:txBody>
          <a:bodyPr wrap="square" lIns="635" tIns="635" rIns="635" bIns="635"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"Pause 12 new merchants for 60 days and tighten the cut-off."</a:t>
            </a:r>
            <a:endParaRPr lang="en-US" sz="1500" dirty="0"/>
          </a:p>
        </p:txBody>
      </p:sp>
      <p:sp>
        <p:nvSpPr>
          <p:cNvPr id="24" name="Text 21"/>
          <p:cNvSpPr txBox="1"/>
          <p:nvPr/>
        </p:nvSpPr>
        <p:spPr>
          <a:xfrm>
            <a:off x="548640" y="5943600"/>
            <a:ext cx="91440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Barbara Minto, The Pyramid Principle  ·  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9E0012"/>
                </a:solidFill>
                <a:latin typeface="Arial" pitchFamily="34" charset="0"/>
                <a:ea typeface="Arial" pitchFamily="34" charset="-122"/>
                <a:cs typeface="Arial" pitchFamily="34" charset="-120"/>
              </a:rPr>
              <a:t>Exercise 1 · Find your one message in 12 minutes</a:t>
            </a:r>
            <a:endParaRPr lang="en-US" sz="2600" dirty="0"/>
          </a:p>
        </p:txBody>
      </p:sp>
      <p:sp>
        <p:nvSpPr>
          <p:cNvPr id="4" name="Text 1"/>
          <p:cNvSpPr txBox="1"/>
          <p:nvPr/>
        </p:nvSpPr>
        <p:spPr>
          <a:xfrm>
            <a:off x="548640" y="16002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55448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Pick a topic (1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Your own presentation, or case card A, B or C</a:t>
            </a:r>
            <a:endParaRPr lang="en-US" sz="1500" dirty="0"/>
          </a:p>
        </p:txBody>
      </p:sp>
      <p:sp>
        <p:nvSpPr>
          <p:cNvPr id="6" name="Text 3"/>
          <p:cNvSpPr txBox="1"/>
          <p:nvPr/>
        </p:nvSpPr>
        <p:spPr>
          <a:xfrm>
            <a:off x="548640" y="26060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56032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Write the decision you want in one sentence (3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Start with a verb: approve, pause, invest, stop</a:t>
            </a:r>
            <a:endParaRPr lang="en-US" sz="1500" dirty="0"/>
          </a:p>
        </p:txBody>
      </p:sp>
      <p:sp>
        <p:nvSpPr>
          <p:cNvPr id="8" name="Text 5"/>
          <p:cNvSpPr txBox="1"/>
          <p:nvPr/>
        </p:nvSpPr>
        <p:spPr>
          <a:xfrm>
            <a:off x="548640" y="361188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356616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Draft your SCQA, one line each (5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Situation, Complication, Question, Answer</a:t>
            </a:r>
            <a:endParaRPr lang="en-US" sz="1500" dirty="0"/>
          </a:p>
        </p:txBody>
      </p:sp>
      <p:sp>
        <p:nvSpPr>
          <p:cNvPr id="10" name="Text 7"/>
          <p:cNvSpPr txBox="1"/>
          <p:nvPr/>
        </p:nvSpPr>
        <p:spPr>
          <a:xfrm>
            <a:off x="548640" y="461772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1" name="Text 8"/>
          <p:cNvSpPr txBox="1"/>
          <p:nvPr/>
        </p:nvSpPr>
        <p:spPr>
          <a:xfrm>
            <a:off x="1143000" y="457200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Test it on your partner (3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Partner asks "So what?" until the answer is sharp</a:t>
            </a:r>
            <a:endParaRPr lang="en-US" sz="1500" dirty="0"/>
          </a:p>
        </p:txBody>
      </p:sp>
      <p:sp>
        <p:nvSpPr>
          <p:cNvPr id="12" name="Text 9"/>
          <p:cNvSpPr txBox="1"/>
          <p:nvPr/>
        </p:nvSpPr>
        <p:spPr>
          <a:xfrm>
            <a:off x="7086600" y="1508760"/>
            <a:ext cx="4572000" cy="365760"/>
          </a:xfrm>
          <a:prstGeom prst="rect">
            <a:avLst/>
          </a:prstGeom>
          <a:noFill/>
          <a:ln/>
        </p:spPr>
        <p:txBody>
          <a:bodyPr wrap="square" lIns="635" tIns="635" rIns="635" bIns="635" rtlCol="0" anchor="ctr"/>
          <a:lstStyle/>
          <a:p>
            <a:pPr indent="0" marL="0">
              <a:buNone/>
            </a:pPr>
            <a:r>
              <a:rPr lang="en-US" sz="1500" b="1" dirty="0">
                <a:solidFill>
                  <a:srgbClr val="9E0012"/>
                </a:solidFill>
                <a:latin typeface="Calibri" pitchFamily="34" charset="0"/>
                <a:ea typeface="Calibri" pitchFamily="34" charset="-122"/>
                <a:cs typeface="Calibri" pitchFamily="34" charset="-120"/>
              </a:rPr>
              <a:t>Case cards on your table</a:t>
            </a:r>
            <a:endParaRPr lang="en-US" sz="1500" dirty="0"/>
          </a:p>
        </p:txBody>
      </p:sp>
      <p:sp>
        <p:nvSpPr>
          <p:cNvPr id="13" name="Shape 10"/>
          <p:cNvSpPr/>
          <p:nvPr/>
        </p:nvSpPr>
        <p:spPr>
          <a:xfrm>
            <a:off x="7086600" y="1965960"/>
            <a:ext cx="4572000" cy="1005840"/>
          </a:xfrm>
          <a:prstGeom prst="roundRect">
            <a:avLst>
              <a:gd name="adj" fmla="val 9091"/>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4" name="Shape 11"/>
          <p:cNvSpPr/>
          <p:nvPr/>
        </p:nvSpPr>
        <p:spPr>
          <a:xfrm>
            <a:off x="7269480" y="2148840"/>
            <a:ext cx="640080" cy="640080"/>
          </a:xfrm>
          <a:prstGeom prst="ellipse">
            <a:avLst/>
          </a:prstGeom>
          <a:solidFill>
            <a:srgbClr val="E3001B"/>
          </a:solidFill>
          <a:ln w="12700">
            <a:solidFill>
              <a:srgbClr val="E3001B"/>
            </a:solidFill>
            <a:prstDash val="solid"/>
          </a:ln>
        </p:spPr>
      </p:sp>
      <p:pic>
        <p:nvPicPr>
          <p:cNvPr id="15" name="Image 0" descr="preencoded.png">    </p:cNvPr>
          <p:cNvPicPr>
            <a:picLocks noChangeAspect="1"/>
          </p:cNvPicPr>
          <p:nvPr/>
        </p:nvPicPr>
        <p:blipFill>
          <a:blip r:embed="rId1"/>
          <a:stretch>
            <a:fillRect/>
          </a:stretch>
        </p:blipFill>
        <p:spPr>
          <a:xfrm>
            <a:off x="7448702" y="2328062"/>
            <a:ext cx="281635" cy="281635"/>
          </a:xfrm>
          <a:prstGeom prst="rect">
            <a:avLst/>
          </a:prstGeom>
        </p:spPr>
      </p:pic>
      <p:sp>
        <p:nvSpPr>
          <p:cNvPr id="16" name="Text 12"/>
          <p:cNvSpPr txBox="1"/>
          <p:nvPr/>
        </p:nvSpPr>
        <p:spPr>
          <a:xfrm>
            <a:off x="8092440" y="2039112"/>
            <a:ext cx="3474720" cy="86868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Case A · Rising early delinquency in East Java</a:t>
            </a:r>
            <a:endParaRPr lang="en-US" sz="1500" dirty="0"/>
          </a:p>
          <a:p>
            <a:pPr indent="0" marL="0">
              <a:buNone/>
            </a:pPr>
            <a:r>
              <a:rPr lang="en-US" sz="1300" dirty="0">
                <a:solidFill>
                  <a:srgbClr val="6B6B6B"/>
                </a:solidFill>
                <a:latin typeface="Calibri" pitchFamily="34" charset="0"/>
                <a:ea typeface="Calibri" pitchFamily="34" charset="-122"/>
                <a:cs typeface="Calibri" pitchFamily="34" charset="-120"/>
              </a:rPr>
              <a:t>Risk / collections</a:t>
            </a:r>
            <a:endParaRPr lang="en-US" sz="1500" dirty="0"/>
          </a:p>
        </p:txBody>
      </p:sp>
      <p:sp>
        <p:nvSpPr>
          <p:cNvPr id="17" name="Shape 13"/>
          <p:cNvSpPr/>
          <p:nvPr/>
        </p:nvSpPr>
        <p:spPr>
          <a:xfrm>
            <a:off x="7086600" y="3154680"/>
            <a:ext cx="4572000" cy="1005840"/>
          </a:xfrm>
          <a:prstGeom prst="roundRect">
            <a:avLst>
              <a:gd name="adj" fmla="val 9091"/>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8" name="Shape 14"/>
          <p:cNvSpPr/>
          <p:nvPr/>
        </p:nvSpPr>
        <p:spPr>
          <a:xfrm>
            <a:off x="7269480" y="3337560"/>
            <a:ext cx="640080" cy="640080"/>
          </a:xfrm>
          <a:prstGeom prst="ellipse">
            <a:avLst/>
          </a:prstGeom>
          <a:solidFill>
            <a:srgbClr val="E3001B"/>
          </a:solidFill>
          <a:ln w="12700">
            <a:solidFill>
              <a:srgbClr val="E3001B"/>
            </a:solidFill>
            <a:prstDash val="solid"/>
          </a:ln>
        </p:spPr>
      </p:sp>
      <p:pic>
        <p:nvPicPr>
          <p:cNvPr id="19" name="Image 1" descr="preencoded.png">    </p:cNvPr>
          <p:cNvPicPr>
            <a:picLocks noChangeAspect="1"/>
          </p:cNvPicPr>
          <p:nvPr/>
        </p:nvPicPr>
        <p:blipFill>
          <a:blip r:embed="rId2"/>
          <a:stretch>
            <a:fillRect/>
          </a:stretch>
        </p:blipFill>
        <p:spPr>
          <a:xfrm>
            <a:off x="7448702" y="3516782"/>
            <a:ext cx="281635" cy="281635"/>
          </a:xfrm>
          <a:prstGeom prst="rect">
            <a:avLst/>
          </a:prstGeom>
        </p:spPr>
      </p:pic>
      <p:sp>
        <p:nvSpPr>
          <p:cNvPr id="20" name="Text 15"/>
          <p:cNvSpPr txBox="1"/>
          <p:nvPr/>
        </p:nvSpPr>
        <p:spPr>
          <a:xfrm>
            <a:off x="8092440" y="3227832"/>
            <a:ext cx="3474720" cy="86868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Case B · 1-tap payment reminder in the app</a:t>
            </a:r>
            <a:endParaRPr lang="en-US" sz="1500" dirty="0"/>
          </a:p>
          <a:p>
            <a:pPr indent="0" marL="0">
              <a:buNone/>
            </a:pPr>
            <a:r>
              <a:rPr lang="en-US" sz="1300" dirty="0">
                <a:solidFill>
                  <a:srgbClr val="6B6B6B"/>
                </a:solidFill>
                <a:latin typeface="Calibri" pitchFamily="34" charset="0"/>
                <a:ea typeface="Calibri" pitchFamily="34" charset="-122"/>
                <a:cs typeface="Calibri" pitchFamily="34" charset="-120"/>
              </a:rPr>
              <a:t>Product / digital</a:t>
            </a:r>
            <a:endParaRPr lang="en-US" sz="1500" dirty="0"/>
          </a:p>
        </p:txBody>
      </p:sp>
      <p:sp>
        <p:nvSpPr>
          <p:cNvPr id="21" name="Shape 16"/>
          <p:cNvSpPr/>
          <p:nvPr/>
        </p:nvSpPr>
        <p:spPr>
          <a:xfrm>
            <a:off x="7086600" y="4343400"/>
            <a:ext cx="4572000" cy="1005840"/>
          </a:xfrm>
          <a:prstGeom prst="roundRect">
            <a:avLst>
              <a:gd name="adj" fmla="val 9091"/>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22" name="Shape 17"/>
          <p:cNvSpPr/>
          <p:nvPr/>
        </p:nvSpPr>
        <p:spPr>
          <a:xfrm>
            <a:off x="7269480" y="4526280"/>
            <a:ext cx="640080" cy="640080"/>
          </a:xfrm>
          <a:prstGeom prst="ellipse">
            <a:avLst/>
          </a:prstGeom>
          <a:solidFill>
            <a:srgbClr val="E3001B"/>
          </a:solidFill>
          <a:ln w="12700">
            <a:solidFill>
              <a:srgbClr val="E3001B"/>
            </a:solidFill>
            <a:prstDash val="solid"/>
          </a:ln>
        </p:spPr>
      </p:sp>
      <p:pic>
        <p:nvPicPr>
          <p:cNvPr id="23" name="Image 2" descr="preencoded.png">    </p:cNvPr>
          <p:cNvPicPr>
            <a:picLocks noChangeAspect="1"/>
          </p:cNvPicPr>
          <p:nvPr/>
        </p:nvPicPr>
        <p:blipFill>
          <a:blip r:embed="rId3"/>
          <a:stretch>
            <a:fillRect/>
          </a:stretch>
        </p:blipFill>
        <p:spPr>
          <a:xfrm>
            <a:off x="7448702" y="4705502"/>
            <a:ext cx="281635" cy="281635"/>
          </a:xfrm>
          <a:prstGeom prst="rect">
            <a:avLst/>
          </a:prstGeom>
        </p:spPr>
      </p:pic>
      <p:sp>
        <p:nvSpPr>
          <p:cNvPr id="24" name="Text 18"/>
          <p:cNvSpPr txBox="1"/>
          <p:nvPr/>
        </p:nvSpPr>
        <p:spPr>
          <a:xfrm>
            <a:off x="8092440" y="4416552"/>
            <a:ext cx="3474720" cy="86868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Case C · Sulawesi partner-channel sales drop</a:t>
            </a:r>
            <a:endParaRPr lang="en-US" sz="1500" dirty="0"/>
          </a:p>
          <a:p>
            <a:pPr indent="0" marL="0">
              <a:buNone/>
            </a:pPr>
            <a:r>
              <a:rPr lang="en-US" sz="1300" dirty="0">
                <a:solidFill>
                  <a:srgbClr val="6B6B6B"/>
                </a:solidFill>
                <a:latin typeface="Calibri" pitchFamily="34" charset="0"/>
                <a:ea typeface="Calibri" pitchFamily="34" charset="-122"/>
                <a:cs typeface="Calibri" pitchFamily="34" charset="-120"/>
              </a:rPr>
              <a:t>Sales / partners</a:t>
            </a:r>
            <a:endParaRPr lang="en-US" sz="1500" dirty="0"/>
          </a:p>
        </p:txBody>
      </p:sp>
      <p:sp>
        <p:nvSpPr>
          <p:cNvPr id="25" name="Text 19"/>
          <p:cNvSpPr txBox="1"/>
          <p:nvPr/>
        </p:nvSpPr>
        <p:spPr>
          <a:xfrm>
            <a:off x="7086600" y="5623560"/>
            <a:ext cx="4572000" cy="41148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Output: </a:t>
            </a:r>
            <a:pPr indent="0" marL="0">
              <a:buNone/>
            </a:pPr>
            <a:r>
              <a:rPr lang="en-US" sz="1500" dirty="0">
                <a:solidFill>
                  <a:srgbClr val="1A1A1A"/>
                </a:solidFill>
                <a:latin typeface="Calibri" pitchFamily="34" charset="0"/>
                <a:ea typeface="Calibri" pitchFamily="34" charset="-122"/>
                <a:cs typeface="Calibri" pitchFamily="34" charset="-120"/>
              </a:rPr>
              <a:t>one index card with your answer sentence and SCQA</a:t>
            </a:r>
            <a:endParaRPr lang="en-US" sz="1500" dirty="0"/>
          </a:p>
        </p:txBody>
      </p:sp>
      <p:sp>
        <p:nvSpPr>
          <p:cNvPr id="26" name="Text 20"/>
          <p:cNvSpPr txBox="1"/>
          <p:nvPr/>
        </p:nvSpPr>
        <p:spPr>
          <a:xfrm>
            <a:off x="548640" y="5623560"/>
            <a:ext cx="182880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 min  ·  pairs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team planning a storyline with sticky notes on a glass wall">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188720"/>
            <a:ext cx="4572000" cy="1371600"/>
          </a:xfrm>
          <a:prstGeom prst="rect">
            <a:avLst/>
          </a:prstGeom>
          <a:noFill/>
          <a:ln/>
        </p:spPr>
        <p:txBody>
          <a:bodyPr wrap="square" lIns="635" tIns="635" rIns="635" bIns="635" rtlCol="0" anchor="ctr"/>
          <a:lstStyle/>
          <a:p>
            <a:pPr indent="0" marL="0">
              <a:buNone/>
            </a:pPr>
            <a:r>
              <a:rPr lang="en-US" sz="9600" b="1" dirty="0">
                <a:solidFill>
                  <a:srgbClr val="FFFFFF">
                    <a:alpha val="70000"/>
                  </a:srgbClr>
                </a:solidFill>
                <a:latin typeface="Arial" pitchFamily="34" charset="0"/>
                <a:ea typeface="Arial" pitchFamily="34" charset="-122"/>
                <a:cs typeface="Arial" pitchFamily="34" charset="-120"/>
              </a:rPr>
              <a:t>02</a:t>
            </a:r>
            <a:endParaRPr lang="en-US" sz="9600" dirty="0"/>
          </a:p>
        </p:txBody>
      </p:sp>
      <p:sp>
        <p:nvSpPr>
          <p:cNvPr id="6" name="Text 3"/>
          <p:cNvSpPr txBox="1"/>
          <p:nvPr/>
        </p:nvSpPr>
        <p:spPr>
          <a:xfrm>
            <a:off x="6735928" y="2651760"/>
            <a:ext cx="5120640" cy="1737360"/>
          </a:xfrm>
          <a:prstGeom prst="rect">
            <a:avLst/>
          </a:prstGeom>
          <a:noFill/>
          <a:ln/>
        </p:spPr>
        <p:txBody>
          <a:bodyPr wrap="square" lIns="635" tIns="635" rIns="635" bIns="635" rtlCol="0" anchor="t"/>
          <a:lstStyle/>
          <a:p>
            <a:pPr indent="0" marL="0">
              <a:buNone/>
            </a:pPr>
            <a:r>
              <a:rPr lang="en-US" sz="3600" b="1" dirty="0">
                <a:solidFill>
                  <a:srgbClr val="FFFFFF"/>
                </a:solidFill>
                <a:latin typeface="Arial" pitchFamily="34" charset="0"/>
                <a:ea typeface="Arial" pitchFamily="34" charset="-122"/>
                <a:cs typeface="Arial" pitchFamily="34" charset="-120"/>
              </a:rPr>
              <a:t>Build the storyline</a:t>
            </a:r>
            <a:endParaRPr lang="en-US" sz="3600" dirty="0"/>
          </a:p>
        </p:txBody>
      </p:sp>
      <p:sp>
        <p:nvSpPr>
          <p:cNvPr id="7" name="Text 4"/>
          <p:cNvSpPr txBox="1"/>
          <p:nvPr/>
        </p:nvSpPr>
        <p:spPr>
          <a:xfrm>
            <a:off x="6735928" y="4480560"/>
            <a:ext cx="5120640" cy="822960"/>
          </a:xfrm>
          <a:prstGeom prst="rect">
            <a:avLst/>
          </a:prstGeom>
          <a:noFill/>
          <a:ln/>
        </p:spPr>
        <p:txBody>
          <a:bodyPr wrap="square" lIns="635" tIns="635" rIns="635" bIns="635" rtlCol="0" anchor="t"/>
          <a:lstStyle/>
          <a:p>
            <a:pPr indent="0" marL="0">
              <a:buNone/>
            </a:pPr>
            <a:r>
              <a:rPr lang="en-US" sz="1800" dirty="0">
                <a:solidFill>
                  <a:srgbClr val="FFD6DA"/>
                </a:solidFill>
                <a:latin typeface="Calibri" pitchFamily="34" charset="0"/>
                <a:ea typeface="Calibri" pitchFamily="34" charset="-122"/>
                <a:cs typeface="Calibri" pitchFamily="34" charset="-120"/>
              </a:rPr>
              <a:t>35–55 min  ·  What is vs. what could be  ·  Headline test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Contrast 'what is' with 'what could be' so leaders feel the gap you ask them to close</a:t>
            </a:r>
            <a:endParaRPr lang="en-US" sz="2600" dirty="0"/>
          </a:p>
        </p:txBody>
      </p:sp>
      <p:sp>
        <p:nvSpPr>
          <p:cNvPr id="4" name="Text 1"/>
          <p:cNvSpPr txBox="1"/>
          <p:nvPr/>
        </p:nvSpPr>
        <p:spPr>
          <a:xfrm>
            <a:off x="548640" y="1600200"/>
            <a:ext cx="2286000" cy="320040"/>
          </a:xfrm>
          <a:prstGeom prst="rect">
            <a:avLst/>
          </a:prstGeom>
          <a:noFill/>
          <a:ln/>
        </p:spPr>
        <p:txBody>
          <a:bodyPr wrap="square" lIns="635" tIns="635" rIns="635" bIns="635" rtlCol="0" anchor="ctr"/>
          <a:lstStyle/>
          <a:p>
            <a:pPr indent="0" marL="0">
              <a:buNone/>
            </a:pPr>
            <a:r>
              <a:rPr lang="en-US" sz="1200" b="1" dirty="0">
                <a:solidFill>
                  <a:srgbClr val="E3001B"/>
                </a:solidFill>
                <a:latin typeface="Calibri" pitchFamily="34" charset="0"/>
                <a:ea typeface="Calibri" pitchFamily="34" charset="-122"/>
                <a:cs typeface="Calibri" pitchFamily="34" charset="-120"/>
              </a:rPr>
              <a:t>WHAT COULD BE</a:t>
            </a:r>
            <a:endParaRPr lang="en-US" sz="1200" dirty="0"/>
          </a:p>
        </p:txBody>
      </p:sp>
      <p:sp>
        <p:nvSpPr>
          <p:cNvPr id="5" name="Text 2"/>
          <p:cNvSpPr txBox="1"/>
          <p:nvPr/>
        </p:nvSpPr>
        <p:spPr>
          <a:xfrm>
            <a:off x="548640" y="4526280"/>
            <a:ext cx="2286000" cy="320040"/>
          </a:xfrm>
          <a:prstGeom prst="rect">
            <a:avLst/>
          </a:prstGeom>
          <a:noFill/>
          <a:ln/>
        </p:spPr>
        <p:txBody>
          <a:bodyPr wrap="square" lIns="635" tIns="635" rIns="635" bIns="635" rtlCol="0" anchor="ctr"/>
          <a:lstStyle/>
          <a:p>
            <a:pPr indent="0" marL="0">
              <a:buNone/>
            </a:pPr>
            <a:r>
              <a:rPr lang="en-US" sz="1200" b="1" dirty="0">
                <a:solidFill>
                  <a:srgbClr val="6B6B6B"/>
                </a:solidFill>
                <a:latin typeface="Calibri" pitchFamily="34" charset="0"/>
                <a:ea typeface="Calibri" pitchFamily="34" charset="-122"/>
                <a:cs typeface="Calibri" pitchFamily="34" charset="-120"/>
              </a:rPr>
              <a:t>WHAT IS</a:t>
            </a:r>
            <a:endParaRPr lang="en-US" sz="1200" dirty="0"/>
          </a:p>
        </p:txBody>
      </p:sp>
      <p:sp>
        <p:nvSpPr>
          <p:cNvPr id="6" name="Shape 3"/>
          <p:cNvSpPr/>
          <p:nvPr/>
        </p:nvSpPr>
        <p:spPr>
          <a:xfrm>
            <a:off x="548640" y="2011680"/>
            <a:ext cx="6400800" cy="0"/>
          </a:xfrm>
          <a:prstGeom prst="line">
            <a:avLst/>
          </a:prstGeom>
          <a:noFill/>
          <a:ln w="12700">
            <a:solidFill>
              <a:srgbClr val="E3001B"/>
            </a:solidFill>
            <a:prstDash val="dash"/>
          </a:ln>
        </p:spPr>
      </p:sp>
      <p:sp>
        <p:nvSpPr>
          <p:cNvPr id="7" name="Shape 4"/>
          <p:cNvSpPr/>
          <p:nvPr/>
        </p:nvSpPr>
        <p:spPr>
          <a:xfrm>
            <a:off x="548640" y="4389120"/>
            <a:ext cx="6400800" cy="0"/>
          </a:xfrm>
          <a:prstGeom prst="line">
            <a:avLst/>
          </a:prstGeom>
          <a:noFill/>
          <a:ln w="12700">
            <a:solidFill>
              <a:srgbClr val="BDBDBD"/>
            </a:solidFill>
            <a:prstDash val="dash"/>
          </a:ln>
        </p:spPr>
      </p:sp>
      <p:sp>
        <p:nvSpPr>
          <p:cNvPr id="8" name="Shape 5"/>
          <p:cNvSpPr/>
          <p:nvPr/>
        </p:nvSpPr>
        <p:spPr>
          <a:xfrm flipV="1">
            <a:off x="822960" y="2011680"/>
            <a:ext cx="914400" cy="2377440"/>
          </a:xfrm>
          <a:prstGeom prst="line">
            <a:avLst/>
          </a:prstGeom>
          <a:noFill/>
          <a:ln w="38100">
            <a:solidFill>
              <a:srgbClr val="1A1A1A"/>
            </a:solidFill>
            <a:prstDash val="solid"/>
          </a:ln>
        </p:spPr>
      </p:sp>
      <p:sp>
        <p:nvSpPr>
          <p:cNvPr id="9" name="Shape 6"/>
          <p:cNvSpPr/>
          <p:nvPr/>
        </p:nvSpPr>
        <p:spPr>
          <a:xfrm>
            <a:off x="1737360" y="2011680"/>
            <a:ext cx="914400" cy="2377440"/>
          </a:xfrm>
          <a:prstGeom prst="line">
            <a:avLst/>
          </a:prstGeom>
          <a:noFill/>
          <a:ln w="38100">
            <a:solidFill>
              <a:srgbClr val="1A1A1A"/>
            </a:solidFill>
            <a:prstDash val="solid"/>
          </a:ln>
        </p:spPr>
      </p:sp>
      <p:sp>
        <p:nvSpPr>
          <p:cNvPr id="10" name="Shape 7"/>
          <p:cNvSpPr/>
          <p:nvPr/>
        </p:nvSpPr>
        <p:spPr>
          <a:xfrm flipV="1">
            <a:off x="2651760" y="2011680"/>
            <a:ext cx="914400" cy="2377440"/>
          </a:xfrm>
          <a:prstGeom prst="line">
            <a:avLst/>
          </a:prstGeom>
          <a:noFill/>
          <a:ln w="38100">
            <a:solidFill>
              <a:srgbClr val="1A1A1A"/>
            </a:solidFill>
            <a:prstDash val="solid"/>
          </a:ln>
        </p:spPr>
      </p:sp>
      <p:sp>
        <p:nvSpPr>
          <p:cNvPr id="11" name="Shape 8"/>
          <p:cNvSpPr/>
          <p:nvPr/>
        </p:nvSpPr>
        <p:spPr>
          <a:xfrm>
            <a:off x="3566160" y="2011680"/>
            <a:ext cx="914400" cy="2377440"/>
          </a:xfrm>
          <a:prstGeom prst="line">
            <a:avLst/>
          </a:prstGeom>
          <a:noFill/>
          <a:ln w="38100">
            <a:solidFill>
              <a:srgbClr val="1A1A1A"/>
            </a:solidFill>
            <a:prstDash val="solid"/>
          </a:ln>
        </p:spPr>
      </p:sp>
      <p:sp>
        <p:nvSpPr>
          <p:cNvPr id="12" name="Shape 9"/>
          <p:cNvSpPr/>
          <p:nvPr/>
        </p:nvSpPr>
        <p:spPr>
          <a:xfrm flipV="1">
            <a:off x="4480560" y="2011680"/>
            <a:ext cx="914400" cy="2377440"/>
          </a:xfrm>
          <a:prstGeom prst="line">
            <a:avLst/>
          </a:prstGeom>
          <a:noFill/>
          <a:ln w="38100">
            <a:solidFill>
              <a:srgbClr val="1A1A1A"/>
            </a:solidFill>
            <a:prstDash val="solid"/>
          </a:ln>
        </p:spPr>
      </p:sp>
      <p:sp>
        <p:nvSpPr>
          <p:cNvPr id="13" name="Shape 10"/>
          <p:cNvSpPr/>
          <p:nvPr/>
        </p:nvSpPr>
        <p:spPr>
          <a:xfrm flipV="1">
            <a:off x="5394960" y="1645920"/>
            <a:ext cx="1188720" cy="365760"/>
          </a:xfrm>
          <a:prstGeom prst="line">
            <a:avLst/>
          </a:prstGeom>
          <a:noFill/>
          <a:ln w="38100">
            <a:solidFill>
              <a:srgbClr val="E3001B"/>
            </a:solidFill>
            <a:prstDash val="solid"/>
            <a:tailEnd type="triangle"/>
          </a:ln>
        </p:spPr>
      </p:sp>
      <p:sp>
        <p:nvSpPr>
          <p:cNvPr id="14" name="Text 11"/>
          <p:cNvSpPr txBox="1"/>
          <p:nvPr/>
        </p:nvSpPr>
        <p:spPr>
          <a:xfrm>
            <a:off x="5029200" y="2148840"/>
            <a:ext cx="1828800" cy="320040"/>
          </a:xfrm>
          <a:prstGeom prst="rect">
            <a:avLst/>
          </a:prstGeom>
          <a:noFill/>
          <a:ln/>
        </p:spPr>
        <p:txBody>
          <a:bodyPr wrap="square" lIns="635" tIns="635" rIns="635" bIns="635" rtlCol="0" anchor="ctr"/>
          <a:lstStyle/>
          <a:p>
            <a:pPr algn="ctr" indent="0" marL="0">
              <a:buNone/>
            </a:pPr>
            <a:r>
              <a:rPr lang="en-US" sz="1200" b="1" dirty="0">
                <a:solidFill>
                  <a:srgbClr val="E3001B"/>
                </a:solidFill>
                <a:latin typeface="Calibri" pitchFamily="34" charset="0"/>
                <a:ea typeface="Calibri" pitchFamily="34" charset="-122"/>
                <a:cs typeface="Calibri" pitchFamily="34" charset="-120"/>
              </a:rPr>
              <a:t>Call to action</a:t>
            </a:r>
            <a:endParaRPr lang="en-US" sz="1200" dirty="0"/>
          </a:p>
        </p:txBody>
      </p:sp>
      <p:sp>
        <p:nvSpPr>
          <p:cNvPr id="15" name="Text 12"/>
          <p:cNvSpPr txBox="1"/>
          <p:nvPr/>
        </p:nvSpPr>
        <p:spPr>
          <a:xfrm>
            <a:off x="548640" y="4892040"/>
            <a:ext cx="1371600" cy="32004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Beginning</a:t>
            </a:r>
            <a:endParaRPr lang="en-US" sz="1200" dirty="0"/>
          </a:p>
        </p:txBody>
      </p:sp>
      <p:sp>
        <p:nvSpPr>
          <p:cNvPr id="16" name="Text 13"/>
          <p:cNvSpPr txBox="1"/>
          <p:nvPr/>
        </p:nvSpPr>
        <p:spPr>
          <a:xfrm>
            <a:off x="2011680" y="4892040"/>
            <a:ext cx="3017520" cy="320040"/>
          </a:xfrm>
          <a:prstGeom prst="rect">
            <a:avLst/>
          </a:prstGeom>
          <a:noFill/>
          <a:ln/>
        </p:spPr>
        <p:txBody>
          <a:bodyPr wrap="square" lIns="635" tIns="635" rIns="635" bIns="635"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Middle: move between the two</a:t>
            </a:r>
            <a:endParaRPr lang="en-US" sz="1200" dirty="0"/>
          </a:p>
        </p:txBody>
      </p:sp>
      <p:sp>
        <p:nvSpPr>
          <p:cNvPr id="17" name="Text 14"/>
          <p:cNvSpPr txBox="1"/>
          <p:nvPr/>
        </p:nvSpPr>
        <p:spPr>
          <a:xfrm>
            <a:off x="5394960" y="4892040"/>
            <a:ext cx="1554480" cy="320040"/>
          </a:xfrm>
          <a:prstGeom prst="rect">
            <a:avLst/>
          </a:prstGeom>
          <a:noFill/>
          <a:ln/>
        </p:spPr>
        <p:txBody>
          <a:bodyPr wrap="square" lIns="635" tIns="635" rIns="635" bIns="635" rtlCol="0" anchor="ctr"/>
          <a:lstStyle/>
          <a:p>
            <a:pPr algn="r" indent="0" marL="0">
              <a:buNone/>
            </a:pPr>
            <a:r>
              <a:rPr lang="en-US" sz="1200" dirty="0">
                <a:solidFill>
                  <a:srgbClr val="6B6B6B"/>
                </a:solidFill>
                <a:latin typeface="Calibri" pitchFamily="34" charset="0"/>
                <a:ea typeface="Calibri" pitchFamily="34" charset="-122"/>
                <a:cs typeface="Calibri" pitchFamily="34" charset="-120"/>
              </a:rPr>
              <a:t>End: new bliss</a:t>
            </a:r>
            <a:endParaRPr lang="en-US" sz="1200" dirty="0"/>
          </a:p>
        </p:txBody>
      </p:sp>
      <p:sp>
        <p:nvSpPr>
          <p:cNvPr id="18" name="Shape 15"/>
          <p:cNvSpPr/>
          <p:nvPr/>
        </p:nvSpPr>
        <p:spPr>
          <a:xfrm>
            <a:off x="7498080" y="1600200"/>
            <a:ext cx="4160520" cy="1828800"/>
          </a:xfrm>
          <a:prstGeom prst="roundRect">
            <a:avLst>
              <a:gd name="adj" fmla="val 5000"/>
            </a:avLst>
          </a:prstGeom>
          <a:solidFill>
            <a:srgbClr val="F4F4F4"/>
          </a:solidFill>
          <a:ln w="12700">
            <a:solidFill>
              <a:srgbClr val="F4F4F4"/>
            </a:solidFill>
            <a:prstDash val="solid"/>
          </a:ln>
        </p:spPr>
      </p:sp>
      <p:sp>
        <p:nvSpPr>
          <p:cNvPr id="19" name="Text 16"/>
          <p:cNvSpPr txBox="1"/>
          <p:nvPr/>
        </p:nvSpPr>
        <p:spPr>
          <a:xfrm>
            <a:off x="7680960" y="1691640"/>
            <a:ext cx="3794760" cy="1645920"/>
          </a:xfrm>
          <a:prstGeom prst="rect">
            <a:avLst/>
          </a:prstGeom>
          <a:noFill/>
          <a:ln/>
        </p:spPr>
        <p:txBody>
          <a:bodyPr wrap="square" lIns="635" tIns="635" rIns="635" bIns="635" rtlCol="0" anchor="t"/>
          <a:lstStyle/>
          <a:p>
            <a:pPr indent="0" marL="0">
              <a:buNone/>
            </a:pPr>
            <a:r>
              <a:rPr lang="en-US" sz="1500" b="1" dirty="0">
                <a:solidFill>
                  <a:srgbClr val="6B6B6B"/>
                </a:solidFill>
                <a:latin typeface="Calibri" pitchFamily="34" charset="0"/>
                <a:ea typeface="Calibri" pitchFamily="34" charset="-122"/>
                <a:cs typeface="Calibri" pitchFamily="34" charset="-120"/>
              </a:rPr>
              <a:t>What is</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Many customers miss their first instalment simply because they forget the due date.</a:t>
            </a:r>
            <a:endParaRPr lang="en-US" sz="1500" dirty="0"/>
          </a:p>
        </p:txBody>
      </p:sp>
      <p:sp>
        <p:nvSpPr>
          <p:cNvPr id="20" name="Shape 17"/>
          <p:cNvSpPr/>
          <p:nvPr/>
        </p:nvSpPr>
        <p:spPr>
          <a:xfrm>
            <a:off x="7498080" y="3611880"/>
            <a:ext cx="4160520" cy="1828800"/>
          </a:xfrm>
          <a:prstGeom prst="roundRect">
            <a:avLst>
              <a:gd name="adj" fmla="val 5000"/>
            </a:avLst>
          </a:prstGeom>
          <a:solidFill>
            <a:srgbClr val="FDECEE"/>
          </a:solidFill>
          <a:ln w="12700">
            <a:solidFill>
              <a:srgbClr val="FDECEE"/>
            </a:solidFill>
            <a:prstDash val="solid"/>
          </a:ln>
        </p:spPr>
      </p:sp>
      <p:sp>
        <p:nvSpPr>
          <p:cNvPr id="21" name="Text 18"/>
          <p:cNvSpPr txBox="1"/>
          <p:nvPr/>
        </p:nvSpPr>
        <p:spPr>
          <a:xfrm>
            <a:off x="7680960" y="3703320"/>
            <a:ext cx="3794760" cy="1645920"/>
          </a:xfrm>
          <a:prstGeom prst="rect">
            <a:avLst/>
          </a:prstGeom>
          <a:noFill/>
          <a:ln/>
        </p:spPr>
        <p:txBody>
          <a:bodyPr wrap="square" lIns="635" tIns="635" rIns="635" bIns="635" rtlCol="0" anchor="t"/>
          <a:lstStyle/>
          <a:p>
            <a:pPr indent="0" marL="0">
              <a:buNone/>
            </a:pPr>
            <a:r>
              <a:rPr lang="en-US" sz="1500" b="1" dirty="0">
                <a:solidFill>
                  <a:srgbClr val="E3001B"/>
                </a:solidFill>
                <a:latin typeface="Calibri" pitchFamily="34" charset="0"/>
                <a:ea typeface="Calibri" pitchFamily="34" charset="-122"/>
                <a:cs typeface="Calibri" pitchFamily="34" charset="-120"/>
              </a:rPr>
              <a:t>What could be</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A reminder with a 1-tap 'Pay now' lets them pay on time from the app — fewer collection calls, happier customers.</a:t>
            </a:r>
            <a:endParaRPr lang="en-US" sz="1500" dirty="0"/>
          </a:p>
        </p:txBody>
      </p:sp>
      <p:sp>
        <p:nvSpPr>
          <p:cNvPr id="22" name="Text 19"/>
          <p:cNvSpPr txBox="1"/>
          <p:nvPr/>
        </p:nvSpPr>
        <p:spPr>
          <a:xfrm>
            <a:off x="548640" y="5394960"/>
            <a:ext cx="6583680" cy="41148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The audience is the hero. </a:t>
            </a:r>
            <a:pPr indent="0" marL="0">
              <a:buNone/>
            </a:pPr>
            <a:r>
              <a:rPr lang="en-US" sz="1500" dirty="0">
                <a:solidFill>
                  <a:srgbClr val="1A1A1A"/>
                </a:solidFill>
                <a:latin typeface="Calibri" pitchFamily="34" charset="0"/>
                <a:ea typeface="Calibri" pitchFamily="34" charset="-122"/>
                <a:cs typeface="Calibri" pitchFamily="34" charset="-120"/>
              </a:rPr>
              <a:t>You are the mentor who hands them the tool.</a:t>
            </a:r>
            <a:endParaRPr lang="en-US" sz="1500" dirty="0"/>
          </a:p>
        </p:txBody>
      </p:sp>
      <p:sp>
        <p:nvSpPr>
          <p:cNvPr id="23" name="Text 20"/>
          <p:cNvSpPr txBox="1"/>
          <p:nvPr/>
        </p:nvSpPr>
        <p:spPr>
          <a:xfrm>
            <a:off x="548640" y="5943600"/>
            <a:ext cx="91440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Nancy Duarte, Resonate; "The Secret Structure of Great Talks" (TED)  ·  Case B example is illustrative</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Your Big Idea is one sentence with a point of view and what is at stake</a:t>
            </a:r>
            <a:endParaRPr lang="en-US" sz="2600" dirty="0"/>
          </a:p>
        </p:txBody>
      </p:sp>
      <p:sp>
        <p:nvSpPr>
          <p:cNvPr id="4" name="Shape 1"/>
          <p:cNvSpPr/>
          <p:nvPr/>
        </p:nvSpPr>
        <p:spPr>
          <a:xfrm>
            <a:off x="548640" y="1645920"/>
            <a:ext cx="3200400" cy="1463040"/>
          </a:xfrm>
          <a:prstGeom prst="roundRect">
            <a:avLst>
              <a:gd name="adj" fmla="val 6250"/>
            </a:avLst>
          </a:prstGeom>
          <a:solidFill>
            <a:srgbClr val="F4F4F4"/>
          </a:solidFill>
          <a:ln w="12700">
            <a:solidFill>
              <a:srgbClr val="F4F4F4"/>
            </a:solidFill>
            <a:prstDash val="solid"/>
          </a:ln>
        </p:spPr>
      </p:sp>
      <p:sp>
        <p:nvSpPr>
          <p:cNvPr id="5" name="Text 2"/>
          <p:cNvSpPr txBox="1"/>
          <p:nvPr/>
        </p:nvSpPr>
        <p:spPr>
          <a:xfrm>
            <a:off x="731520" y="1737360"/>
            <a:ext cx="2834640" cy="1280160"/>
          </a:xfrm>
          <a:prstGeom prst="rect">
            <a:avLst/>
          </a:prstGeom>
          <a:noFill/>
          <a:ln/>
        </p:spPr>
        <p:txBody>
          <a:bodyPr wrap="square" lIns="635" tIns="635" rIns="635" bIns="635"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Your point of view</a:t>
            </a:r>
            <a:endParaRPr lang="en-US" sz="1800" dirty="0"/>
          </a:p>
          <a:p>
            <a:pPr algn="ctr" indent="0" marL="0">
              <a:buNone/>
            </a:pPr>
            <a:r>
              <a:rPr lang="en-US" sz="1400" dirty="0">
                <a:solidFill>
                  <a:srgbClr val="6B6B6B"/>
                </a:solidFill>
                <a:latin typeface="Calibri" pitchFamily="34" charset="0"/>
                <a:ea typeface="Calibri" pitchFamily="34" charset="-122"/>
                <a:cs typeface="Calibri" pitchFamily="34" charset="-120"/>
              </a:rPr>
              <a:t>What you believe we should do</a:t>
            </a:r>
            <a:endParaRPr lang="en-US" sz="1800" dirty="0"/>
          </a:p>
        </p:txBody>
      </p:sp>
      <p:sp>
        <p:nvSpPr>
          <p:cNvPr id="6" name="Text 3"/>
          <p:cNvSpPr txBox="1"/>
          <p:nvPr/>
        </p:nvSpPr>
        <p:spPr>
          <a:xfrm>
            <a:off x="3749040" y="1920240"/>
            <a:ext cx="731520" cy="914400"/>
          </a:xfrm>
          <a:prstGeom prst="rect">
            <a:avLst/>
          </a:prstGeom>
          <a:noFill/>
          <a:ln/>
        </p:spPr>
        <p:txBody>
          <a:bodyPr wrap="square" lIns="635" tIns="635" rIns="635" bIns="635" rtlCol="0" anchor="ctr"/>
          <a:lstStyle/>
          <a:p>
            <a:pPr algn="ctr" indent="0" marL="0">
              <a:buNone/>
            </a:pPr>
            <a:r>
              <a:rPr lang="en-US" sz="4000" b="1" dirty="0">
                <a:solidFill>
                  <a:srgbClr val="E3001B"/>
                </a:solidFill>
                <a:latin typeface="Calibri" pitchFamily="34" charset="0"/>
                <a:ea typeface="Calibri" pitchFamily="34" charset="-122"/>
                <a:cs typeface="Calibri" pitchFamily="34" charset="-120"/>
              </a:rPr>
              <a:t>+</a:t>
            </a:r>
            <a:endParaRPr lang="en-US" sz="4000" dirty="0"/>
          </a:p>
        </p:txBody>
      </p:sp>
      <p:sp>
        <p:nvSpPr>
          <p:cNvPr id="7" name="Shape 4"/>
          <p:cNvSpPr/>
          <p:nvPr/>
        </p:nvSpPr>
        <p:spPr>
          <a:xfrm>
            <a:off x="4480560" y="1645920"/>
            <a:ext cx="3200400" cy="1463040"/>
          </a:xfrm>
          <a:prstGeom prst="roundRect">
            <a:avLst>
              <a:gd name="adj" fmla="val 6250"/>
            </a:avLst>
          </a:prstGeom>
          <a:solidFill>
            <a:srgbClr val="F4F4F4"/>
          </a:solidFill>
          <a:ln w="12700">
            <a:solidFill>
              <a:srgbClr val="F4F4F4"/>
            </a:solidFill>
            <a:prstDash val="solid"/>
          </a:ln>
        </p:spPr>
      </p:sp>
      <p:sp>
        <p:nvSpPr>
          <p:cNvPr id="8" name="Text 5"/>
          <p:cNvSpPr txBox="1"/>
          <p:nvPr/>
        </p:nvSpPr>
        <p:spPr>
          <a:xfrm>
            <a:off x="4663440" y="1737360"/>
            <a:ext cx="2834640" cy="1280160"/>
          </a:xfrm>
          <a:prstGeom prst="rect">
            <a:avLst/>
          </a:prstGeom>
          <a:noFill/>
          <a:ln/>
        </p:spPr>
        <p:txBody>
          <a:bodyPr wrap="square" lIns="635" tIns="635" rIns="635" bIns="635"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What's at stake</a:t>
            </a:r>
            <a:endParaRPr lang="en-US" sz="1800" dirty="0"/>
          </a:p>
          <a:p>
            <a:pPr algn="ctr" indent="0" marL="0">
              <a:buNone/>
            </a:pPr>
            <a:r>
              <a:rPr lang="en-US" sz="1400" dirty="0">
                <a:solidFill>
                  <a:srgbClr val="6B6B6B"/>
                </a:solidFill>
                <a:latin typeface="Calibri" pitchFamily="34" charset="0"/>
                <a:ea typeface="Calibri" pitchFamily="34" charset="-122"/>
                <a:cs typeface="Calibri" pitchFamily="34" charset="-120"/>
              </a:rPr>
              <a:t>What we gain or lose</a:t>
            </a:r>
            <a:endParaRPr lang="en-US" sz="1800" dirty="0"/>
          </a:p>
        </p:txBody>
      </p:sp>
      <p:sp>
        <p:nvSpPr>
          <p:cNvPr id="9" name="Text 6"/>
          <p:cNvSpPr txBox="1"/>
          <p:nvPr/>
        </p:nvSpPr>
        <p:spPr>
          <a:xfrm>
            <a:off x="7680960" y="1920240"/>
            <a:ext cx="731520" cy="914400"/>
          </a:xfrm>
          <a:prstGeom prst="rect">
            <a:avLst/>
          </a:prstGeom>
          <a:noFill/>
          <a:ln/>
        </p:spPr>
        <p:txBody>
          <a:bodyPr wrap="square" lIns="635" tIns="635" rIns="635" bIns="635" rtlCol="0" anchor="ctr"/>
          <a:lstStyle/>
          <a:p>
            <a:pPr algn="ctr" indent="0" marL="0">
              <a:buNone/>
            </a:pPr>
            <a:r>
              <a:rPr lang="en-US" sz="4000" b="1" dirty="0">
                <a:solidFill>
                  <a:srgbClr val="E3001B"/>
                </a:solidFill>
                <a:latin typeface="Calibri" pitchFamily="34" charset="0"/>
                <a:ea typeface="Calibri" pitchFamily="34" charset="-122"/>
                <a:cs typeface="Calibri" pitchFamily="34" charset="-120"/>
              </a:rPr>
              <a:t>=</a:t>
            </a:r>
            <a:endParaRPr lang="en-US" sz="4000" dirty="0"/>
          </a:p>
        </p:txBody>
      </p:sp>
      <p:sp>
        <p:nvSpPr>
          <p:cNvPr id="10" name="Shape 7"/>
          <p:cNvSpPr/>
          <p:nvPr/>
        </p:nvSpPr>
        <p:spPr>
          <a:xfrm>
            <a:off x="8412480" y="1645920"/>
            <a:ext cx="3200400" cy="1463040"/>
          </a:xfrm>
          <a:prstGeom prst="roundRect">
            <a:avLst>
              <a:gd name="adj" fmla="val 6250"/>
            </a:avLst>
          </a:prstGeom>
          <a:solidFill>
            <a:srgbClr val="E3001B"/>
          </a:solidFill>
          <a:ln w="12700">
            <a:solidFill>
              <a:srgbClr val="E3001B"/>
            </a:solidFill>
            <a:prstDash val="solid"/>
          </a:ln>
        </p:spPr>
      </p:sp>
      <p:sp>
        <p:nvSpPr>
          <p:cNvPr id="11" name="Shape 8"/>
          <p:cNvSpPr/>
          <p:nvPr/>
        </p:nvSpPr>
        <p:spPr>
          <a:xfrm>
            <a:off x="8595360" y="2011680"/>
            <a:ext cx="731520" cy="73152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8800186" y="2216506"/>
            <a:ext cx="321869" cy="321869"/>
          </a:xfrm>
          <a:prstGeom prst="rect">
            <a:avLst/>
          </a:prstGeom>
        </p:spPr>
      </p:pic>
      <p:sp>
        <p:nvSpPr>
          <p:cNvPr id="13" name="Text 9"/>
          <p:cNvSpPr txBox="1"/>
          <p:nvPr/>
        </p:nvSpPr>
        <p:spPr>
          <a:xfrm>
            <a:off x="9418320" y="1737360"/>
            <a:ext cx="2103120" cy="1280160"/>
          </a:xfrm>
          <a:prstGeom prst="rect">
            <a:avLst/>
          </a:prstGeom>
          <a:noFill/>
          <a:ln/>
        </p:spPr>
        <p:txBody>
          <a:bodyPr wrap="square" lIns="635" tIns="635" rIns="635" bIns="635"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Big Idea</a:t>
            </a:r>
            <a:endParaRPr lang="en-US" sz="2200" dirty="0"/>
          </a:p>
        </p:txBody>
      </p:sp>
      <p:pic>
        <p:nvPicPr>
          <p:cNvPr id="14" name="Image 1" descr="preencoded.png">    </p:cNvPr>
          <p:cNvPicPr>
            <a:picLocks noChangeAspect="1"/>
          </p:cNvPicPr>
          <p:nvPr/>
        </p:nvPicPr>
        <p:blipFill>
          <a:blip r:embed="rId2"/>
          <a:stretch>
            <a:fillRect/>
          </a:stretch>
        </p:blipFill>
        <p:spPr>
          <a:xfrm>
            <a:off x="548640" y="3611880"/>
            <a:ext cx="411480" cy="411480"/>
          </a:xfrm>
          <a:prstGeom prst="rect">
            <a:avLst/>
          </a:prstGeom>
        </p:spPr>
      </p:pic>
      <p:sp>
        <p:nvSpPr>
          <p:cNvPr id="15" name="Text 10"/>
          <p:cNvSpPr txBox="1"/>
          <p:nvPr/>
        </p:nvSpPr>
        <p:spPr>
          <a:xfrm>
            <a:off x="1097280" y="3566160"/>
            <a:ext cx="10515600" cy="502920"/>
          </a:xfrm>
          <a:prstGeom prst="rect">
            <a:avLst/>
          </a:prstGeom>
          <a:noFill/>
          <a:ln/>
        </p:spPr>
        <p:txBody>
          <a:bodyPr wrap="square" lIns="635" tIns="635" rIns="635" bIns="635" rtlCol="0" anchor="ctr"/>
          <a:lstStyle/>
          <a:p>
            <a:pPr indent="0" marL="0">
              <a:buNone/>
            </a:pPr>
            <a:r>
              <a:rPr lang="en-US" sz="1800" b="1" dirty="0">
                <a:solidFill>
                  <a:srgbClr val="6B6B6B"/>
                </a:solidFill>
                <a:latin typeface="Calibri" pitchFamily="34" charset="0"/>
                <a:ea typeface="Calibri" pitchFamily="34" charset="-122"/>
                <a:cs typeface="Calibri" pitchFamily="34" charset="-120"/>
              </a:rPr>
              <a:t>Weak  </a:t>
            </a:r>
            <a:pPr indent="0" marL="0">
              <a:buNone/>
            </a:pPr>
            <a:r>
              <a:rPr lang="en-US" sz="1800" dirty="0">
                <a:solidFill>
                  <a:srgbClr val="6B6B6B"/>
                </a:solidFill>
                <a:latin typeface="Calibri" pitchFamily="34" charset="0"/>
                <a:ea typeface="Calibri" pitchFamily="34" charset="-122"/>
                <a:cs typeface="Calibri" pitchFamily="34" charset="-120"/>
              </a:rPr>
              <a:t>"Update on the Sulawesi partner channel"</a:t>
            </a:r>
            <a:endParaRPr lang="en-US" sz="1800" dirty="0"/>
          </a:p>
        </p:txBody>
      </p:sp>
      <p:pic>
        <p:nvPicPr>
          <p:cNvPr id="16" name="Image 2" descr="preencoded.png">    </p:cNvPr>
          <p:cNvPicPr>
            <a:picLocks noChangeAspect="1"/>
          </p:cNvPicPr>
          <p:nvPr/>
        </p:nvPicPr>
        <p:blipFill>
          <a:blip r:embed="rId3"/>
          <a:stretch>
            <a:fillRect/>
          </a:stretch>
        </p:blipFill>
        <p:spPr>
          <a:xfrm>
            <a:off x="548640" y="4343400"/>
            <a:ext cx="411480" cy="411480"/>
          </a:xfrm>
          <a:prstGeom prst="rect">
            <a:avLst/>
          </a:prstGeom>
        </p:spPr>
      </p:pic>
      <p:sp>
        <p:nvSpPr>
          <p:cNvPr id="17" name="Text 11"/>
          <p:cNvSpPr txBox="1"/>
          <p:nvPr/>
        </p:nvSpPr>
        <p:spPr>
          <a:xfrm>
            <a:off x="1097280" y="4251960"/>
            <a:ext cx="10515600" cy="822960"/>
          </a:xfrm>
          <a:prstGeom prst="rect">
            <a:avLst/>
          </a:prstGeom>
          <a:noFill/>
          <a:ln/>
        </p:spPr>
        <p:txBody>
          <a:bodyPr wrap="square" lIns="635" tIns="635" rIns="635" bIns="635" rtlCol="0" anchor="t"/>
          <a:lstStyle/>
          <a:p>
            <a:pPr indent="0" marL="0">
              <a:buNone/>
            </a:pPr>
            <a:r>
              <a:rPr lang="en-US" sz="1800" b="1" dirty="0">
                <a:solidFill>
                  <a:srgbClr val="E3001B"/>
                </a:solidFill>
                <a:latin typeface="Calibri" pitchFamily="34" charset="0"/>
                <a:ea typeface="Calibri" pitchFamily="34" charset="-122"/>
                <a:cs typeface="Calibri" pitchFamily="34" charset="-120"/>
              </a:rPr>
              <a:t>Strong  </a:t>
            </a:r>
            <a:pPr indent="0" marL="0">
              <a:buNone/>
            </a:pPr>
            <a:r>
              <a:rPr lang="en-US" sz="1800" dirty="0">
                <a:solidFill>
                  <a:srgbClr val="1A1A1A"/>
                </a:solidFill>
                <a:latin typeface="Calibri" pitchFamily="34" charset="0"/>
                <a:ea typeface="Calibri" pitchFamily="34" charset="-122"/>
                <a:cs typeface="Calibri" pitchFamily="34" charset="-120"/>
              </a:rPr>
              <a:t>"We will lose our two biggest electronics partners in Sulawesi unless we match the competitor's 0% offer for three months"</a:t>
            </a:r>
            <a:endParaRPr lang="en-US" sz="1800" dirty="0"/>
          </a:p>
        </p:txBody>
      </p:sp>
      <p:sp>
        <p:nvSpPr>
          <p:cNvPr id="18" name="Text 12"/>
          <p:cNvSpPr txBox="1"/>
          <p:nvPr/>
        </p:nvSpPr>
        <p:spPr>
          <a:xfrm>
            <a:off x="548640" y="5303520"/>
            <a:ext cx="10515600" cy="411480"/>
          </a:xfrm>
          <a:prstGeom prst="rect">
            <a:avLst/>
          </a:prstGeom>
          <a:noFill/>
          <a:ln/>
        </p:spPr>
        <p:txBody>
          <a:bodyPr wrap="square" lIns="635" tIns="635" rIns="635" bIns="635"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Test: </a:t>
            </a:r>
            <a:pPr indent="0" marL="0">
              <a:buNone/>
            </a:pPr>
            <a:r>
              <a:rPr lang="en-US" sz="1600" dirty="0">
                <a:solidFill>
                  <a:srgbClr val="1A1A1A"/>
                </a:solidFill>
                <a:latin typeface="Calibri" pitchFamily="34" charset="0"/>
                <a:ea typeface="Calibri" pitchFamily="34" charset="-122"/>
                <a:cs typeface="Calibri" pitchFamily="34" charset="-120"/>
              </a:rPr>
              <a:t>Can you say it in one breath? Could someone in the room disagree?</a:t>
            </a:r>
            <a:endParaRPr lang="en-US" sz="1600" dirty="0"/>
          </a:p>
        </p:txBody>
      </p:sp>
      <p:sp>
        <p:nvSpPr>
          <p:cNvPr id="19" name="Text 13"/>
          <p:cNvSpPr txBox="1"/>
          <p:nvPr/>
        </p:nvSpPr>
        <p:spPr>
          <a:xfrm>
            <a:off x="548640" y="5943600"/>
            <a:ext cx="91440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Sources: Chris Anderson, "How to Give a Killer Presentation" (HBR); Nancy Duarte, Resonate</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The headline test: read only the titles and the story must still make sense</a:t>
            </a:r>
            <a:endParaRPr lang="en-US" sz="2600" dirty="0"/>
          </a:p>
        </p:txBody>
      </p:sp>
      <p:sp>
        <p:nvSpPr>
          <p:cNvPr id="4" name="Shape 1"/>
          <p:cNvSpPr/>
          <p:nvPr/>
        </p:nvSpPr>
        <p:spPr>
          <a:xfrm>
            <a:off x="548640" y="1691640"/>
            <a:ext cx="2057400" cy="25146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658368" y="1783080"/>
            <a:ext cx="365760" cy="274320"/>
          </a:xfrm>
          <a:prstGeom prst="rect">
            <a:avLst/>
          </a:prstGeom>
          <a:noFill/>
          <a:ln/>
        </p:spPr>
        <p:txBody>
          <a:bodyPr wrap="square" lIns="635" tIns="635" rIns="635" bIns="635" rtlCol="0" anchor="ctr"/>
          <a:lstStyle/>
          <a:p>
            <a:pPr indent="0" marL="0">
              <a:buNone/>
            </a:pPr>
            <a:r>
              <a:rPr lang="en-US" sz="1100" b="1" dirty="0">
                <a:solidFill>
                  <a:srgbClr val="E3001B"/>
                </a:solidFill>
                <a:latin typeface="Calibri" pitchFamily="34" charset="0"/>
                <a:ea typeface="Calibri" pitchFamily="34" charset="-122"/>
                <a:cs typeface="Calibri" pitchFamily="34" charset="-120"/>
              </a:rPr>
              <a:t>1</a:t>
            </a:r>
            <a:endParaRPr lang="en-US" sz="1100" dirty="0"/>
          </a:p>
        </p:txBody>
      </p:sp>
      <p:sp>
        <p:nvSpPr>
          <p:cNvPr id="6" name="Text 3"/>
          <p:cNvSpPr txBox="1"/>
          <p:nvPr/>
        </p:nvSpPr>
        <p:spPr>
          <a:xfrm>
            <a:off x="658368" y="2057400"/>
            <a:ext cx="1828800" cy="1097280"/>
          </a:xfrm>
          <a:prstGeom prst="rect">
            <a:avLst/>
          </a:prstGeom>
          <a:noFill/>
          <a:ln/>
        </p:spPr>
        <p:txBody>
          <a:bodyPr wrap="square" lIns="635" tIns="635" rIns="635" bIns="635"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Forgotten due dates cause 4 in 10 missed first instalments</a:t>
            </a:r>
            <a:endParaRPr lang="en-US" sz="1300" dirty="0"/>
          </a:p>
        </p:txBody>
      </p:sp>
      <p:sp>
        <p:nvSpPr>
          <p:cNvPr id="7" name="Shape 4"/>
          <p:cNvSpPr/>
          <p:nvPr/>
        </p:nvSpPr>
        <p:spPr>
          <a:xfrm>
            <a:off x="777240" y="3703320"/>
            <a:ext cx="274320" cy="320040"/>
          </a:xfrm>
          <a:prstGeom prst="rect">
            <a:avLst/>
          </a:prstGeom>
          <a:solidFill>
            <a:srgbClr val="D9D9D9"/>
          </a:solidFill>
          <a:ln w="12700">
            <a:solidFill>
              <a:srgbClr val="FFFFFF"/>
            </a:solidFill>
            <a:prstDash val="solid"/>
          </a:ln>
        </p:spPr>
      </p:sp>
      <p:sp>
        <p:nvSpPr>
          <p:cNvPr id="8" name="Shape 5"/>
          <p:cNvSpPr/>
          <p:nvPr/>
        </p:nvSpPr>
        <p:spPr>
          <a:xfrm>
            <a:off x="1161288" y="3520440"/>
            <a:ext cx="274320" cy="502920"/>
          </a:xfrm>
          <a:prstGeom prst="rect">
            <a:avLst/>
          </a:prstGeom>
          <a:solidFill>
            <a:srgbClr val="D9D9D9"/>
          </a:solidFill>
          <a:ln w="12700">
            <a:solidFill>
              <a:srgbClr val="FFFFFF"/>
            </a:solidFill>
            <a:prstDash val="solid"/>
          </a:ln>
        </p:spPr>
      </p:sp>
      <p:sp>
        <p:nvSpPr>
          <p:cNvPr id="9" name="Shape 6"/>
          <p:cNvSpPr/>
          <p:nvPr/>
        </p:nvSpPr>
        <p:spPr>
          <a:xfrm>
            <a:off x="1545336" y="3337560"/>
            <a:ext cx="274320" cy="685800"/>
          </a:xfrm>
          <a:prstGeom prst="rect">
            <a:avLst/>
          </a:prstGeom>
          <a:solidFill>
            <a:srgbClr val="E3001B"/>
          </a:solidFill>
          <a:ln w="12700">
            <a:solidFill>
              <a:srgbClr val="FFFFFF"/>
            </a:solidFill>
            <a:prstDash val="solid"/>
          </a:ln>
        </p:spPr>
      </p:sp>
      <p:sp>
        <p:nvSpPr>
          <p:cNvPr id="10" name="Shape 7"/>
          <p:cNvSpPr/>
          <p:nvPr/>
        </p:nvSpPr>
        <p:spPr>
          <a:xfrm>
            <a:off x="2798064" y="1691640"/>
            <a:ext cx="2057400" cy="25146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2907792" y="1783080"/>
            <a:ext cx="365760" cy="274320"/>
          </a:xfrm>
          <a:prstGeom prst="rect">
            <a:avLst/>
          </a:prstGeom>
          <a:noFill/>
          <a:ln/>
        </p:spPr>
        <p:txBody>
          <a:bodyPr wrap="square" lIns="635" tIns="635" rIns="635" bIns="635" rtlCol="0" anchor="ctr"/>
          <a:lstStyle/>
          <a:p>
            <a:pPr indent="0" marL="0">
              <a:buNone/>
            </a:pPr>
            <a:r>
              <a:rPr lang="en-US" sz="1100" b="1" dirty="0">
                <a:solidFill>
                  <a:srgbClr val="E3001B"/>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2907792" y="2057400"/>
            <a:ext cx="1828800" cy="1097280"/>
          </a:xfrm>
          <a:prstGeom prst="rect">
            <a:avLst/>
          </a:prstGeom>
          <a:noFill/>
          <a:ln/>
        </p:spPr>
        <p:txBody>
          <a:bodyPr wrap="square" lIns="635" tIns="635" rIns="635" bIns="635"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A 1-tap reminder lifted on-time payment 3.5 pts in a 20k-user pilot</a:t>
            </a:r>
            <a:endParaRPr lang="en-US" sz="1300" dirty="0"/>
          </a:p>
        </p:txBody>
      </p:sp>
      <p:sp>
        <p:nvSpPr>
          <p:cNvPr id="13" name="Shape 10"/>
          <p:cNvSpPr/>
          <p:nvPr/>
        </p:nvSpPr>
        <p:spPr>
          <a:xfrm>
            <a:off x="3026664" y="3657600"/>
            <a:ext cx="274320" cy="365760"/>
          </a:xfrm>
          <a:prstGeom prst="rect">
            <a:avLst/>
          </a:prstGeom>
          <a:solidFill>
            <a:srgbClr val="D9D9D9"/>
          </a:solidFill>
          <a:ln w="12700">
            <a:solidFill>
              <a:srgbClr val="FFFFFF"/>
            </a:solidFill>
            <a:prstDash val="solid"/>
          </a:ln>
        </p:spPr>
      </p:sp>
      <p:sp>
        <p:nvSpPr>
          <p:cNvPr id="14" name="Shape 11"/>
          <p:cNvSpPr/>
          <p:nvPr/>
        </p:nvSpPr>
        <p:spPr>
          <a:xfrm>
            <a:off x="3410712" y="3291840"/>
            <a:ext cx="274320" cy="731520"/>
          </a:xfrm>
          <a:prstGeom prst="rect">
            <a:avLst/>
          </a:prstGeom>
          <a:solidFill>
            <a:srgbClr val="E3001B"/>
          </a:solidFill>
          <a:ln w="12700">
            <a:solidFill>
              <a:srgbClr val="FFFFFF"/>
            </a:solidFill>
            <a:prstDash val="solid"/>
          </a:ln>
        </p:spPr>
      </p:sp>
      <p:sp>
        <p:nvSpPr>
          <p:cNvPr id="15" name="Shape 12"/>
          <p:cNvSpPr/>
          <p:nvPr/>
        </p:nvSpPr>
        <p:spPr>
          <a:xfrm>
            <a:off x="5047488" y="1691640"/>
            <a:ext cx="2057400" cy="25146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16" name="Text 13"/>
          <p:cNvSpPr txBox="1"/>
          <p:nvPr/>
        </p:nvSpPr>
        <p:spPr>
          <a:xfrm>
            <a:off x="5157216" y="1783080"/>
            <a:ext cx="365760" cy="274320"/>
          </a:xfrm>
          <a:prstGeom prst="rect">
            <a:avLst/>
          </a:prstGeom>
          <a:noFill/>
          <a:ln/>
        </p:spPr>
        <p:txBody>
          <a:bodyPr wrap="square" lIns="635" tIns="635" rIns="635" bIns="635" rtlCol="0" anchor="ctr"/>
          <a:lstStyle/>
          <a:p>
            <a:pPr indent="0" marL="0">
              <a:buNone/>
            </a:pPr>
            <a:r>
              <a:rPr lang="en-US" sz="1100" b="1" dirty="0">
                <a:solidFill>
                  <a:srgbClr val="E3001B"/>
                </a:solidFill>
                <a:latin typeface="Calibri" pitchFamily="34" charset="0"/>
                <a:ea typeface="Calibri" pitchFamily="34" charset="-122"/>
                <a:cs typeface="Calibri" pitchFamily="34" charset="-120"/>
              </a:rPr>
              <a:t>3</a:t>
            </a:r>
            <a:endParaRPr lang="en-US" sz="1100" dirty="0"/>
          </a:p>
        </p:txBody>
      </p:sp>
      <p:sp>
        <p:nvSpPr>
          <p:cNvPr id="17" name="Text 14"/>
          <p:cNvSpPr txBox="1"/>
          <p:nvPr/>
        </p:nvSpPr>
        <p:spPr>
          <a:xfrm>
            <a:off x="5157216" y="2057400"/>
            <a:ext cx="1828800" cy="1097280"/>
          </a:xfrm>
          <a:prstGeom prst="rect">
            <a:avLst/>
          </a:prstGeom>
          <a:noFill/>
          <a:ln/>
        </p:spPr>
        <p:txBody>
          <a:bodyPr wrap="square" lIns="635" tIns="635" rIns="635" bIns="635"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Full rollout pays back in under 6 months</a:t>
            </a:r>
            <a:endParaRPr lang="en-US" sz="1300" dirty="0"/>
          </a:p>
        </p:txBody>
      </p:sp>
      <p:sp>
        <p:nvSpPr>
          <p:cNvPr id="18" name="Shape 15"/>
          <p:cNvSpPr/>
          <p:nvPr/>
        </p:nvSpPr>
        <p:spPr>
          <a:xfrm>
            <a:off x="5276088" y="3749040"/>
            <a:ext cx="274320" cy="274320"/>
          </a:xfrm>
          <a:prstGeom prst="rect">
            <a:avLst/>
          </a:prstGeom>
          <a:solidFill>
            <a:srgbClr val="D9D9D9"/>
          </a:solidFill>
          <a:ln w="12700">
            <a:solidFill>
              <a:srgbClr val="FFFFFF"/>
            </a:solidFill>
            <a:prstDash val="solid"/>
          </a:ln>
        </p:spPr>
      </p:sp>
      <p:sp>
        <p:nvSpPr>
          <p:cNvPr id="19" name="Shape 16"/>
          <p:cNvSpPr/>
          <p:nvPr/>
        </p:nvSpPr>
        <p:spPr>
          <a:xfrm>
            <a:off x="5660136" y="3611880"/>
            <a:ext cx="274320" cy="411480"/>
          </a:xfrm>
          <a:prstGeom prst="rect">
            <a:avLst/>
          </a:prstGeom>
          <a:solidFill>
            <a:srgbClr val="D9D9D9"/>
          </a:solidFill>
          <a:ln w="12700">
            <a:solidFill>
              <a:srgbClr val="FFFFFF"/>
            </a:solidFill>
            <a:prstDash val="solid"/>
          </a:ln>
        </p:spPr>
      </p:sp>
      <p:sp>
        <p:nvSpPr>
          <p:cNvPr id="20" name="Shape 17"/>
          <p:cNvSpPr/>
          <p:nvPr/>
        </p:nvSpPr>
        <p:spPr>
          <a:xfrm>
            <a:off x="6044184" y="3474720"/>
            <a:ext cx="274320" cy="548640"/>
          </a:xfrm>
          <a:prstGeom prst="rect">
            <a:avLst/>
          </a:prstGeom>
          <a:solidFill>
            <a:srgbClr val="D9D9D9"/>
          </a:solidFill>
          <a:ln w="12700">
            <a:solidFill>
              <a:srgbClr val="FFFFFF"/>
            </a:solidFill>
            <a:prstDash val="solid"/>
          </a:ln>
        </p:spPr>
      </p:sp>
      <p:sp>
        <p:nvSpPr>
          <p:cNvPr id="21" name="Shape 18"/>
          <p:cNvSpPr/>
          <p:nvPr/>
        </p:nvSpPr>
        <p:spPr>
          <a:xfrm>
            <a:off x="6428232" y="3291840"/>
            <a:ext cx="274320" cy="731520"/>
          </a:xfrm>
          <a:prstGeom prst="rect">
            <a:avLst/>
          </a:prstGeom>
          <a:solidFill>
            <a:srgbClr val="E3001B"/>
          </a:solidFill>
          <a:ln w="12700">
            <a:solidFill>
              <a:srgbClr val="FFFFFF"/>
            </a:solidFill>
            <a:prstDash val="solid"/>
          </a:ln>
        </p:spPr>
      </p:sp>
      <p:sp>
        <p:nvSpPr>
          <p:cNvPr id="22" name="Shape 19"/>
          <p:cNvSpPr/>
          <p:nvPr/>
        </p:nvSpPr>
        <p:spPr>
          <a:xfrm>
            <a:off x="7296912" y="1691640"/>
            <a:ext cx="2057400" cy="25146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7406640" y="1783080"/>
            <a:ext cx="365760" cy="274320"/>
          </a:xfrm>
          <a:prstGeom prst="rect">
            <a:avLst/>
          </a:prstGeom>
          <a:noFill/>
          <a:ln/>
        </p:spPr>
        <p:txBody>
          <a:bodyPr wrap="square" lIns="635" tIns="635" rIns="635" bIns="635" rtlCol="0" anchor="ctr"/>
          <a:lstStyle/>
          <a:p>
            <a:pPr indent="0" marL="0">
              <a:buNone/>
            </a:pPr>
            <a:r>
              <a:rPr lang="en-US" sz="1100" b="1" dirty="0">
                <a:solidFill>
                  <a:srgbClr val="E3001B"/>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7406640" y="2057400"/>
            <a:ext cx="1828800" cy="1097280"/>
          </a:xfrm>
          <a:prstGeom prst="rect">
            <a:avLst/>
          </a:prstGeom>
          <a:noFill/>
          <a:ln/>
        </p:spPr>
        <p:txBody>
          <a:bodyPr wrap="square" lIns="635" tIns="635" rIns="635" bIns="635"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Notification fatigue is the main risk; we cap it at 2 messages</a:t>
            </a:r>
            <a:endParaRPr lang="en-US" sz="1300" dirty="0"/>
          </a:p>
        </p:txBody>
      </p:sp>
      <p:sp>
        <p:nvSpPr>
          <p:cNvPr id="25" name="Shape 22"/>
          <p:cNvSpPr/>
          <p:nvPr/>
        </p:nvSpPr>
        <p:spPr>
          <a:xfrm>
            <a:off x="7525512" y="3566160"/>
            <a:ext cx="274320" cy="457200"/>
          </a:xfrm>
          <a:prstGeom prst="rect">
            <a:avLst/>
          </a:prstGeom>
          <a:solidFill>
            <a:srgbClr val="D9D9D9"/>
          </a:solidFill>
          <a:ln w="12700">
            <a:solidFill>
              <a:srgbClr val="FFFFFF"/>
            </a:solidFill>
            <a:prstDash val="solid"/>
          </a:ln>
        </p:spPr>
      </p:sp>
      <p:sp>
        <p:nvSpPr>
          <p:cNvPr id="26" name="Shape 23"/>
          <p:cNvSpPr/>
          <p:nvPr/>
        </p:nvSpPr>
        <p:spPr>
          <a:xfrm>
            <a:off x="7909560" y="3749040"/>
            <a:ext cx="274320" cy="274320"/>
          </a:xfrm>
          <a:prstGeom prst="rect">
            <a:avLst/>
          </a:prstGeom>
          <a:solidFill>
            <a:srgbClr val="E3001B"/>
          </a:solidFill>
          <a:ln w="12700">
            <a:solidFill>
              <a:srgbClr val="FFFFFF"/>
            </a:solidFill>
            <a:prstDash val="solid"/>
          </a:ln>
        </p:spPr>
      </p:sp>
      <p:sp>
        <p:nvSpPr>
          <p:cNvPr id="27" name="Shape 24"/>
          <p:cNvSpPr/>
          <p:nvPr/>
        </p:nvSpPr>
        <p:spPr>
          <a:xfrm>
            <a:off x="9546336" y="1691640"/>
            <a:ext cx="2057400" cy="2514600"/>
          </a:xfrm>
          <a:prstGeom prst="roundRect">
            <a:avLst>
              <a:gd name="adj" fmla="val 4444"/>
            </a:avLst>
          </a:prstGeom>
          <a:solidFill>
            <a:srgbClr val="FFFFFF"/>
          </a:solidFill>
          <a:ln w="12700">
            <a:solidFill>
              <a:srgbClr val="BDBDBD"/>
            </a:solidFill>
            <a:prstDash val="solid"/>
          </a:ln>
          <a:effectLst>
            <a:outerShdw sx="100000" sy="100000" kx="0" ky="0" algn="bl" rotWithShape="0" blurRad="76200" dist="25400" dir="5400000">
              <a:srgbClr val="000000">
                <a:alpha val="15000"/>
              </a:srgbClr>
            </a:outerShdw>
          </a:effectLst>
        </p:spPr>
      </p:sp>
      <p:sp>
        <p:nvSpPr>
          <p:cNvPr id="28" name="Text 25"/>
          <p:cNvSpPr txBox="1"/>
          <p:nvPr/>
        </p:nvSpPr>
        <p:spPr>
          <a:xfrm>
            <a:off x="9656064" y="1783080"/>
            <a:ext cx="365760" cy="274320"/>
          </a:xfrm>
          <a:prstGeom prst="rect">
            <a:avLst/>
          </a:prstGeom>
          <a:noFill/>
          <a:ln/>
        </p:spPr>
        <p:txBody>
          <a:bodyPr wrap="square" lIns="635" tIns="635" rIns="635" bIns="635" rtlCol="0" anchor="ctr"/>
          <a:lstStyle/>
          <a:p>
            <a:pPr indent="0" marL="0">
              <a:buNone/>
            </a:pPr>
            <a:r>
              <a:rPr lang="en-US" sz="1100" b="1" dirty="0">
                <a:solidFill>
                  <a:srgbClr val="E3001B"/>
                </a:solidFill>
                <a:latin typeface="Calibri" pitchFamily="34" charset="0"/>
                <a:ea typeface="Calibri" pitchFamily="34" charset="-122"/>
                <a:cs typeface="Calibri" pitchFamily="34" charset="-120"/>
              </a:rPr>
              <a:t>5</a:t>
            </a:r>
            <a:endParaRPr lang="en-US" sz="1100" dirty="0"/>
          </a:p>
        </p:txBody>
      </p:sp>
      <p:sp>
        <p:nvSpPr>
          <p:cNvPr id="29" name="Text 26"/>
          <p:cNvSpPr txBox="1"/>
          <p:nvPr/>
        </p:nvSpPr>
        <p:spPr>
          <a:xfrm>
            <a:off x="9656064" y="2057400"/>
            <a:ext cx="1828800" cy="1097280"/>
          </a:xfrm>
          <a:prstGeom prst="rect">
            <a:avLst/>
          </a:prstGeom>
          <a:noFill/>
          <a:ln/>
        </p:spPr>
        <p:txBody>
          <a:bodyPr wrap="square" lIns="635" tIns="635" rIns="635" bIns="635"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We ask for IDR 1.2 bn and a July launch</a:t>
            </a:r>
            <a:endParaRPr lang="en-US" sz="1300" dirty="0"/>
          </a:p>
        </p:txBody>
      </p:sp>
      <p:sp>
        <p:nvSpPr>
          <p:cNvPr id="30" name="Shape 27"/>
          <p:cNvSpPr/>
          <p:nvPr/>
        </p:nvSpPr>
        <p:spPr>
          <a:xfrm>
            <a:off x="9774936" y="3383280"/>
            <a:ext cx="274320" cy="640080"/>
          </a:xfrm>
          <a:prstGeom prst="rect">
            <a:avLst/>
          </a:prstGeom>
          <a:solidFill>
            <a:srgbClr val="E3001B"/>
          </a:solidFill>
          <a:ln w="12700">
            <a:solidFill>
              <a:srgbClr val="FFFFFF"/>
            </a:solidFill>
            <a:prstDash val="solid"/>
          </a:ln>
        </p:spPr>
      </p:sp>
      <p:sp>
        <p:nvSpPr>
          <p:cNvPr id="31" name="Shape 28"/>
          <p:cNvSpPr/>
          <p:nvPr/>
        </p:nvSpPr>
        <p:spPr>
          <a:xfrm>
            <a:off x="548640" y="4526280"/>
            <a:ext cx="10972800" cy="0"/>
          </a:xfrm>
          <a:prstGeom prst="line">
            <a:avLst/>
          </a:prstGeom>
          <a:noFill/>
          <a:ln w="31750">
            <a:solidFill>
              <a:srgbClr val="E3001B"/>
            </a:solidFill>
            <a:prstDash val="solid"/>
            <a:tailEnd type="triangle"/>
          </a:ln>
        </p:spPr>
      </p:sp>
      <p:sp>
        <p:nvSpPr>
          <p:cNvPr id="32" name="Text 29"/>
          <p:cNvSpPr txBox="1"/>
          <p:nvPr/>
        </p:nvSpPr>
        <p:spPr>
          <a:xfrm>
            <a:off x="548640" y="4663440"/>
            <a:ext cx="10972800" cy="411480"/>
          </a:xfrm>
          <a:prstGeom prst="rect">
            <a:avLst/>
          </a:prstGeom>
          <a:noFill/>
          <a:ln/>
        </p:spPr>
        <p:txBody>
          <a:bodyPr wrap="square" lIns="635" tIns="635" rIns="635" bIns="635" rtlCol="0" anchor="ctr"/>
          <a:lstStyle/>
          <a:p>
            <a:pPr algn="ctr" indent="0" marL="0">
              <a:buNone/>
            </a:pPr>
            <a:r>
              <a:rPr lang="en-US" sz="1800" b="1" dirty="0">
                <a:solidFill>
                  <a:srgbClr val="E3001B"/>
                </a:solidFill>
                <a:latin typeface="Calibri" pitchFamily="34" charset="0"/>
                <a:ea typeface="Calibri" pitchFamily="34" charset="-122"/>
                <a:cs typeface="Calibri" pitchFamily="34" charset="-120"/>
              </a:rPr>
              <a:t>Read across the titles = your executive summary</a:t>
            </a:r>
            <a:endParaRPr lang="en-US" sz="1800" dirty="0"/>
          </a:p>
        </p:txBody>
      </p:sp>
      <p:sp>
        <p:nvSpPr>
          <p:cNvPr id="33" name="Text 30"/>
          <p:cNvSpPr txBox="1"/>
          <p:nvPr/>
        </p:nvSpPr>
        <p:spPr>
          <a:xfrm>
            <a:off x="548640" y="5120640"/>
            <a:ext cx="10972800" cy="365760"/>
          </a:xfrm>
          <a:prstGeom prst="rect">
            <a:avLst/>
          </a:prstGeom>
          <a:noFill/>
          <a:ln/>
        </p:spPr>
        <p:txBody>
          <a:bodyPr wrap="square" lIns="635" tIns="635" rIns="635" bIns="635" rtlCol="0" anchor="ctr"/>
          <a:lstStyle/>
          <a:p>
            <a:pPr algn="ctr" indent="0" marL="0">
              <a:buNone/>
            </a:pPr>
            <a:r>
              <a:rPr lang="en-US" sz="1400" dirty="0">
                <a:solidFill>
                  <a:srgbClr val="6B6B6B"/>
                </a:solidFill>
                <a:latin typeface="Calibri" pitchFamily="34" charset="0"/>
                <a:ea typeface="Calibri" pitchFamily="34" charset="-122"/>
                <a:cs typeface="Calibri" pitchFamily="34" charset="-120"/>
              </a:rPr>
              <a:t>Case B: 1-tap payment reminder proposal</a:t>
            </a:r>
            <a:endParaRPr lang="en-US" sz="1400" dirty="0"/>
          </a:p>
        </p:txBody>
      </p:sp>
      <p:sp>
        <p:nvSpPr>
          <p:cNvPr id="34" name="Text 31"/>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Use one proven storyline for each of the four presentations you give most</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560320"/>
                <a:gridCol w="2926080"/>
                <a:gridCol w="3017520"/>
                <a:gridCol w="256032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Presentation</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001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Open with (the answer)</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001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Middle (2–4 slides)</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001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Close with (the ask)</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001B"/>
                    </a:solidFill>
                  </a:tcPr>
                </a:tc>
              </a:tr>
              <a:tr h="91440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Monthly performance review</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The one number that changed most, and why</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Top 3 drivers, one chart each</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Decision or support needed</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91440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Project proposal</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Recommendation, cost and payoff</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Problem → solution → evidence → risks</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Approve budget and timeline</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91440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Regional sales update</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On or off target, and the main reason</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Wins, gaps and actions by area</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Specific help needed from HQ</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914400">
                <a:tc>
                  <a:txBody>
                    <a:bodyPr/>
                    <a:lstStyle/>
                    <a:p>
                      <a:pPr indent="0" marL="0">
                        <a:buNone/>
                      </a:pPr>
                      <a:r>
                        <a:rPr lang="en-US" sz="1500" b="1" dirty="0">
                          <a:solidFill>
                            <a:srgbClr val="1A1A1A"/>
                          </a:solidFill>
                          <a:latin typeface="Calibri" pitchFamily="34" charset="0"/>
                          <a:ea typeface="Calibri" pitchFamily="34" charset="-122"/>
                          <a:cs typeface="Calibri" pitchFamily="34" charset="-120"/>
                        </a:rPr>
                        <a:t>Risk and collections report</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Inside risk appetite? Yes / no, and trend</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Where it's worsening, why, what we're doing</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1A1A1A"/>
                          </a:solidFill>
                          <a:latin typeface="Calibri" pitchFamily="34" charset="0"/>
                          <a:ea typeface="Calibri" pitchFamily="34" charset="-122"/>
                          <a:cs typeface="Calibri" pitchFamily="34" charset="-120"/>
                        </a:rPr>
                        <a:t>Policy change to approve</a:t>
                      </a:r>
                      <a:endParaRPr lang="en-US" sz="1500" dirty="0">
                        <a:latin typeface="Calibri" charset="0"/>
                        <a:ea typeface="Calibri" charset="0"/>
                        <a:cs typeface="Calibri" charset="0"/>
                      </a:endParaRPr>
                    </a:p>
                  </a:txBody>
                  <a:tcPr marL="91440" marR="91440" marT="91440" marB="9144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9E0012"/>
                </a:solidFill>
                <a:latin typeface="Arial" pitchFamily="34" charset="0"/>
                <a:ea typeface="Arial" pitchFamily="34" charset="-122"/>
                <a:cs typeface="Arial" pitchFamily="34" charset="-120"/>
              </a:rPr>
              <a:t>Exercise 2 · Build a 5-slide storyline and pass the headline test</a:t>
            </a:r>
            <a:endParaRPr lang="en-US" sz="2600" dirty="0"/>
          </a:p>
        </p:txBody>
      </p:sp>
      <p:sp>
        <p:nvSpPr>
          <p:cNvPr id="4" name="Text 1"/>
          <p:cNvSpPr txBox="1"/>
          <p:nvPr/>
        </p:nvSpPr>
        <p:spPr>
          <a:xfrm>
            <a:off x="548640" y="16002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55448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Choose one topic per group (1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Use the clearest answer sentence from Exercise 1</a:t>
            </a:r>
            <a:endParaRPr lang="en-US" sz="1500" dirty="0"/>
          </a:p>
        </p:txBody>
      </p:sp>
      <p:sp>
        <p:nvSpPr>
          <p:cNvPr id="6" name="Text 3"/>
          <p:cNvSpPr txBox="1"/>
          <p:nvPr/>
        </p:nvSpPr>
        <p:spPr>
          <a:xfrm>
            <a:off x="548640" y="26060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56032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Write 5 action titles on 5 sticky notes (4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Full sentences. Slide 1 = the answer. Slide 5 = the ask</a:t>
            </a:r>
            <a:endParaRPr lang="en-US" sz="1500" dirty="0"/>
          </a:p>
        </p:txBody>
      </p:sp>
      <p:sp>
        <p:nvSpPr>
          <p:cNvPr id="8" name="Text 5"/>
          <p:cNvSpPr txBox="1"/>
          <p:nvPr/>
        </p:nvSpPr>
        <p:spPr>
          <a:xfrm>
            <a:off x="548640" y="361188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356616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Swap with the next table (2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They read the titles only — no explaining</a:t>
            </a:r>
            <a:endParaRPr lang="en-US" sz="1500" dirty="0"/>
          </a:p>
        </p:txBody>
      </p:sp>
      <p:sp>
        <p:nvSpPr>
          <p:cNvPr id="10" name="Text 7"/>
          <p:cNvSpPr txBox="1"/>
          <p:nvPr/>
        </p:nvSpPr>
        <p:spPr>
          <a:xfrm>
            <a:off x="548640" y="461772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1" name="Text 8"/>
          <p:cNvSpPr txBox="1"/>
          <p:nvPr/>
        </p:nvSpPr>
        <p:spPr>
          <a:xfrm>
            <a:off x="1143000" y="457200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Mark each title ✓ clear · ? unclear · ✗ topic only (1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Fix every ✗ before the break</a:t>
            </a:r>
            <a:endParaRPr lang="en-US" sz="1500" dirty="0"/>
          </a:p>
        </p:txBody>
      </p:sp>
      <p:sp>
        <p:nvSpPr>
          <p:cNvPr id="12" name="Shape 9"/>
          <p:cNvSpPr/>
          <p:nvPr/>
        </p:nvSpPr>
        <p:spPr>
          <a:xfrm rot="-180000">
            <a:off x="6949440" y="1737360"/>
            <a:ext cx="1417320" cy="1417320"/>
          </a:xfrm>
          <a:prstGeom prst="rect">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13" name="Text 10"/>
          <p:cNvSpPr txBox="1"/>
          <p:nvPr/>
        </p:nvSpPr>
        <p:spPr>
          <a:xfrm>
            <a:off x="7040880" y="2148840"/>
            <a:ext cx="1234440" cy="548640"/>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Answer</a:t>
            </a:r>
            <a:endParaRPr lang="en-US" sz="1500" dirty="0"/>
          </a:p>
        </p:txBody>
      </p:sp>
      <p:sp>
        <p:nvSpPr>
          <p:cNvPr id="14" name="Shape 11"/>
          <p:cNvSpPr/>
          <p:nvPr/>
        </p:nvSpPr>
        <p:spPr>
          <a:xfrm rot="120000">
            <a:off x="8549640" y="1737360"/>
            <a:ext cx="1417320" cy="1417320"/>
          </a:xfrm>
          <a:prstGeom prst="rect">
            <a:avLst/>
          </a:prstGeom>
          <a:solidFill>
            <a:srgbClr val="F28C96"/>
          </a:solidFill>
          <a:ln w="12700">
            <a:solidFill>
              <a:srgbClr val="F28C96"/>
            </a:solidFill>
            <a:prstDash val="solid"/>
          </a:ln>
          <a:effectLst>
            <a:outerShdw sx="100000" sy="100000" kx="0" ky="0" algn="bl" rotWithShape="0" blurRad="76200" dist="25400" dir="5400000">
              <a:srgbClr val="000000">
                <a:alpha val="15000"/>
              </a:srgbClr>
            </a:outerShdw>
          </a:effectLst>
        </p:spPr>
      </p:sp>
      <p:sp>
        <p:nvSpPr>
          <p:cNvPr id="15" name="Text 12"/>
          <p:cNvSpPr txBox="1"/>
          <p:nvPr/>
        </p:nvSpPr>
        <p:spPr>
          <a:xfrm>
            <a:off x="8641080" y="2148840"/>
            <a:ext cx="1234440" cy="548640"/>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Reason 1</a:t>
            </a:r>
            <a:endParaRPr lang="en-US" sz="1500" dirty="0"/>
          </a:p>
        </p:txBody>
      </p:sp>
      <p:sp>
        <p:nvSpPr>
          <p:cNvPr id="16" name="Shape 13"/>
          <p:cNvSpPr/>
          <p:nvPr/>
        </p:nvSpPr>
        <p:spPr>
          <a:xfrm rot="-120000">
            <a:off x="10149840" y="1737360"/>
            <a:ext cx="1417320" cy="14173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10241280" y="2148840"/>
            <a:ext cx="1234440" cy="548640"/>
          </a:xfrm>
          <a:prstGeom prst="rect">
            <a:avLst/>
          </a:prstGeom>
          <a:noFill/>
          <a:ln/>
        </p:spPr>
        <p:txBody>
          <a:bodyPr wrap="square" lIns="635" tIns="635" rIns="635" bIns="635" rtlCol="0" anchor="ctr"/>
          <a:lstStyle/>
          <a:p>
            <a:pPr algn="ctr" indent="0" marL="0">
              <a:buNone/>
            </a:pPr>
            <a:r>
              <a:rPr lang="en-US" sz="1500" b="1" dirty="0">
                <a:solidFill>
                  <a:srgbClr val="E3001B"/>
                </a:solidFill>
                <a:latin typeface="Calibri" pitchFamily="34" charset="0"/>
                <a:ea typeface="Calibri" pitchFamily="34" charset="-122"/>
                <a:cs typeface="Calibri" pitchFamily="34" charset="-120"/>
              </a:rPr>
              <a:t>Reason 2</a:t>
            </a:r>
            <a:endParaRPr lang="en-US" sz="1500" dirty="0"/>
          </a:p>
        </p:txBody>
      </p:sp>
      <p:sp>
        <p:nvSpPr>
          <p:cNvPr id="18" name="Shape 15"/>
          <p:cNvSpPr/>
          <p:nvPr/>
        </p:nvSpPr>
        <p:spPr>
          <a:xfrm rot="180000">
            <a:off x="6949440" y="3474720"/>
            <a:ext cx="1417320" cy="1417320"/>
          </a:xfrm>
          <a:prstGeom prst="rect">
            <a:avLst/>
          </a:prstGeom>
          <a:solidFill>
            <a:srgbClr val="F28C96"/>
          </a:solidFill>
          <a:ln w="12700">
            <a:solidFill>
              <a:srgbClr val="F28C96"/>
            </a:solidFill>
            <a:prstDash val="solid"/>
          </a:ln>
          <a:effectLst>
            <a:outerShdw sx="100000" sy="100000" kx="0" ky="0" algn="bl" rotWithShape="0" blurRad="76200" dist="25400" dir="5400000">
              <a:srgbClr val="000000">
                <a:alpha val="15000"/>
              </a:srgbClr>
            </a:outerShdw>
          </a:effectLst>
        </p:spPr>
      </p:sp>
      <p:sp>
        <p:nvSpPr>
          <p:cNvPr id="19" name="Text 16"/>
          <p:cNvSpPr txBox="1"/>
          <p:nvPr/>
        </p:nvSpPr>
        <p:spPr>
          <a:xfrm>
            <a:off x="7040880" y="3886200"/>
            <a:ext cx="1234440" cy="548640"/>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Reason 3</a:t>
            </a:r>
            <a:endParaRPr lang="en-US" sz="1500" dirty="0"/>
          </a:p>
        </p:txBody>
      </p:sp>
      <p:sp>
        <p:nvSpPr>
          <p:cNvPr id="20" name="Shape 17"/>
          <p:cNvSpPr/>
          <p:nvPr/>
        </p:nvSpPr>
        <p:spPr>
          <a:xfrm rot="-60000">
            <a:off x="8549640" y="3474720"/>
            <a:ext cx="1417320" cy="1417320"/>
          </a:xfrm>
          <a:prstGeom prst="rect">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21" name="Text 18"/>
          <p:cNvSpPr txBox="1"/>
          <p:nvPr/>
        </p:nvSpPr>
        <p:spPr>
          <a:xfrm>
            <a:off x="8641080" y="3886200"/>
            <a:ext cx="1234440" cy="548640"/>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ask</a:t>
            </a:r>
            <a:endParaRPr lang="en-US" sz="1500" dirty="0"/>
          </a:p>
        </p:txBody>
      </p:sp>
      <p:sp>
        <p:nvSpPr>
          <p:cNvPr id="22" name="Text 19"/>
          <p:cNvSpPr txBox="1"/>
          <p:nvPr/>
        </p:nvSpPr>
        <p:spPr>
          <a:xfrm>
            <a:off x="6949440" y="5349240"/>
            <a:ext cx="4572000" cy="41148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Materials: </a:t>
            </a:r>
            <a:pPr indent="0" marL="0">
              <a:buNone/>
            </a:pPr>
            <a:r>
              <a:rPr lang="en-US" sz="1500" dirty="0">
                <a:solidFill>
                  <a:srgbClr val="1A1A1A"/>
                </a:solidFill>
                <a:latin typeface="Calibri" pitchFamily="34" charset="0"/>
                <a:ea typeface="Calibri" pitchFamily="34" charset="-122"/>
                <a:cs typeface="Calibri" pitchFamily="34" charset="-120"/>
              </a:rPr>
              <a:t>sticky notes, A3 sheet, markers</a:t>
            </a:r>
            <a:endParaRPr lang="en-US" sz="1500" dirty="0"/>
          </a:p>
        </p:txBody>
      </p:sp>
      <p:sp>
        <p:nvSpPr>
          <p:cNvPr id="23" name="Text 20"/>
          <p:cNvSpPr txBox="1"/>
          <p:nvPr/>
        </p:nvSpPr>
        <p:spPr>
          <a:xfrm>
            <a:off x="548640" y="5623560"/>
            <a:ext cx="237744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 min  ·  groups of 3–4</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E0012"/>
          </a:solidFill>
          <a:ln w="12700">
            <a:solidFill>
              <a:srgbClr val="9E0012"/>
            </a:solidFill>
            <a:prstDash val="solid"/>
          </a:ln>
        </p:spPr>
      </p:sp>
      <p:sp>
        <p:nvSpPr>
          <p:cNvPr id="3" name="Shape 1"/>
          <p:cNvSpPr/>
          <p:nvPr/>
        </p:nvSpPr>
        <p:spPr>
          <a:xfrm>
            <a:off x="3352648" y="685800"/>
            <a:ext cx="5486400" cy="5486400"/>
          </a:xfrm>
          <a:prstGeom prst="ellipse">
            <a:avLst/>
          </a:prstGeom>
          <a:solidFill>
            <a:srgbClr val="E3001B">
              <a:alpha val="60000"/>
            </a:srgbClr>
          </a:solidFill>
          <a:ln w="12700">
            <a:solidFill>
              <a:srgbClr val="E3001B">
                <a:alpha val="0"/>
              </a:srgbClr>
            </a:solidFill>
            <a:prstDash val="solid"/>
          </a:ln>
        </p:spPr>
      </p:sp>
      <p:pic>
        <p:nvPicPr>
          <p:cNvPr id="4" name="Image 0" descr="coffee cups and snacks on a meeting table, warm light">    </p:cNvPr>
          <p:cNvPicPr>
            <a:picLocks noChangeAspect="1"/>
          </p:cNvPicPr>
          <p:nvPr/>
        </p:nvPicPr>
        <p:blipFill>
          <a:blip r:embed="rId1">
            <a:alphaModFix amt="90000"/>
          </a:blip>
          <a:stretch>
            <a:fillRect/>
          </a:stretch>
        </p:blipFill>
        <p:spPr>
          <a:xfrm>
            <a:off x="5272888" y="2606040"/>
            <a:ext cx="1645920" cy="1645920"/>
          </a:xfrm>
          <a:prstGeom prst="rect">
            <a:avLst/>
          </a:prstGeom>
        </p:spPr>
      </p:pic>
      <p:sp>
        <p:nvSpPr>
          <p:cNvPr id="5" name="Shape 2"/>
          <p:cNvSpPr/>
          <p:nvPr/>
        </p:nvSpPr>
        <p:spPr>
          <a:xfrm>
            <a:off x="3566160" y="2103120"/>
            <a:ext cx="5029200" cy="2651760"/>
          </a:xfrm>
          <a:prstGeom prst="roundRect">
            <a:avLst>
              <a:gd name="adj" fmla="val 3448"/>
            </a:avLst>
          </a:prstGeom>
          <a:solidFill>
            <a:srgbClr val="E3001B"/>
          </a:solidFill>
          <a:ln w="12700">
            <a:solidFill>
              <a:srgbClr val="E3001B"/>
            </a:solidFill>
            <a:prstDash val="solid"/>
          </a:ln>
          <a:effectLst>
            <a:outerShdw sx="100000" sy="100000" kx="0" ky="0" algn="bl" rotWithShape="0" blurRad="76200" dist="25400" dir="5400000">
              <a:srgbClr val="000000">
                <a:alpha val="15000"/>
              </a:srgbClr>
            </a:outerShdw>
          </a:effectLst>
        </p:spPr>
      </p:sp>
      <p:sp>
        <p:nvSpPr>
          <p:cNvPr id="6" name="Text 3"/>
          <p:cNvSpPr txBox="1"/>
          <p:nvPr/>
        </p:nvSpPr>
        <p:spPr>
          <a:xfrm>
            <a:off x="3749040" y="2331720"/>
            <a:ext cx="4663440" cy="82296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Break  ·  10 minutes</a:t>
            </a:r>
            <a:endParaRPr lang="en-US" sz="3400" dirty="0"/>
          </a:p>
        </p:txBody>
      </p:sp>
      <p:sp>
        <p:nvSpPr>
          <p:cNvPr id="7" name="Text 4"/>
          <p:cNvSpPr txBox="1"/>
          <p:nvPr/>
        </p:nvSpPr>
        <p:spPr>
          <a:xfrm>
            <a:off x="3931920" y="3200400"/>
            <a:ext cx="4297680" cy="1188720"/>
          </a:xfrm>
          <a:prstGeom prst="rect">
            <a:avLst/>
          </a:prstGeom>
          <a:noFill/>
          <a:ln/>
        </p:spPr>
        <p:txBody>
          <a:bodyPr wrap="square" lIns="635" tIns="635" rIns="635" bIns="635"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Bring your 5 sticky notes back to your table — we design the slides under them next</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laptop screen showing a clean business chart in an office">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188720"/>
            <a:ext cx="4572000" cy="1371600"/>
          </a:xfrm>
          <a:prstGeom prst="rect">
            <a:avLst/>
          </a:prstGeom>
          <a:noFill/>
          <a:ln/>
        </p:spPr>
        <p:txBody>
          <a:bodyPr wrap="square" lIns="635" tIns="635" rIns="635" bIns="635" rtlCol="0" anchor="ctr"/>
          <a:lstStyle/>
          <a:p>
            <a:pPr indent="0" marL="0">
              <a:buNone/>
            </a:pPr>
            <a:r>
              <a:rPr lang="en-US" sz="9600" b="1" dirty="0">
                <a:solidFill>
                  <a:srgbClr val="FFFFFF">
                    <a:alpha val="70000"/>
                  </a:srgbClr>
                </a:solidFill>
                <a:latin typeface="Arial" pitchFamily="34" charset="0"/>
                <a:ea typeface="Arial" pitchFamily="34" charset="-122"/>
                <a:cs typeface="Arial" pitchFamily="34" charset="-120"/>
              </a:rPr>
              <a:t>03</a:t>
            </a:r>
            <a:endParaRPr lang="en-US" sz="9600" dirty="0"/>
          </a:p>
        </p:txBody>
      </p:sp>
      <p:sp>
        <p:nvSpPr>
          <p:cNvPr id="6" name="Text 3"/>
          <p:cNvSpPr txBox="1"/>
          <p:nvPr/>
        </p:nvSpPr>
        <p:spPr>
          <a:xfrm>
            <a:off x="6735928" y="2651760"/>
            <a:ext cx="5120640" cy="1737360"/>
          </a:xfrm>
          <a:prstGeom prst="rect">
            <a:avLst/>
          </a:prstGeom>
          <a:noFill/>
          <a:ln/>
        </p:spPr>
        <p:txBody>
          <a:bodyPr wrap="square" lIns="635" tIns="635" rIns="635" bIns="635" rtlCol="0" anchor="t"/>
          <a:lstStyle/>
          <a:p>
            <a:pPr indent="0" marL="0">
              <a:buNone/>
            </a:pPr>
            <a:r>
              <a:rPr lang="en-US" sz="3600" b="1" dirty="0">
                <a:solidFill>
                  <a:srgbClr val="FFFFFF"/>
                </a:solidFill>
                <a:latin typeface="Arial" pitchFamily="34" charset="0"/>
                <a:ea typeface="Arial" pitchFamily="34" charset="-122"/>
                <a:cs typeface="Arial" pitchFamily="34" charset="-120"/>
              </a:rPr>
              <a:t>Design slides that persuade</a:t>
            </a:r>
            <a:endParaRPr lang="en-US" sz="3600" dirty="0"/>
          </a:p>
        </p:txBody>
      </p:sp>
      <p:sp>
        <p:nvSpPr>
          <p:cNvPr id="7" name="Text 4"/>
          <p:cNvSpPr txBox="1"/>
          <p:nvPr/>
        </p:nvSpPr>
        <p:spPr>
          <a:xfrm>
            <a:off x="6735928" y="4480560"/>
            <a:ext cx="5120640" cy="822960"/>
          </a:xfrm>
          <a:prstGeom prst="rect">
            <a:avLst/>
          </a:prstGeom>
          <a:noFill/>
          <a:ln/>
        </p:spPr>
        <p:txBody>
          <a:bodyPr wrap="square" lIns="635" tIns="635" rIns="635" bIns="635" rtlCol="0" anchor="t"/>
          <a:lstStyle/>
          <a:p>
            <a:pPr indent="0" marL="0">
              <a:buNone/>
            </a:pPr>
            <a:r>
              <a:rPr lang="en-US" sz="1800" dirty="0">
                <a:solidFill>
                  <a:srgbClr val="FFD6DA"/>
                </a:solidFill>
                <a:latin typeface="Calibri" pitchFamily="34" charset="0"/>
                <a:ea typeface="Calibri" pitchFamily="34" charset="-122"/>
                <a:cs typeface="Calibri" pitchFamily="34" charset="-120"/>
              </a:rPr>
              <a:t>65–85 min  ·  Action titles  ·  Data storytelling  ·  Makeovers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Action titles tell leaders the takeaway; topic titles make them work it out</a:t>
            </a:r>
            <a:endParaRPr lang="en-US" sz="2600" dirty="0"/>
          </a:p>
        </p:txBody>
      </p:sp>
      <p:sp>
        <p:nvSpPr>
          <p:cNvPr id="4" name="Text 1"/>
          <p:cNvSpPr txBox="1"/>
          <p:nvPr/>
        </p:nvSpPr>
        <p:spPr>
          <a:xfrm>
            <a:off x="1005840" y="1554480"/>
            <a:ext cx="2926080" cy="36576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Topic title</a:t>
            </a:r>
            <a:endParaRPr lang="en-US" sz="1500" dirty="0"/>
          </a:p>
        </p:txBody>
      </p:sp>
      <p:sp>
        <p:nvSpPr>
          <p:cNvPr id="5" name="Text 2"/>
          <p:cNvSpPr txBox="1"/>
          <p:nvPr/>
        </p:nvSpPr>
        <p:spPr>
          <a:xfrm>
            <a:off x="4206240" y="1554480"/>
            <a:ext cx="3657600" cy="36576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Action title</a:t>
            </a:r>
            <a:endParaRPr lang="en-US" sz="1500" dirty="0"/>
          </a:p>
        </p:txBody>
      </p:sp>
      <p:pic>
        <p:nvPicPr>
          <p:cNvPr id="6" name="Image 0" descr="preencoded.png">    </p:cNvPr>
          <p:cNvPicPr>
            <a:picLocks noChangeAspect="1"/>
          </p:cNvPicPr>
          <p:nvPr/>
        </p:nvPicPr>
        <p:blipFill>
          <a:blip r:embed="rId1"/>
          <a:stretch>
            <a:fillRect/>
          </a:stretch>
        </p:blipFill>
        <p:spPr>
          <a:xfrm>
            <a:off x="548640" y="2331720"/>
            <a:ext cx="347472" cy="347472"/>
          </a:xfrm>
          <a:prstGeom prst="rect">
            <a:avLst/>
          </a:prstGeom>
        </p:spPr>
      </p:pic>
      <p:sp>
        <p:nvSpPr>
          <p:cNvPr id="7" name="Text 3"/>
          <p:cNvSpPr txBox="1"/>
          <p:nvPr/>
        </p:nvSpPr>
        <p:spPr>
          <a:xfrm>
            <a:off x="1005840" y="2011680"/>
            <a:ext cx="2926080" cy="1005840"/>
          </a:xfrm>
          <a:prstGeom prst="rect">
            <a:avLst/>
          </a:prstGeom>
          <a:noFill/>
          <a:ln/>
        </p:spPr>
        <p:txBody>
          <a:bodyPr wrap="square" lIns="635" tIns="635" rIns="635" bIns="635" rtlCol="0" anchor="ctr"/>
          <a:lstStyle/>
          <a:p>
            <a:pPr indent="0" marL="0">
              <a:buNone/>
            </a:pPr>
            <a:r>
              <a:rPr lang="en-US" sz="1600" dirty="0">
                <a:solidFill>
                  <a:srgbClr val="6B6B6B"/>
                </a:solidFill>
                <a:latin typeface="Calibri" pitchFamily="34" charset="0"/>
                <a:ea typeface="Calibri" pitchFamily="34" charset="-122"/>
                <a:cs typeface="Calibri" pitchFamily="34" charset="-120"/>
              </a:rPr>
              <a:t>Collections performance Q2</a:t>
            </a:r>
            <a:endParaRPr lang="en-US" sz="1600" dirty="0"/>
          </a:p>
        </p:txBody>
      </p:sp>
      <p:sp>
        <p:nvSpPr>
          <p:cNvPr id="8" name="Shape 4"/>
          <p:cNvSpPr/>
          <p:nvPr/>
        </p:nvSpPr>
        <p:spPr>
          <a:xfrm>
            <a:off x="4114800" y="2011680"/>
            <a:ext cx="4023360" cy="1005840"/>
          </a:xfrm>
          <a:prstGeom prst="roundRect">
            <a:avLst>
              <a:gd name="adj" fmla="val 9091"/>
            </a:avLst>
          </a:prstGeom>
          <a:solidFill>
            <a:srgbClr val="FDECEE"/>
          </a:solidFill>
          <a:ln w="12700">
            <a:solidFill>
              <a:srgbClr val="FDECEE"/>
            </a:solidFill>
            <a:prstDash val="solid"/>
          </a:ln>
        </p:spPr>
      </p:sp>
      <p:sp>
        <p:nvSpPr>
          <p:cNvPr id="9" name="Text 5"/>
          <p:cNvSpPr txBox="1"/>
          <p:nvPr/>
        </p:nvSpPr>
        <p:spPr>
          <a:xfrm>
            <a:off x="4251960" y="2057400"/>
            <a:ext cx="3749040" cy="91440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Field collections recovered 8% more in Q2, driven by the new early-call script</a:t>
            </a:r>
            <a:endParaRPr lang="en-US" sz="1500" dirty="0"/>
          </a:p>
        </p:txBody>
      </p:sp>
      <p:pic>
        <p:nvPicPr>
          <p:cNvPr id="10" name="Image 1" descr="preencoded.png">    </p:cNvPr>
          <p:cNvPicPr>
            <a:picLocks noChangeAspect="1"/>
          </p:cNvPicPr>
          <p:nvPr/>
        </p:nvPicPr>
        <p:blipFill>
          <a:blip r:embed="rId2"/>
          <a:stretch>
            <a:fillRect/>
          </a:stretch>
        </p:blipFill>
        <p:spPr>
          <a:xfrm>
            <a:off x="548640" y="3566160"/>
            <a:ext cx="347472" cy="347472"/>
          </a:xfrm>
          <a:prstGeom prst="rect">
            <a:avLst/>
          </a:prstGeom>
        </p:spPr>
      </p:pic>
      <p:sp>
        <p:nvSpPr>
          <p:cNvPr id="11" name="Text 6"/>
          <p:cNvSpPr txBox="1"/>
          <p:nvPr/>
        </p:nvSpPr>
        <p:spPr>
          <a:xfrm>
            <a:off x="1005840" y="3246120"/>
            <a:ext cx="2926080" cy="1005840"/>
          </a:xfrm>
          <a:prstGeom prst="rect">
            <a:avLst/>
          </a:prstGeom>
          <a:noFill/>
          <a:ln/>
        </p:spPr>
        <p:txBody>
          <a:bodyPr wrap="square" lIns="635" tIns="635" rIns="635" bIns="635" rtlCol="0" anchor="ctr"/>
          <a:lstStyle/>
          <a:p>
            <a:pPr indent="0" marL="0">
              <a:buNone/>
            </a:pPr>
            <a:r>
              <a:rPr lang="en-US" sz="1600" dirty="0">
                <a:solidFill>
                  <a:srgbClr val="6B6B6B"/>
                </a:solidFill>
                <a:latin typeface="Calibri" pitchFamily="34" charset="0"/>
                <a:ea typeface="Calibri" pitchFamily="34" charset="-122"/>
                <a:cs typeface="Calibri" pitchFamily="34" charset="-120"/>
              </a:rPr>
              <a:t>Partner channel overview</a:t>
            </a:r>
            <a:endParaRPr lang="en-US" sz="1600" dirty="0"/>
          </a:p>
        </p:txBody>
      </p:sp>
      <p:sp>
        <p:nvSpPr>
          <p:cNvPr id="12" name="Shape 7"/>
          <p:cNvSpPr/>
          <p:nvPr/>
        </p:nvSpPr>
        <p:spPr>
          <a:xfrm>
            <a:off x="4114800" y="3246120"/>
            <a:ext cx="4023360" cy="1005840"/>
          </a:xfrm>
          <a:prstGeom prst="roundRect">
            <a:avLst>
              <a:gd name="adj" fmla="val 9091"/>
            </a:avLst>
          </a:prstGeom>
          <a:solidFill>
            <a:srgbClr val="FDECEE"/>
          </a:solidFill>
          <a:ln w="12700">
            <a:solidFill>
              <a:srgbClr val="FDECEE"/>
            </a:solidFill>
            <a:prstDash val="solid"/>
          </a:ln>
        </p:spPr>
      </p:sp>
      <p:sp>
        <p:nvSpPr>
          <p:cNvPr id="13" name="Text 8"/>
          <p:cNvSpPr txBox="1"/>
          <p:nvPr/>
        </p:nvSpPr>
        <p:spPr>
          <a:xfrm>
            <a:off x="4251960" y="3291840"/>
            <a:ext cx="3749040" cy="91440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Sulawesi partner sales fell 18% after a competitor launched 0% instalments</a:t>
            </a:r>
            <a:endParaRPr lang="en-US" sz="1500" dirty="0"/>
          </a:p>
        </p:txBody>
      </p:sp>
      <p:pic>
        <p:nvPicPr>
          <p:cNvPr id="14" name="Image 2" descr="preencoded.png">    </p:cNvPr>
          <p:cNvPicPr>
            <a:picLocks noChangeAspect="1"/>
          </p:cNvPicPr>
          <p:nvPr/>
        </p:nvPicPr>
        <p:blipFill>
          <a:blip r:embed="rId3"/>
          <a:stretch>
            <a:fillRect/>
          </a:stretch>
        </p:blipFill>
        <p:spPr>
          <a:xfrm>
            <a:off x="548640" y="4800600"/>
            <a:ext cx="347472" cy="347472"/>
          </a:xfrm>
          <a:prstGeom prst="rect">
            <a:avLst/>
          </a:prstGeom>
        </p:spPr>
      </p:pic>
      <p:sp>
        <p:nvSpPr>
          <p:cNvPr id="15" name="Text 9"/>
          <p:cNvSpPr txBox="1"/>
          <p:nvPr/>
        </p:nvSpPr>
        <p:spPr>
          <a:xfrm>
            <a:off x="1005840" y="4480560"/>
            <a:ext cx="2926080" cy="1005840"/>
          </a:xfrm>
          <a:prstGeom prst="rect">
            <a:avLst/>
          </a:prstGeom>
          <a:noFill/>
          <a:ln/>
        </p:spPr>
        <p:txBody>
          <a:bodyPr wrap="square" lIns="635" tIns="635" rIns="635" bIns="635" rtlCol="0" anchor="ctr"/>
          <a:lstStyle/>
          <a:p>
            <a:pPr indent="0" marL="0">
              <a:buNone/>
            </a:pPr>
            <a:r>
              <a:rPr lang="en-US" sz="1600" dirty="0">
                <a:solidFill>
                  <a:srgbClr val="6B6B6B"/>
                </a:solidFill>
                <a:latin typeface="Calibri" pitchFamily="34" charset="0"/>
                <a:ea typeface="Calibri" pitchFamily="34" charset="-122"/>
                <a:cs typeface="Calibri" pitchFamily="34" charset="-120"/>
              </a:rPr>
              <a:t>App feature proposal</a:t>
            </a:r>
            <a:endParaRPr lang="en-US" sz="1600" dirty="0"/>
          </a:p>
        </p:txBody>
      </p:sp>
      <p:sp>
        <p:nvSpPr>
          <p:cNvPr id="16" name="Shape 10"/>
          <p:cNvSpPr/>
          <p:nvPr/>
        </p:nvSpPr>
        <p:spPr>
          <a:xfrm>
            <a:off x="4114800" y="4480560"/>
            <a:ext cx="4023360" cy="1005840"/>
          </a:xfrm>
          <a:prstGeom prst="roundRect">
            <a:avLst>
              <a:gd name="adj" fmla="val 9091"/>
            </a:avLst>
          </a:prstGeom>
          <a:solidFill>
            <a:srgbClr val="FDECEE"/>
          </a:solidFill>
          <a:ln w="12700">
            <a:solidFill>
              <a:srgbClr val="FDECEE"/>
            </a:solidFill>
            <a:prstDash val="solid"/>
          </a:ln>
        </p:spPr>
      </p:sp>
      <p:sp>
        <p:nvSpPr>
          <p:cNvPr id="17" name="Text 11"/>
          <p:cNvSpPr txBox="1"/>
          <p:nvPr/>
        </p:nvSpPr>
        <p:spPr>
          <a:xfrm>
            <a:off x="4251960" y="4526280"/>
            <a:ext cx="3749040" cy="91440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 1-tap reminder can lift on-time payment by 3.5 pts for IDR 1.2 bn</a:t>
            </a:r>
            <a:endParaRPr lang="en-US" sz="1500" dirty="0"/>
          </a:p>
        </p:txBody>
      </p:sp>
      <p:sp>
        <p:nvSpPr>
          <p:cNvPr id="18" name="Shape 12"/>
          <p:cNvSpPr/>
          <p:nvPr/>
        </p:nvSpPr>
        <p:spPr>
          <a:xfrm>
            <a:off x="8503920" y="1554480"/>
            <a:ext cx="3154680" cy="4343400"/>
          </a:xfrm>
          <a:prstGeom prst="roundRect">
            <a:avLst>
              <a:gd name="adj" fmla="val 2899"/>
            </a:avLst>
          </a:prstGeom>
          <a:solidFill>
            <a:srgbClr val="9E0012"/>
          </a:solidFill>
          <a:ln w="12700">
            <a:solidFill>
              <a:srgbClr val="9E0012"/>
            </a:solidFill>
            <a:prstDash val="solid"/>
          </a:ln>
        </p:spPr>
      </p:sp>
      <p:sp>
        <p:nvSpPr>
          <p:cNvPr id="19" name="Text 13"/>
          <p:cNvSpPr txBox="1"/>
          <p:nvPr/>
        </p:nvSpPr>
        <p:spPr>
          <a:xfrm>
            <a:off x="8686800" y="1691640"/>
            <a:ext cx="2743200" cy="457200"/>
          </a:xfrm>
          <a:prstGeom prst="rect">
            <a:avLst/>
          </a:prstGeom>
          <a:noFill/>
          <a:ln/>
        </p:spPr>
        <p:txBody>
          <a:bodyPr wrap="square" lIns="635" tIns="635" rIns="635" bIns="635"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4 rules</a:t>
            </a:r>
            <a:endParaRPr lang="en-US" sz="2000" dirty="0"/>
          </a:p>
        </p:txBody>
      </p:sp>
      <p:sp>
        <p:nvSpPr>
          <p:cNvPr id="20" name="Text 14"/>
          <p:cNvSpPr txBox="1"/>
          <p:nvPr/>
        </p:nvSpPr>
        <p:spPr>
          <a:xfrm>
            <a:off x="8686800" y="2240280"/>
            <a:ext cx="2834640" cy="3291840"/>
          </a:xfrm>
          <a:prstGeom prst="rect">
            <a:avLst/>
          </a:prstGeom>
          <a:noFill/>
          <a:ln/>
        </p:spPr>
        <p:txBody>
          <a:bodyPr wrap="square" lIns="635" tIns="635" rIns="635" bIns="635" rtlCol="0" anchor="t"/>
          <a:lstStyle/>
          <a:p>
            <a:pPr marL="342900" indent="-342900">
              <a:spcAft>
                <a:spcPts val="12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Full sentence with a takeaway</a:t>
            </a:r>
            <a:endParaRPr lang="en-US" sz="1600" dirty="0"/>
          </a:p>
          <a:p>
            <a:pPr marL="342900" indent="-342900">
              <a:spcAft>
                <a:spcPts val="12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Two lines maximum</a:t>
            </a:r>
            <a:endParaRPr lang="en-US" sz="1600" dirty="0"/>
          </a:p>
          <a:p>
            <a:pPr marL="342900" indent="-342900">
              <a:spcAft>
                <a:spcPts val="12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One message per slide</a:t>
            </a:r>
            <a:endParaRPr lang="en-US" sz="1600" dirty="0"/>
          </a:p>
          <a:p>
            <a:pPr marL="342900" indent="-342900">
              <a:spcAft>
                <a:spcPts val="1200"/>
              </a:spcAft>
              <a:buSzPct val="100000"/>
              <a:buFont typeface="+mj-lt"/>
              <a:buAutoNum type="arabicPeriod" startAt="1"/>
            </a:pPr>
            <a:r>
              <a:rPr lang="en-US" sz="1600" dirty="0">
                <a:solidFill>
                  <a:srgbClr val="FFFFFF"/>
                </a:solidFill>
                <a:latin typeface="Calibri" pitchFamily="34" charset="0"/>
                <a:ea typeface="Calibri" pitchFamily="34" charset="-122"/>
                <a:cs typeface="Calibri" pitchFamily="34" charset="-120"/>
              </a:rPr>
              <a:t>Contains a number or a verb</a:t>
            </a:r>
            <a:endParaRPr lang="en-US" sz="1600" dirty="0"/>
          </a:p>
        </p:txBody>
      </p:sp>
      <p:sp>
        <p:nvSpPr>
          <p:cNvPr id="21" name="Text 15"/>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Choose the chart from your message, not from the data you happen to have</a:t>
            </a:r>
            <a:endParaRPr lang="en-US" sz="2600" dirty="0"/>
          </a:p>
        </p:txBody>
      </p:sp>
      <p:sp>
        <p:nvSpPr>
          <p:cNvPr id="4" name="Shape 1"/>
          <p:cNvSpPr/>
          <p:nvPr/>
        </p:nvSpPr>
        <p:spPr>
          <a:xfrm>
            <a:off x="548640" y="1645920"/>
            <a:ext cx="2057400" cy="4023360"/>
          </a:xfrm>
          <a:prstGeom prst="roundRect">
            <a:avLst>
              <a:gd name="adj" fmla="val 4444"/>
            </a:avLst>
          </a:prstGeom>
          <a:solidFill>
            <a:srgbClr val="F4F4F4"/>
          </a:solidFill>
          <a:ln w="12700">
            <a:solidFill>
              <a:srgbClr val="F4F4F4"/>
            </a:solidFill>
            <a:prstDash val="solid"/>
          </a:ln>
        </p:spPr>
      </p:sp>
      <p:sp>
        <p:nvSpPr>
          <p:cNvPr id="5" name="Shape 2"/>
          <p:cNvSpPr/>
          <p:nvPr/>
        </p:nvSpPr>
        <p:spPr>
          <a:xfrm>
            <a:off x="1161288" y="1874520"/>
            <a:ext cx="822960" cy="82296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1391717" y="2104949"/>
            <a:ext cx="362102" cy="362102"/>
          </a:xfrm>
          <a:prstGeom prst="rect">
            <a:avLst/>
          </a:prstGeom>
        </p:spPr>
      </p:pic>
      <p:sp>
        <p:nvSpPr>
          <p:cNvPr id="7" name="Text 3"/>
          <p:cNvSpPr txBox="1"/>
          <p:nvPr/>
        </p:nvSpPr>
        <p:spPr>
          <a:xfrm>
            <a:off x="658368" y="2834640"/>
            <a:ext cx="1828800" cy="685800"/>
          </a:xfrm>
          <a:prstGeom prst="rect">
            <a:avLst/>
          </a:prstGeom>
          <a:noFill/>
          <a:ln/>
        </p:spPr>
        <p:txBody>
          <a:bodyPr wrap="square" lIns="635" tIns="635" rIns="635" bIns="635"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Compare items</a:t>
            </a:r>
            <a:endParaRPr lang="en-US" sz="1700" dirty="0"/>
          </a:p>
        </p:txBody>
      </p:sp>
      <p:sp>
        <p:nvSpPr>
          <p:cNvPr id="8" name="Text 4"/>
          <p:cNvSpPr txBox="1"/>
          <p:nvPr/>
        </p:nvSpPr>
        <p:spPr>
          <a:xfrm>
            <a:off x="658368" y="3566160"/>
            <a:ext cx="1828800" cy="1097280"/>
          </a:xfrm>
          <a:prstGeom prst="rect">
            <a:avLst/>
          </a:prstGeom>
          <a:noFill/>
          <a:ln/>
        </p:spPr>
        <p:txBody>
          <a:bodyPr wrap="square" lIns="635" tIns="635" rIns="635" bIns="635"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Bar chart, sorted, horizontal for long names</a:t>
            </a:r>
            <a:endParaRPr lang="en-US" sz="1400" dirty="0"/>
          </a:p>
        </p:txBody>
      </p:sp>
      <p:sp>
        <p:nvSpPr>
          <p:cNvPr id="9" name="Text 5"/>
          <p:cNvSpPr txBox="1"/>
          <p:nvPr/>
        </p:nvSpPr>
        <p:spPr>
          <a:xfrm>
            <a:off x="658368" y="4800600"/>
            <a:ext cx="1828800" cy="640080"/>
          </a:xfrm>
          <a:prstGeom prst="rect">
            <a:avLst/>
          </a:prstGeom>
          <a:noFill/>
          <a:ln/>
        </p:spPr>
        <p:txBody>
          <a:bodyPr wrap="square" lIns="635" tIns="635" rIns="635" bIns="635" rtlCol="0" anchor="ctr"/>
          <a:lstStyle/>
          <a:p>
            <a:pPr algn="ctr" indent="0" marL="0">
              <a:buNone/>
            </a:pPr>
            <a:r>
              <a:rPr lang="en-US" sz="1300" i="1" dirty="0">
                <a:solidFill>
                  <a:srgbClr val="E3001B"/>
                </a:solidFill>
                <a:latin typeface="Calibri" pitchFamily="34" charset="0"/>
                <a:ea typeface="Calibri" pitchFamily="34" charset="-122"/>
                <a:cs typeface="Calibri" pitchFamily="34" charset="-120"/>
              </a:rPr>
              <a:t>e.g. Sales by region</a:t>
            </a:r>
            <a:endParaRPr lang="en-US" sz="1300" dirty="0"/>
          </a:p>
        </p:txBody>
      </p:sp>
      <p:sp>
        <p:nvSpPr>
          <p:cNvPr id="10" name="Shape 6"/>
          <p:cNvSpPr/>
          <p:nvPr/>
        </p:nvSpPr>
        <p:spPr>
          <a:xfrm>
            <a:off x="2798064" y="1645920"/>
            <a:ext cx="2057400" cy="4023360"/>
          </a:xfrm>
          <a:prstGeom prst="roundRect">
            <a:avLst>
              <a:gd name="adj" fmla="val 4444"/>
            </a:avLst>
          </a:prstGeom>
          <a:solidFill>
            <a:srgbClr val="F4F4F4"/>
          </a:solidFill>
          <a:ln w="12700">
            <a:solidFill>
              <a:srgbClr val="F4F4F4"/>
            </a:solidFill>
            <a:prstDash val="solid"/>
          </a:ln>
        </p:spPr>
      </p:sp>
      <p:sp>
        <p:nvSpPr>
          <p:cNvPr id="11" name="Shape 7"/>
          <p:cNvSpPr/>
          <p:nvPr/>
        </p:nvSpPr>
        <p:spPr>
          <a:xfrm>
            <a:off x="3410712" y="1874520"/>
            <a:ext cx="822960" cy="822960"/>
          </a:xfrm>
          <a:prstGeom prst="ellipse">
            <a:avLst/>
          </a:prstGeom>
          <a:solidFill>
            <a:srgbClr val="E3001B"/>
          </a:solidFill>
          <a:ln w="12700">
            <a:solidFill>
              <a:srgbClr val="E3001B"/>
            </a:solidFill>
            <a:prstDash val="solid"/>
          </a:ln>
        </p:spPr>
      </p:sp>
      <p:pic>
        <p:nvPicPr>
          <p:cNvPr id="12" name="Image 1" descr="preencoded.png">    </p:cNvPr>
          <p:cNvPicPr>
            <a:picLocks noChangeAspect="1"/>
          </p:cNvPicPr>
          <p:nvPr/>
        </p:nvPicPr>
        <p:blipFill>
          <a:blip r:embed="rId2"/>
          <a:stretch>
            <a:fillRect/>
          </a:stretch>
        </p:blipFill>
        <p:spPr>
          <a:xfrm>
            <a:off x="3641141" y="2104949"/>
            <a:ext cx="362102" cy="362102"/>
          </a:xfrm>
          <a:prstGeom prst="rect">
            <a:avLst/>
          </a:prstGeom>
        </p:spPr>
      </p:pic>
      <p:sp>
        <p:nvSpPr>
          <p:cNvPr id="13" name="Text 8"/>
          <p:cNvSpPr txBox="1"/>
          <p:nvPr/>
        </p:nvSpPr>
        <p:spPr>
          <a:xfrm>
            <a:off x="2907792" y="2834640"/>
            <a:ext cx="1828800" cy="685800"/>
          </a:xfrm>
          <a:prstGeom prst="rect">
            <a:avLst/>
          </a:prstGeom>
          <a:noFill/>
          <a:ln/>
        </p:spPr>
        <p:txBody>
          <a:bodyPr wrap="square" lIns="635" tIns="635" rIns="635" bIns="635"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Change over time</a:t>
            </a:r>
            <a:endParaRPr lang="en-US" sz="1700" dirty="0"/>
          </a:p>
        </p:txBody>
      </p:sp>
      <p:sp>
        <p:nvSpPr>
          <p:cNvPr id="14" name="Text 9"/>
          <p:cNvSpPr txBox="1"/>
          <p:nvPr/>
        </p:nvSpPr>
        <p:spPr>
          <a:xfrm>
            <a:off x="2907792" y="3566160"/>
            <a:ext cx="1828800" cy="1097280"/>
          </a:xfrm>
          <a:prstGeom prst="rect">
            <a:avLst/>
          </a:prstGeom>
          <a:noFill/>
          <a:ln/>
        </p:spPr>
        <p:txBody>
          <a:bodyPr wrap="square" lIns="635" tIns="635" rIns="635" bIns="635"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Line chart; highlight the period that matters</a:t>
            </a:r>
            <a:endParaRPr lang="en-US" sz="1400" dirty="0"/>
          </a:p>
        </p:txBody>
      </p:sp>
      <p:sp>
        <p:nvSpPr>
          <p:cNvPr id="15" name="Text 10"/>
          <p:cNvSpPr txBox="1"/>
          <p:nvPr/>
        </p:nvSpPr>
        <p:spPr>
          <a:xfrm>
            <a:off x="2907792" y="4800600"/>
            <a:ext cx="1828800" cy="640080"/>
          </a:xfrm>
          <a:prstGeom prst="rect">
            <a:avLst/>
          </a:prstGeom>
          <a:noFill/>
          <a:ln/>
        </p:spPr>
        <p:txBody>
          <a:bodyPr wrap="square" lIns="635" tIns="635" rIns="635" bIns="635" rtlCol="0" anchor="ctr"/>
          <a:lstStyle/>
          <a:p>
            <a:pPr algn="ctr" indent="0" marL="0">
              <a:buNone/>
            </a:pPr>
            <a:r>
              <a:rPr lang="en-US" sz="1300" i="1" dirty="0">
                <a:solidFill>
                  <a:srgbClr val="E3001B"/>
                </a:solidFill>
                <a:latin typeface="Calibri" pitchFamily="34" charset="0"/>
                <a:ea typeface="Calibri" pitchFamily="34" charset="-122"/>
                <a:cs typeface="Calibri" pitchFamily="34" charset="-120"/>
              </a:rPr>
              <a:t>e.g. Monthly 30+ DPD</a:t>
            </a:r>
            <a:endParaRPr lang="en-US" sz="1300" dirty="0"/>
          </a:p>
        </p:txBody>
      </p:sp>
      <p:sp>
        <p:nvSpPr>
          <p:cNvPr id="16" name="Shape 11"/>
          <p:cNvSpPr/>
          <p:nvPr/>
        </p:nvSpPr>
        <p:spPr>
          <a:xfrm>
            <a:off x="5047488" y="1645920"/>
            <a:ext cx="2057400" cy="4023360"/>
          </a:xfrm>
          <a:prstGeom prst="roundRect">
            <a:avLst>
              <a:gd name="adj" fmla="val 4444"/>
            </a:avLst>
          </a:prstGeom>
          <a:solidFill>
            <a:srgbClr val="F4F4F4"/>
          </a:solidFill>
          <a:ln w="12700">
            <a:solidFill>
              <a:srgbClr val="F4F4F4"/>
            </a:solidFill>
            <a:prstDash val="solid"/>
          </a:ln>
        </p:spPr>
      </p:sp>
      <p:sp>
        <p:nvSpPr>
          <p:cNvPr id="17" name="Shape 12"/>
          <p:cNvSpPr/>
          <p:nvPr/>
        </p:nvSpPr>
        <p:spPr>
          <a:xfrm>
            <a:off x="5660136" y="1874520"/>
            <a:ext cx="822960" cy="822960"/>
          </a:xfrm>
          <a:prstGeom prst="ellipse">
            <a:avLst/>
          </a:prstGeom>
          <a:solidFill>
            <a:srgbClr val="E3001B"/>
          </a:solidFill>
          <a:ln w="12700">
            <a:solidFill>
              <a:srgbClr val="E3001B"/>
            </a:solidFill>
            <a:prstDash val="solid"/>
          </a:ln>
        </p:spPr>
      </p:sp>
      <p:pic>
        <p:nvPicPr>
          <p:cNvPr id="18" name="Image 2" descr="preencoded.png">    </p:cNvPr>
          <p:cNvPicPr>
            <a:picLocks noChangeAspect="1"/>
          </p:cNvPicPr>
          <p:nvPr/>
        </p:nvPicPr>
        <p:blipFill>
          <a:blip r:embed="rId3"/>
          <a:stretch>
            <a:fillRect/>
          </a:stretch>
        </p:blipFill>
        <p:spPr>
          <a:xfrm>
            <a:off x="5890565" y="2104949"/>
            <a:ext cx="362102" cy="362102"/>
          </a:xfrm>
          <a:prstGeom prst="rect">
            <a:avLst/>
          </a:prstGeom>
        </p:spPr>
      </p:pic>
      <p:sp>
        <p:nvSpPr>
          <p:cNvPr id="19" name="Text 13"/>
          <p:cNvSpPr txBox="1"/>
          <p:nvPr/>
        </p:nvSpPr>
        <p:spPr>
          <a:xfrm>
            <a:off x="5157216" y="2834640"/>
            <a:ext cx="1828800" cy="685800"/>
          </a:xfrm>
          <a:prstGeom prst="rect">
            <a:avLst/>
          </a:prstGeom>
          <a:noFill/>
          <a:ln/>
        </p:spPr>
        <p:txBody>
          <a:bodyPr wrap="square" lIns="635" tIns="635" rIns="635" bIns="635"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Part of a whole</a:t>
            </a:r>
            <a:endParaRPr lang="en-US" sz="1700" dirty="0"/>
          </a:p>
        </p:txBody>
      </p:sp>
      <p:sp>
        <p:nvSpPr>
          <p:cNvPr id="20" name="Text 14"/>
          <p:cNvSpPr txBox="1"/>
          <p:nvPr/>
        </p:nvSpPr>
        <p:spPr>
          <a:xfrm>
            <a:off x="5157216" y="3566160"/>
            <a:ext cx="1828800" cy="1097280"/>
          </a:xfrm>
          <a:prstGeom prst="rect">
            <a:avLst/>
          </a:prstGeom>
          <a:noFill/>
          <a:ln/>
        </p:spPr>
        <p:txBody>
          <a:bodyPr wrap="square" lIns="635" tIns="635" rIns="635" bIns="635"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Stacked bar; pie only with 2–3 slices</a:t>
            </a:r>
            <a:endParaRPr lang="en-US" sz="1400" dirty="0"/>
          </a:p>
        </p:txBody>
      </p:sp>
      <p:sp>
        <p:nvSpPr>
          <p:cNvPr id="21" name="Text 15"/>
          <p:cNvSpPr txBox="1"/>
          <p:nvPr/>
        </p:nvSpPr>
        <p:spPr>
          <a:xfrm>
            <a:off x="5157216" y="4800600"/>
            <a:ext cx="1828800" cy="640080"/>
          </a:xfrm>
          <a:prstGeom prst="rect">
            <a:avLst/>
          </a:prstGeom>
          <a:noFill/>
          <a:ln/>
        </p:spPr>
        <p:txBody>
          <a:bodyPr wrap="square" lIns="635" tIns="635" rIns="635" bIns="635" rtlCol="0" anchor="ctr"/>
          <a:lstStyle/>
          <a:p>
            <a:pPr algn="ctr" indent="0" marL="0">
              <a:buNone/>
            </a:pPr>
            <a:r>
              <a:rPr lang="en-US" sz="1300" i="1" dirty="0">
                <a:solidFill>
                  <a:srgbClr val="E3001B"/>
                </a:solidFill>
                <a:latin typeface="Calibri" pitchFamily="34" charset="0"/>
                <a:ea typeface="Calibri" pitchFamily="34" charset="-122"/>
                <a:cs typeface="Calibri" pitchFamily="34" charset="-120"/>
              </a:rPr>
              <a:t>e.g. Loan mix by product</a:t>
            </a:r>
            <a:endParaRPr lang="en-US" sz="1300" dirty="0"/>
          </a:p>
        </p:txBody>
      </p:sp>
      <p:sp>
        <p:nvSpPr>
          <p:cNvPr id="22" name="Shape 16"/>
          <p:cNvSpPr/>
          <p:nvPr/>
        </p:nvSpPr>
        <p:spPr>
          <a:xfrm>
            <a:off x="7296912" y="1645920"/>
            <a:ext cx="2057400" cy="4023360"/>
          </a:xfrm>
          <a:prstGeom prst="roundRect">
            <a:avLst>
              <a:gd name="adj" fmla="val 4444"/>
            </a:avLst>
          </a:prstGeom>
          <a:solidFill>
            <a:srgbClr val="F4F4F4"/>
          </a:solidFill>
          <a:ln w="12700">
            <a:solidFill>
              <a:srgbClr val="F4F4F4"/>
            </a:solidFill>
            <a:prstDash val="solid"/>
          </a:ln>
        </p:spPr>
      </p:sp>
      <p:sp>
        <p:nvSpPr>
          <p:cNvPr id="23" name="Shape 17"/>
          <p:cNvSpPr/>
          <p:nvPr/>
        </p:nvSpPr>
        <p:spPr>
          <a:xfrm>
            <a:off x="7909560" y="1874520"/>
            <a:ext cx="822960" cy="822960"/>
          </a:xfrm>
          <a:prstGeom prst="ellipse">
            <a:avLst/>
          </a:prstGeom>
          <a:solidFill>
            <a:srgbClr val="E3001B"/>
          </a:solidFill>
          <a:ln w="12700">
            <a:solidFill>
              <a:srgbClr val="E3001B"/>
            </a:solidFill>
            <a:prstDash val="solid"/>
          </a:ln>
        </p:spPr>
      </p:sp>
      <p:pic>
        <p:nvPicPr>
          <p:cNvPr id="24" name="Image 3" descr="preencoded.png">    </p:cNvPr>
          <p:cNvPicPr>
            <a:picLocks noChangeAspect="1"/>
          </p:cNvPicPr>
          <p:nvPr/>
        </p:nvPicPr>
        <p:blipFill>
          <a:blip r:embed="rId4"/>
          <a:stretch>
            <a:fillRect/>
          </a:stretch>
        </p:blipFill>
        <p:spPr>
          <a:xfrm>
            <a:off x="8139989" y="2104949"/>
            <a:ext cx="362102" cy="362102"/>
          </a:xfrm>
          <a:prstGeom prst="rect">
            <a:avLst/>
          </a:prstGeom>
        </p:spPr>
      </p:pic>
      <p:sp>
        <p:nvSpPr>
          <p:cNvPr id="25" name="Text 18"/>
          <p:cNvSpPr txBox="1"/>
          <p:nvPr/>
        </p:nvSpPr>
        <p:spPr>
          <a:xfrm>
            <a:off x="7406640" y="2834640"/>
            <a:ext cx="1828800" cy="685800"/>
          </a:xfrm>
          <a:prstGeom prst="rect">
            <a:avLst/>
          </a:prstGeom>
          <a:noFill/>
          <a:ln/>
        </p:spPr>
        <p:txBody>
          <a:bodyPr wrap="square" lIns="635" tIns="635" rIns="635" bIns="635"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Relationship</a:t>
            </a:r>
            <a:endParaRPr lang="en-US" sz="1700" dirty="0"/>
          </a:p>
        </p:txBody>
      </p:sp>
      <p:sp>
        <p:nvSpPr>
          <p:cNvPr id="26" name="Text 19"/>
          <p:cNvSpPr txBox="1"/>
          <p:nvPr/>
        </p:nvSpPr>
        <p:spPr>
          <a:xfrm>
            <a:off x="7406640" y="3566160"/>
            <a:ext cx="1828800" cy="1097280"/>
          </a:xfrm>
          <a:prstGeom prst="rect">
            <a:avLst/>
          </a:prstGeom>
          <a:noFill/>
          <a:ln/>
        </p:spPr>
        <p:txBody>
          <a:bodyPr wrap="square" lIns="635" tIns="635" rIns="635" bIns="635"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Scatter plot, with a short note on the pattern</a:t>
            </a:r>
            <a:endParaRPr lang="en-US" sz="1400" dirty="0"/>
          </a:p>
        </p:txBody>
      </p:sp>
      <p:sp>
        <p:nvSpPr>
          <p:cNvPr id="27" name="Text 20"/>
          <p:cNvSpPr txBox="1"/>
          <p:nvPr/>
        </p:nvSpPr>
        <p:spPr>
          <a:xfrm>
            <a:off x="7406640" y="4800600"/>
            <a:ext cx="1828800" cy="640080"/>
          </a:xfrm>
          <a:prstGeom prst="rect">
            <a:avLst/>
          </a:prstGeom>
          <a:noFill/>
          <a:ln/>
        </p:spPr>
        <p:txBody>
          <a:bodyPr wrap="square" lIns="635" tIns="635" rIns="635" bIns="635" rtlCol="0" anchor="ctr"/>
          <a:lstStyle/>
          <a:p>
            <a:pPr algn="ctr" indent="0" marL="0">
              <a:buNone/>
            </a:pPr>
            <a:r>
              <a:rPr lang="en-US" sz="1300" i="1" dirty="0">
                <a:solidFill>
                  <a:srgbClr val="E3001B"/>
                </a:solidFill>
                <a:latin typeface="Calibri" pitchFamily="34" charset="0"/>
                <a:ea typeface="Calibri" pitchFamily="34" charset="-122"/>
                <a:cs typeface="Calibri" pitchFamily="34" charset="-120"/>
              </a:rPr>
              <a:t>e.g. Ticket size vs default</a:t>
            </a:r>
            <a:endParaRPr lang="en-US" sz="1300" dirty="0"/>
          </a:p>
        </p:txBody>
      </p:sp>
      <p:sp>
        <p:nvSpPr>
          <p:cNvPr id="28" name="Shape 21"/>
          <p:cNvSpPr/>
          <p:nvPr/>
        </p:nvSpPr>
        <p:spPr>
          <a:xfrm>
            <a:off x="9546336" y="1645920"/>
            <a:ext cx="2057400" cy="4023360"/>
          </a:xfrm>
          <a:prstGeom prst="roundRect">
            <a:avLst>
              <a:gd name="adj" fmla="val 4444"/>
            </a:avLst>
          </a:prstGeom>
          <a:solidFill>
            <a:srgbClr val="F4F4F4"/>
          </a:solidFill>
          <a:ln w="12700">
            <a:solidFill>
              <a:srgbClr val="F4F4F4"/>
            </a:solidFill>
            <a:prstDash val="solid"/>
          </a:ln>
        </p:spPr>
      </p:sp>
      <p:sp>
        <p:nvSpPr>
          <p:cNvPr id="29" name="Shape 22"/>
          <p:cNvSpPr/>
          <p:nvPr/>
        </p:nvSpPr>
        <p:spPr>
          <a:xfrm>
            <a:off x="10158984" y="1874520"/>
            <a:ext cx="822960" cy="822960"/>
          </a:xfrm>
          <a:prstGeom prst="ellipse">
            <a:avLst/>
          </a:prstGeom>
          <a:solidFill>
            <a:srgbClr val="E3001B"/>
          </a:solidFill>
          <a:ln w="12700">
            <a:solidFill>
              <a:srgbClr val="E3001B"/>
            </a:solidFill>
            <a:prstDash val="solid"/>
          </a:ln>
        </p:spPr>
      </p:sp>
      <p:pic>
        <p:nvPicPr>
          <p:cNvPr id="30" name="Image 4" descr="preencoded.png">    </p:cNvPr>
          <p:cNvPicPr>
            <a:picLocks noChangeAspect="1"/>
          </p:cNvPicPr>
          <p:nvPr/>
        </p:nvPicPr>
        <p:blipFill>
          <a:blip r:embed="rId5"/>
          <a:stretch>
            <a:fillRect/>
          </a:stretch>
        </p:blipFill>
        <p:spPr>
          <a:xfrm>
            <a:off x="10389413" y="2104949"/>
            <a:ext cx="362102" cy="362102"/>
          </a:xfrm>
          <a:prstGeom prst="rect">
            <a:avLst/>
          </a:prstGeom>
        </p:spPr>
      </p:pic>
      <p:sp>
        <p:nvSpPr>
          <p:cNvPr id="31" name="Text 23"/>
          <p:cNvSpPr txBox="1"/>
          <p:nvPr/>
        </p:nvSpPr>
        <p:spPr>
          <a:xfrm>
            <a:off x="9656064" y="2834640"/>
            <a:ext cx="1828800" cy="685800"/>
          </a:xfrm>
          <a:prstGeom prst="rect">
            <a:avLst/>
          </a:prstGeom>
          <a:noFill/>
          <a:ln/>
        </p:spPr>
        <p:txBody>
          <a:bodyPr wrap="square" lIns="635" tIns="635" rIns="635" bIns="635"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One key number</a:t>
            </a:r>
            <a:endParaRPr lang="en-US" sz="1700" dirty="0"/>
          </a:p>
        </p:txBody>
      </p:sp>
      <p:sp>
        <p:nvSpPr>
          <p:cNvPr id="32" name="Text 24"/>
          <p:cNvSpPr txBox="1"/>
          <p:nvPr/>
        </p:nvSpPr>
        <p:spPr>
          <a:xfrm>
            <a:off x="9656064" y="3566160"/>
            <a:ext cx="1828800" cy="1097280"/>
          </a:xfrm>
          <a:prstGeom prst="rect">
            <a:avLst/>
          </a:prstGeom>
          <a:noFill/>
          <a:ln/>
        </p:spPr>
        <p:txBody>
          <a:bodyPr wrap="square" lIns="635" tIns="635" rIns="635" bIns="635"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Big number with a short label — no chart</a:t>
            </a:r>
            <a:endParaRPr lang="en-US" sz="1400" dirty="0"/>
          </a:p>
        </p:txBody>
      </p:sp>
      <p:sp>
        <p:nvSpPr>
          <p:cNvPr id="33" name="Text 25"/>
          <p:cNvSpPr txBox="1"/>
          <p:nvPr/>
        </p:nvSpPr>
        <p:spPr>
          <a:xfrm>
            <a:off x="9656064" y="4800600"/>
            <a:ext cx="1828800" cy="640080"/>
          </a:xfrm>
          <a:prstGeom prst="rect">
            <a:avLst/>
          </a:prstGeom>
          <a:noFill/>
          <a:ln/>
        </p:spPr>
        <p:txBody>
          <a:bodyPr wrap="square" lIns="635" tIns="635" rIns="635" bIns="635" rtlCol="0" anchor="ctr"/>
          <a:lstStyle/>
          <a:p>
            <a:pPr algn="ctr" indent="0" marL="0">
              <a:buNone/>
            </a:pPr>
            <a:r>
              <a:rPr lang="en-US" sz="1300" i="1" dirty="0">
                <a:solidFill>
                  <a:srgbClr val="E3001B"/>
                </a:solidFill>
                <a:latin typeface="Calibri" pitchFamily="34" charset="0"/>
                <a:ea typeface="Calibri" pitchFamily="34" charset="-122"/>
                <a:cs typeface="Calibri" pitchFamily="34" charset="-120"/>
              </a:rPr>
              <a:t>e.g. IDR 4.0 bn saved</a:t>
            </a:r>
            <a:endParaRPr lang="en-US" sz="1300" dirty="0"/>
          </a:p>
        </p:txBody>
      </p:sp>
      <p:sp>
        <p:nvSpPr>
          <p:cNvPr id="34" name="Text 26"/>
          <p:cNvSpPr txBox="1"/>
          <p:nvPr/>
        </p:nvSpPr>
        <p:spPr>
          <a:xfrm>
            <a:off x="548640" y="5943600"/>
            <a:ext cx="73152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Cole Nussbaumer Knaflic, Storytelling with Data</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Remove clutter, then use colour only for the one number that matters</a:t>
            </a:r>
            <a:endParaRPr lang="en-US" sz="2600" dirty="0"/>
          </a:p>
        </p:txBody>
      </p:sp>
      <p:sp>
        <p:nvSpPr>
          <p:cNvPr id="4" name="Text 1"/>
          <p:cNvSpPr txBox="1"/>
          <p:nvPr/>
        </p:nvSpPr>
        <p:spPr>
          <a:xfrm>
            <a:off x="548640" y="1554480"/>
            <a:ext cx="6766560" cy="45720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East Java's early delinquency is 70% above the national average</a:t>
            </a:r>
            <a:endParaRPr lang="en-US" sz="1700" dirty="0"/>
          </a:p>
        </p:txBody>
      </p:sp>
      <p:sp>
        <p:nvSpPr>
          <p:cNvPr id="5" name="Text 2"/>
          <p:cNvSpPr txBox="1"/>
          <p:nvPr/>
        </p:nvSpPr>
        <p:spPr>
          <a:xfrm>
            <a:off x="548640" y="1965960"/>
            <a:ext cx="6766560" cy="320040"/>
          </a:xfrm>
          <a:prstGeom prst="rect">
            <a:avLst/>
          </a:prstGeom>
          <a:noFill/>
          <a:ln/>
        </p:spPr>
        <p:txBody>
          <a:bodyPr wrap="square" lIns="635" tIns="635" rIns="635" bIns="635" rtlCol="0" anchor="ctr"/>
          <a:lstStyle/>
          <a:p>
            <a:pPr indent="0" marL="0">
              <a:buNone/>
            </a:pPr>
            <a:r>
              <a:rPr lang="en-US" sz="1300" dirty="0">
                <a:solidFill>
                  <a:srgbClr val="6B6B6B"/>
                </a:solidFill>
                <a:latin typeface="Calibri" pitchFamily="34" charset="0"/>
                <a:ea typeface="Calibri" pitchFamily="34" charset="-122"/>
                <a:cs typeface="Calibri" pitchFamily="34" charset="-120"/>
              </a:rPr>
              <a:t>30+ DPD at month 3, June, % of contracts</a:t>
            </a:r>
            <a:endParaRPr lang="en-US" sz="1300" dirty="0"/>
          </a:p>
        </p:txBody>
      </p:sp>
      <p:graphicFrame>
        <p:nvGraphicFramePr>
          <p:cNvPr id="6" name="Chart 0" descr=""/>
          <p:cNvGraphicFramePr/>
          <p:nvPr/>
        </p:nvGraphicFramePr>
        <p:xfrm>
          <a:off x="548640" y="228600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772400" y="1645920"/>
            <a:ext cx="3886200" cy="1188720"/>
          </a:xfrm>
          <a:prstGeom prst="roundRect">
            <a:avLst>
              <a:gd name="adj" fmla="val 7692"/>
            </a:avLst>
          </a:prstGeom>
          <a:solidFill>
            <a:srgbClr val="F4F4F4"/>
          </a:solidFill>
          <a:ln w="12700">
            <a:solidFill>
              <a:srgbClr val="F4F4F4"/>
            </a:solidFill>
            <a:prstDash val="solid"/>
          </a:ln>
        </p:spPr>
      </p:sp>
      <p:sp>
        <p:nvSpPr>
          <p:cNvPr id="8" name="Text 4"/>
          <p:cNvSpPr txBox="1"/>
          <p:nvPr/>
        </p:nvSpPr>
        <p:spPr>
          <a:xfrm>
            <a:off x="7955280" y="1828800"/>
            <a:ext cx="548640" cy="822960"/>
          </a:xfrm>
          <a:prstGeom prst="rect">
            <a:avLst/>
          </a:prstGeom>
          <a:noFill/>
          <a:ln/>
        </p:spPr>
        <p:txBody>
          <a:bodyPr wrap="square" lIns="635" tIns="635" rIns="635" bIns="635" rtlCol="0" anchor="ctr"/>
          <a:lstStyle/>
          <a:p>
            <a:pPr indent="0" marL="0">
              <a:buNone/>
            </a:pPr>
            <a:r>
              <a:rPr lang="en-US" sz="3200" b="1" dirty="0">
                <a:solidFill>
                  <a:srgbClr val="E3001B"/>
                </a:solidFill>
                <a:latin typeface="Arial" pitchFamily="34" charset="0"/>
                <a:ea typeface="Arial" pitchFamily="34" charset="-122"/>
                <a:cs typeface="Arial" pitchFamily="34" charset="-120"/>
              </a:rPr>
              <a:t>1</a:t>
            </a:r>
            <a:endParaRPr lang="en-US" sz="3200" dirty="0"/>
          </a:p>
        </p:txBody>
      </p:sp>
      <p:sp>
        <p:nvSpPr>
          <p:cNvPr id="9" name="Text 5"/>
          <p:cNvSpPr txBox="1"/>
          <p:nvPr/>
        </p:nvSpPr>
        <p:spPr>
          <a:xfrm>
            <a:off x="8549640" y="1737360"/>
            <a:ext cx="2971800" cy="100584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Delete</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Borders, gridlines, 3D, legends you can label directly</a:t>
            </a:r>
            <a:endParaRPr lang="en-US" sz="1700" dirty="0"/>
          </a:p>
        </p:txBody>
      </p:sp>
      <p:sp>
        <p:nvSpPr>
          <p:cNvPr id="10" name="Shape 6"/>
          <p:cNvSpPr/>
          <p:nvPr/>
        </p:nvSpPr>
        <p:spPr>
          <a:xfrm>
            <a:off x="7772400" y="3017520"/>
            <a:ext cx="3886200" cy="1188720"/>
          </a:xfrm>
          <a:prstGeom prst="roundRect">
            <a:avLst>
              <a:gd name="adj" fmla="val 7692"/>
            </a:avLst>
          </a:prstGeom>
          <a:solidFill>
            <a:srgbClr val="F4F4F4"/>
          </a:solidFill>
          <a:ln w="12700">
            <a:solidFill>
              <a:srgbClr val="F4F4F4"/>
            </a:solidFill>
            <a:prstDash val="solid"/>
          </a:ln>
        </p:spPr>
      </p:sp>
      <p:sp>
        <p:nvSpPr>
          <p:cNvPr id="11" name="Text 7"/>
          <p:cNvSpPr txBox="1"/>
          <p:nvPr/>
        </p:nvSpPr>
        <p:spPr>
          <a:xfrm>
            <a:off x="7955280" y="3200400"/>
            <a:ext cx="548640" cy="822960"/>
          </a:xfrm>
          <a:prstGeom prst="rect">
            <a:avLst/>
          </a:prstGeom>
          <a:noFill/>
          <a:ln/>
        </p:spPr>
        <p:txBody>
          <a:bodyPr wrap="square" lIns="635" tIns="635" rIns="635" bIns="635" rtlCol="0" anchor="ctr"/>
          <a:lstStyle/>
          <a:p>
            <a:pPr indent="0" marL="0">
              <a:buNone/>
            </a:pPr>
            <a:r>
              <a:rPr lang="en-US" sz="3200" b="1" dirty="0">
                <a:solidFill>
                  <a:srgbClr val="E3001B"/>
                </a:solidFill>
                <a:latin typeface="Arial" pitchFamily="34" charset="0"/>
                <a:ea typeface="Arial" pitchFamily="34" charset="-122"/>
                <a:cs typeface="Arial" pitchFamily="34" charset="-120"/>
              </a:rPr>
              <a:t>2</a:t>
            </a:r>
            <a:endParaRPr lang="en-US" sz="3200" dirty="0"/>
          </a:p>
        </p:txBody>
      </p:sp>
      <p:sp>
        <p:nvSpPr>
          <p:cNvPr id="12" name="Text 8"/>
          <p:cNvSpPr txBox="1"/>
          <p:nvPr/>
        </p:nvSpPr>
        <p:spPr>
          <a:xfrm>
            <a:off x="8549640" y="3108960"/>
            <a:ext cx="2971800" cy="100584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Grey</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Make every element grey by default</a:t>
            </a:r>
            <a:endParaRPr lang="en-US" sz="1700" dirty="0"/>
          </a:p>
        </p:txBody>
      </p:sp>
      <p:sp>
        <p:nvSpPr>
          <p:cNvPr id="13" name="Shape 9"/>
          <p:cNvSpPr/>
          <p:nvPr/>
        </p:nvSpPr>
        <p:spPr>
          <a:xfrm>
            <a:off x="7772400" y="4389120"/>
            <a:ext cx="3886200" cy="1188720"/>
          </a:xfrm>
          <a:prstGeom prst="roundRect">
            <a:avLst>
              <a:gd name="adj" fmla="val 7692"/>
            </a:avLst>
          </a:prstGeom>
          <a:solidFill>
            <a:srgbClr val="FDECEE"/>
          </a:solidFill>
          <a:ln w="12700">
            <a:solidFill>
              <a:srgbClr val="FDECEE"/>
            </a:solidFill>
            <a:prstDash val="solid"/>
          </a:ln>
        </p:spPr>
      </p:sp>
      <p:sp>
        <p:nvSpPr>
          <p:cNvPr id="14" name="Text 10"/>
          <p:cNvSpPr txBox="1"/>
          <p:nvPr/>
        </p:nvSpPr>
        <p:spPr>
          <a:xfrm>
            <a:off x="7955280" y="4572000"/>
            <a:ext cx="548640" cy="822960"/>
          </a:xfrm>
          <a:prstGeom prst="rect">
            <a:avLst/>
          </a:prstGeom>
          <a:noFill/>
          <a:ln/>
        </p:spPr>
        <p:txBody>
          <a:bodyPr wrap="square" lIns="635" tIns="635" rIns="635" bIns="635" rtlCol="0" anchor="ctr"/>
          <a:lstStyle/>
          <a:p>
            <a:pPr indent="0" marL="0">
              <a:buNone/>
            </a:pPr>
            <a:r>
              <a:rPr lang="en-US" sz="3200" b="1" dirty="0">
                <a:solidFill>
                  <a:srgbClr val="E3001B"/>
                </a:solidFill>
                <a:latin typeface="Arial" pitchFamily="34" charset="0"/>
                <a:ea typeface="Arial" pitchFamily="34" charset="-122"/>
                <a:cs typeface="Arial" pitchFamily="34" charset="-120"/>
              </a:rPr>
              <a:t>3</a:t>
            </a:r>
            <a:endParaRPr lang="en-US" sz="3200" dirty="0"/>
          </a:p>
        </p:txBody>
      </p:sp>
      <p:sp>
        <p:nvSpPr>
          <p:cNvPr id="15" name="Text 11"/>
          <p:cNvSpPr txBox="1"/>
          <p:nvPr/>
        </p:nvSpPr>
        <p:spPr>
          <a:xfrm>
            <a:off x="8549640" y="4480560"/>
            <a:ext cx="2971800" cy="100584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Highlight</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Colour one thing in red and explain it in the title</a:t>
            </a:r>
            <a:endParaRPr lang="en-US" sz="1700" dirty="0"/>
          </a:p>
        </p:txBody>
      </p:sp>
      <p:sp>
        <p:nvSpPr>
          <p:cNvPr id="16" name="Text 12"/>
          <p:cNvSpPr txBox="1"/>
          <p:nvPr/>
        </p:nvSpPr>
        <p:spPr>
          <a:xfrm>
            <a:off x="548640" y="6035040"/>
            <a:ext cx="91440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Cole Nussbaumer Knaflic, Storytelling with Data  ·  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Makeover 1 · Monthly review: from a KPI dashboard to one story with one chart</a:t>
            </a:r>
            <a:endParaRPr lang="en-US" sz="2600" dirty="0"/>
          </a:p>
        </p:txBody>
      </p:sp>
      <p:sp>
        <p:nvSpPr>
          <p:cNvPr id="4" name="Text 1"/>
          <p:cNvSpPr txBox="1"/>
          <p:nvPr/>
        </p:nvSpPr>
        <p:spPr>
          <a:xfrm>
            <a:off x="548640" y="1508760"/>
            <a:ext cx="118872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5" name="Text 2"/>
          <p:cNvSpPr txBox="1"/>
          <p:nvPr/>
        </p:nvSpPr>
        <p:spPr>
          <a:xfrm>
            <a:off x="6263640" y="1508760"/>
            <a:ext cx="118872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p>
        </p:txBody>
      </p:sp>
      <p:sp>
        <p:nvSpPr>
          <p:cNvPr id="6" name="Shape 3"/>
          <p:cNvSpPr/>
          <p:nvPr/>
        </p:nvSpPr>
        <p:spPr>
          <a:xfrm>
            <a:off x="548640" y="1920240"/>
            <a:ext cx="5394960" cy="3977640"/>
          </a:xfrm>
          <a:prstGeom prst="roundRect">
            <a:avLst>
              <a:gd name="adj" fmla="val 2299"/>
            </a:avLst>
          </a:prstGeom>
          <a:solidFill>
            <a:srgbClr val="F4F4F4"/>
          </a:solidFill>
          <a:ln w="12700">
            <a:solidFill>
              <a:srgbClr val="F4F4F4"/>
            </a:solidFill>
            <a:prstDash val="solid"/>
          </a:ln>
        </p:spPr>
      </p:sp>
      <p:sp>
        <p:nvSpPr>
          <p:cNvPr id="7" name="Text 4"/>
          <p:cNvSpPr txBox="1"/>
          <p:nvPr/>
        </p:nvSpPr>
        <p:spPr>
          <a:xfrm>
            <a:off x="731520" y="2011680"/>
            <a:ext cx="5029200" cy="36576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May Performance Dashboard</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2468880"/>
          <a:ext cx="5029200" cy="914400"/>
        </p:xfrm>
        <a:graphic>
          <a:graphicData uri="http://schemas.openxmlformats.org/drawingml/2006/table">
            <a:tbl>
              <a:tblPr/>
              <a:tblGrid>
                <a:gridCol w="1920240"/>
                <a:gridCol w="777240"/>
                <a:gridCol w="777240"/>
                <a:gridCol w="777240"/>
                <a:gridCol w="777240"/>
              </a:tblGrid>
              <a:tr h="365760">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Mar</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Apr</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c>
                  <a:txBody>
                    <a:bodyPr/>
                    <a:lstStyle/>
                    <a:p>
                      <a:pPr indent="0" marL="0">
                        <a:buNone/>
                      </a:pPr>
                      <a:r>
                        <a:rPr lang="en-US" sz="1100" b="1" dirty="0">
                          <a:solidFill>
                            <a:srgbClr val="555555"/>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E0E0E0"/>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Disbursement (IDR bn)</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410</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459</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450</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Applications ('000)</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Approval rate</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Avg ticket (IDR m)</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30+ DPD MOB3</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App share of sales</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NPS</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FFFFFF"/>
                    </a:solidFill>
                  </a:tcPr>
                </a:tc>
              </a:tr>
            </a:tbl>
          </a:graphicData>
        </a:graphic>
      </p:graphicFrame>
      <p:sp>
        <p:nvSpPr>
          <p:cNvPr id="9" name="Shape 5"/>
          <p:cNvSpPr/>
          <p:nvPr/>
        </p:nvSpPr>
        <p:spPr>
          <a:xfrm>
            <a:off x="6263640" y="1920240"/>
            <a:ext cx="5394960" cy="3977640"/>
          </a:xfrm>
          <a:prstGeom prst="roundRect">
            <a:avLst>
              <a:gd name="adj" fmla="val 2299"/>
            </a:avLst>
          </a:prstGeom>
          <a:solidFill>
            <a:srgbClr val="FFFFFF"/>
          </a:solidFill>
          <a:ln w="19050">
            <a:solidFill>
              <a:srgbClr val="E3001B"/>
            </a:solidFill>
            <a:prstDash val="solid"/>
          </a:ln>
        </p:spPr>
      </p:sp>
      <p:sp>
        <p:nvSpPr>
          <p:cNvPr id="10" name="Text 6"/>
          <p:cNvSpPr txBox="1"/>
          <p:nvPr/>
        </p:nvSpPr>
        <p:spPr>
          <a:xfrm>
            <a:off x="6446520" y="2011680"/>
            <a:ext cx="5029200" cy="82296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Disbursement beat target, but approval rate fell 5 pts in May — the new score cut-off is the cause</a:t>
            </a:r>
            <a:endParaRPr lang="en-US" sz="1500" dirty="0"/>
          </a:p>
        </p:txBody>
      </p:sp>
      <p:sp>
        <p:nvSpPr>
          <p:cNvPr id="11" name="Text 7"/>
          <p:cNvSpPr txBox="1"/>
          <p:nvPr/>
        </p:nvSpPr>
        <p:spPr>
          <a:xfrm>
            <a:off x="6446520" y="2834640"/>
            <a:ext cx="2743200" cy="27432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Approval rate, %</a:t>
            </a:r>
            <a:endParaRPr lang="en-US" sz="1200" dirty="0"/>
          </a:p>
        </p:txBody>
      </p:sp>
      <p:graphicFrame>
        <p:nvGraphicFramePr>
          <p:cNvPr id="12" name="Chart 0" descr=""/>
          <p:cNvGraphicFramePr/>
          <p:nvPr/>
        </p:nvGraphicFramePr>
        <p:xfrm>
          <a:off x="6355080" y="3063240"/>
          <a:ext cx="3657600" cy="2651760"/>
        </p:xfrm>
        <a:graphic xmlns:a="http://schemas.openxmlformats.org/drawingml/2006/main">
          <a:graphicData uri="http://schemas.openxmlformats.org/drawingml/2006/chart">
            <c:chart xmlns:c="http://schemas.openxmlformats.org/drawingml/2006/chart" r:id="rId1"/>
          </a:graphicData>
        </a:graphic>
      </p:graphicFrame>
      <p:sp>
        <p:nvSpPr>
          <p:cNvPr id="13" name="Text 8"/>
          <p:cNvSpPr txBox="1"/>
          <p:nvPr/>
        </p:nvSpPr>
        <p:spPr>
          <a:xfrm>
            <a:off x="10058400" y="3291840"/>
            <a:ext cx="1508760" cy="1828800"/>
          </a:xfrm>
          <a:prstGeom prst="rect">
            <a:avLst/>
          </a:prstGeom>
          <a:noFill/>
          <a:ln/>
        </p:spPr>
        <p:txBody>
          <a:bodyPr wrap="square" lIns="635" tIns="635" rIns="635" bIns="635" rtlCol="0" anchor="t"/>
          <a:lstStyle/>
          <a:p>
            <a:pPr indent="0" marL="0">
              <a:buNone/>
            </a:pPr>
            <a:r>
              <a:rPr lang="en-US" sz="1300" b="1" dirty="0">
                <a:solidFill>
                  <a:srgbClr val="E3001B"/>
                </a:solidFill>
                <a:latin typeface="Calibri" pitchFamily="34" charset="0"/>
                <a:ea typeface="Calibri" pitchFamily="34" charset="-122"/>
                <a:cs typeface="Calibri" pitchFamily="34" charset="-120"/>
              </a:rPr>
              <a:t>Why: </a:t>
            </a:r>
            <a:pPr indent="0" marL="0">
              <a:buNone/>
            </a:pPr>
            <a:r>
              <a:rPr lang="en-US" sz="1300" dirty="0">
                <a:solidFill>
                  <a:srgbClr val="1A1A1A"/>
                </a:solidFill>
                <a:latin typeface="Calibri" pitchFamily="34" charset="0"/>
                <a:ea typeface="Calibri" pitchFamily="34" charset="-122"/>
                <a:cs typeface="Calibri" pitchFamily="34" charset="-120"/>
              </a:rPr>
              <a:t>cut-off raised on 2 May for first-time borrowers</a:t>
            </a:r>
            <a:endParaRPr lang="en-US" sz="1300" dirty="0"/>
          </a:p>
        </p:txBody>
      </p:sp>
      <p:sp>
        <p:nvSpPr>
          <p:cNvPr id="14" name="Text 9"/>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Makeover 2 · App proposal: from a wall of text to three numbers and a clear ask</a:t>
            </a:r>
            <a:endParaRPr lang="en-US" sz="2600" dirty="0"/>
          </a:p>
        </p:txBody>
      </p:sp>
      <p:sp>
        <p:nvSpPr>
          <p:cNvPr id="4" name="Text 1"/>
          <p:cNvSpPr txBox="1"/>
          <p:nvPr/>
        </p:nvSpPr>
        <p:spPr>
          <a:xfrm>
            <a:off x="548640" y="1508760"/>
            <a:ext cx="118872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5" name="Text 2"/>
          <p:cNvSpPr txBox="1"/>
          <p:nvPr/>
        </p:nvSpPr>
        <p:spPr>
          <a:xfrm>
            <a:off x="6263640" y="1508760"/>
            <a:ext cx="118872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p>
        </p:txBody>
      </p:sp>
      <p:sp>
        <p:nvSpPr>
          <p:cNvPr id="6" name="Shape 3"/>
          <p:cNvSpPr/>
          <p:nvPr/>
        </p:nvSpPr>
        <p:spPr>
          <a:xfrm>
            <a:off x="548640" y="1920240"/>
            <a:ext cx="5394960" cy="3977640"/>
          </a:xfrm>
          <a:prstGeom prst="roundRect">
            <a:avLst>
              <a:gd name="adj" fmla="val 2299"/>
            </a:avLst>
          </a:prstGeom>
          <a:solidFill>
            <a:srgbClr val="F4F4F4"/>
          </a:solidFill>
          <a:ln w="12700">
            <a:solidFill>
              <a:srgbClr val="F4F4F4"/>
            </a:solidFill>
            <a:prstDash val="solid"/>
          </a:ln>
        </p:spPr>
      </p:sp>
      <p:sp>
        <p:nvSpPr>
          <p:cNvPr id="7" name="Text 4"/>
          <p:cNvSpPr txBox="1"/>
          <p:nvPr/>
        </p:nvSpPr>
        <p:spPr>
          <a:xfrm>
            <a:off x="731520" y="2011680"/>
            <a:ext cx="5029200" cy="36576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Project Update: Smart Reminder Feature</a:t>
            </a:r>
            <a:endParaRPr lang="en-US" sz="1500" dirty="0"/>
          </a:p>
        </p:txBody>
      </p:sp>
      <p:sp>
        <p:nvSpPr>
          <p:cNvPr id="8" name="Text 5"/>
          <p:cNvSpPr txBox="1"/>
          <p:nvPr/>
        </p:nvSpPr>
        <p:spPr>
          <a:xfrm>
            <a:off x="731520" y="2423160"/>
            <a:ext cx="5029200" cy="3383280"/>
          </a:xfrm>
          <a:prstGeom prst="rect">
            <a:avLst/>
          </a:prstGeom>
          <a:noFill/>
          <a:ln/>
        </p:spPr>
        <p:txBody>
          <a:bodyPr wrap="square" lIns="635" tIns="635" rIns="635" bIns="635" rtlCol="0" anchor="t"/>
          <a:lstStyle/>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Background: digital team explored reminder features since Q3 last year</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Several vendors evaluated, 2 shortlisted, internal build preferred</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Pilot ran 8 weeks with ~20k customers in 3 cities</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On-time payment improved in pilot group vs control (approx. 3.5 pts)</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Some customers reported too many notifications in week 2</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Build cost estimated around IDR 1.2 bn incl. QA and security review</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Potential collection cost reduction, est. IDR 4 bn per year</a:t>
            </a:r>
            <a:endParaRPr lang="en-US" sz="1200" dirty="0"/>
          </a:p>
          <a:p>
            <a:pPr marL="342900" indent="-342900">
              <a:buSzPct val="100000"/>
              <a:buChar char="•"/>
            </a:pPr>
            <a:r>
              <a:rPr lang="en-US" sz="1200" dirty="0">
                <a:solidFill>
                  <a:srgbClr val="555555"/>
                </a:solidFill>
                <a:latin typeface="Calibri" pitchFamily="34" charset="0"/>
                <a:ea typeface="Calibri" pitchFamily="34" charset="-122"/>
                <a:cs typeface="Calibri" pitchFamily="34" charset="-120"/>
              </a:rPr>
              <a:t>Next steps: align with IT, legal, marketing; timeline TBD</a:t>
            </a:r>
            <a:endParaRPr lang="en-US" sz="1200" dirty="0"/>
          </a:p>
        </p:txBody>
      </p:sp>
      <p:sp>
        <p:nvSpPr>
          <p:cNvPr id="9" name="Shape 6"/>
          <p:cNvSpPr/>
          <p:nvPr/>
        </p:nvSpPr>
        <p:spPr>
          <a:xfrm>
            <a:off x="6263640" y="1920240"/>
            <a:ext cx="5394960" cy="3977640"/>
          </a:xfrm>
          <a:prstGeom prst="roundRect">
            <a:avLst>
              <a:gd name="adj" fmla="val 2299"/>
            </a:avLst>
          </a:prstGeom>
          <a:solidFill>
            <a:srgbClr val="FFFFFF"/>
          </a:solidFill>
          <a:ln w="19050">
            <a:solidFill>
              <a:srgbClr val="E3001B"/>
            </a:solidFill>
            <a:prstDash val="solid"/>
          </a:ln>
        </p:spPr>
      </p:sp>
      <p:sp>
        <p:nvSpPr>
          <p:cNvPr id="10" name="Text 7"/>
          <p:cNvSpPr txBox="1"/>
          <p:nvPr/>
        </p:nvSpPr>
        <p:spPr>
          <a:xfrm>
            <a:off x="6446520" y="2011680"/>
            <a:ext cx="5029200" cy="82296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Approve IDR 1.2 bn to roll out 1-tap reminders: the pilot lifted on-time payment 3.5 pts</a:t>
            </a:r>
            <a:endParaRPr lang="en-US" sz="1500" dirty="0"/>
          </a:p>
        </p:txBody>
      </p:sp>
      <p:sp>
        <p:nvSpPr>
          <p:cNvPr id="11" name="Text 8"/>
          <p:cNvSpPr txBox="1"/>
          <p:nvPr/>
        </p:nvSpPr>
        <p:spPr>
          <a:xfrm>
            <a:off x="6446520" y="2971800"/>
            <a:ext cx="1600200" cy="731520"/>
          </a:xfrm>
          <a:prstGeom prst="rect">
            <a:avLst/>
          </a:prstGeom>
          <a:noFill/>
          <a:ln/>
        </p:spPr>
        <p:txBody>
          <a:bodyPr wrap="square" lIns="635" tIns="635" rIns="635" bIns="635" rtlCol="0" anchor="ctr"/>
          <a:lstStyle/>
          <a:p>
            <a:pPr algn="ctr" indent="0" marL="0">
              <a:buNone/>
            </a:pPr>
            <a:r>
              <a:rPr lang="en-US" sz="2400" b="1" dirty="0">
                <a:solidFill>
                  <a:srgbClr val="E3001B"/>
                </a:solidFill>
                <a:latin typeface="Arial" pitchFamily="34" charset="0"/>
                <a:ea typeface="Arial" pitchFamily="34" charset="-122"/>
                <a:cs typeface="Arial" pitchFamily="34" charset="-120"/>
              </a:rPr>
              <a:t>+3.5 pts</a:t>
            </a:r>
            <a:endParaRPr lang="en-US" sz="2400" dirty="0"/>
          </a:p>
        </p:txBody>
      </p:sp>
      <p:sp>
        <p:nvSpPr>
          <p:cNvPr id="12" name="Text 9"/>
          <p:cNvSpPr txBox="1"/>
          <p:nvPr/>
        </p:nvSpPr>
        <p:spPr>
          <a:xfrm>
            <a:off x="6446520" y="3703320"/>
            <a:ext cx="1600200" cy="8229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on-time payment, 20k-user pilot</a:t>
            </a:r>
            <a:endParaRPr lang="en-US" sz="1300" dirty="0"/>
          </a:p>
        </p:txBody>
      </p:sp>
      <p:sp>
        <p:nvSpPr>
          <p:cNvPr id="13" name="Text 10"/>
          <p:cNvSpPr txBox="1"/>
          <p:nvPr/>
        </p:nvSpPr>
        <p:spPr>
          <a:xfrm>
            <a:off x="8138160" y="2971800"/>
            <a:ext cx="1600200" cy="731520"/>
          </a:xfrm>
          <a:prstGeom prst="rect">
            <a:avLst/>
          </a:prstGeom>
          <a:noFill/>
          <a:ln/>
        </p:spPr>
        <p:txBody>
          <a:bodyPr wrap="square" lIns="635" tIns="635" rIns="635" bIns="635" rtlCol="0" anchor="ctr"/>
          <a:lstStyle/>
          <a:p>
            <a:pPr algn="ctr" indent="0" marL="0">
              <a:buNone/>
            </a:pPr>
            <a:r>
              <a:rPr lang="en-US" sz="2400" b="1" dirty="0">
                <a:solidFill>
                  <a:srgbClr val="E3001B"/>
                </a:solidFill>
                <a:latin typeface="Arial" pitchFamily="34" charset="0"/>
                <a:ea typeface="Arial" pitchFamily="34" charset="-122"/>
                <a:cs typeface="Arial" pitchFamily="34" charset="-120"/>
              </a:rPr>
              <a:t>IDR 4.0 bn</a:t>
            </a:r>
            <a:endParaRPr lang="en-US" sz="2400" dirty="0"/>
          </a:p>
        </p:txBody>
      </p:sp>
      <p:sp>
        <p:nvSpPr>
          <p:cNvPr id="14" name="Text 11"/>
          <p:cNvSpPr txBox="1"/>
          <p:nvPr/>
        </p:nvSpPr>
        <p:spPr>
          <a:xfrm>
            <a:off x="8138160" y="3703320"/>
            <a:ext cx="1600200" cy="8229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lower collection cost per year</a:t>
            </a:r>
            <a:endParaRPr lang="en-US" sz="1300" dirty="0"/>
          </a:p>
        </p:txBody>
      </p:sp>
      <p:sp>
        <p:nvSpPr>
          <p:cNvPr id="15" name="Text 12"/>
          <p:cNvSpPr txBox="1"/>
          <p:nvPr/>
        </p:nvSpPr>
        <p:spPr>
          <a:xfrm>
            <a:off x="9829800" y="2971800"/>
            <a:ext cx="1600200" cy="731520"/>
          </a:xfrm>
          <a:prstGeom prst="rect">
            <a:avLst/>
          </a:prstGeom>
          <a:noFill/>
          <a:ln/>
        </p:spPr>
        <p:txBody>
          <a:bodyPr wrap="square" lIns="635" tIns="635" rIns="635" bIns="635" rtlCol="0" anchor="ctr"/>
          <a:lstStyle/>
          <a:p>
            <a:pPr algn="ctr" indent="0" marL="0">
              <a:buNone/>
            </a:pPr>
            <a:r>
              <a:rPr lang="en-US" sz="2400" b="1" dirty="0">
                <a:solidFill>
                  <a:srgbClr val="E3001B"/>
                </a:solidFill>
                <a:latin typeface="Arial" pitchFamily="34" charset="0"/>
                <a:ea typeface="Arial" pitchFamily="34" charset="-122"/>
                <a:cs typeface="Arial" pitchFamily="34" charset="-120"/>
              </a:rPr>
              <a:t>&lt; 6 mo</a:t>
            </a:r>
            <a:endParaRPr lang="en-US" sz="2400" dirty="0"/>
          </a:p>
        </p:txBody>
      </p:sp>
      <p:sp>
        <p:nvSpPr>
          <p:cNvPr id="16" name="Text 13"/>
          <p:cNvSpPr txBox="1"/>
          <p:nvPr/>
        </p:nvSpPr>
        <p:spPr>
          <a:xfrm>
            <a:off x="9829800" y="3703320"/>
            <a:ext cx="1600200" cy="8229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payback on IDR 1.2 bn build</a:t>
            </a:r>
            <a:endParaRPr lang="en-US" sz="1300" dirty="0"/>
          </a:p>
        </p:txBody>
      </p:sp>
      <p:sp>
        <p:nvSpPr>
          <p:cNvPr id="17" name="Shape 14"/>
          <p:cNvSpPr/>
          <p:nvPr/>
        </p:nvSpPr>
        <p:spPr>
          <a:xfrm>
            <a:off x="6446520" y="4754880"/>
            <a:ext cx="5029200" cy="914400"/>
          </a:xfrm>
          <a:prstGeom prst="roundRect">
            <a:avLst>
              <a:gd name="adj" fmla="val 10000"/>
            </a:avLst>
          </a:prstGeom>
          <a:solidFill>
            <a:srgbClr val="FDECEE"/>
          </a:solidFill>
          <a:ln w="12700">
            <a:solidFill>
              <a:srgbClr val="FDECEE"/>
            </a:solidFill>
            <a:prstDash val="solid"/>
          </a:ln>
        </p:spPr>
      </p:sp>
      <p:sp>
        <p:nvSpPr>
          <p:cNvPr id="18" name="Text 15"/>
          <p:cNvSpPr txBox="1"/>
          <p:nvPr/>
        </p:nvSpPr>
        <p:spPr>
          <a:xfrm>
            <a:off x="6583680" y="4800600"/>
            <a:ext cx="4754880" cy="82296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Decision today: </a:t>
            </a:r>
            <a:pPr indent="0" marL="0">
              <a:buNone/>
            </a:pPr>
            <a:r>
              <a:rPr lang="en-US" sz="1400" dirty="0">
                <a:solidFill>
                  <a:srgbClr val="1A1A1A"/>
                </a:solidFill>
                <a:latin typeface="Calibri" pitchFamily="34" charset="0"/>
                <a:ea typeface="Calibri" pitchFamily="34" charset="-122"/>
                <a:cs typeface="Calibri" pitchFamily="34" charset="-120"/>
              </a:rPr>
              <a:t>approve budget and July launch; cap at 2 reminders per cycle</a:t>
            </a:r>
            <a:endParaRPr lang="en-US" sz="1400" dirty="0"/>
          </a:p>
        </p:txBody>
      </p:sp>
      <p:sp>
        <p:nvSpPr>
          <p:cNvPr id="19" name="Text 16"/>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Makeover 3 · Partner sales: from a pie chart to a line that shows when and why</a:t>
            </a:r>
            <a:endParaRPr lang="en-US" sz="2600" dirty="0"/>
          </a:p>
        </p:txBody>
      </p:sp>
      <p:sp>
        <p:nvSpPr>
          <p:cNvPr id="4" name="Text 1"/>
          <p:cNvSpPr txBox="1"/>
          <p:nvPr/>
        </p:nvSpPr>
        <p:spPr>
          <a:xfrm>
            <a:off x="548640" y="1508760"/>
            <a:ext cx="1188720" cy="329184"/>
          </a:xfrm>
          <a:prstGeom prst="roundRect">
            <a:avLst>
              <a:gd name="adj" fmla="val 50000"/>
            </a:avLst>
          </a:prstGeom>
          <a:solidFill>
            <a:srgbClr val="6B6B6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5" name="Text 2"/>
          <p:cNvSpPr txBox="1"/>
          <p:nvPr/>
        </p:nvSpPr>
        <p:spPr>
          <a:xfrm>
            <a:off x="6263640" y="1508760"/>
            <a:ext cx="118872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a:t>
            </a:r>
            <a:endParaRPr lang="en-US" sz="1200" dirty="0"/>
          </a:p>
        </p:txBody>
      </p:sp>
      <p:sp>
        <p:nvSpPr>
          <p:cNvPr id="6" name="Shape 3"/>
          <p:cNvSpPr/>
          <p:nvPr/>
        </p:nvSpPr>
        <p:spPr>
          <a:xfrm>
            <a:off x="548640" y="1920240"/>
            <a:ext cx="5394960" cy="3977640"/>
          </a:xfrm>
          <a:prstGeom prst="roundRect">
            <a:avLst>
              <a:gd name="adj" fmla="val 2299"/>
            </a:avLst>
          </a:prstGeom>
          <a:solidFill>
            <a:srgbClr val="F4F4F4"/>
          </a:solidFill>
          <a:ln w="12700">
            <a:solidFill>
              <a:srgbClr val="F4F4F4"/>
            </a:solidFill>
            <a:prstDash val="solid"/>
          </a:ln>
        </p:spPr>
      </p:sp>
      <p:sp>
        <p:nvSpPr>
          <p:cNvPr id="7" name="Text 4"/>
          <p:cNvSpPr txBox="1"/>
          <p:nvPr/>
        </p:nvSpPr>
        <p:spPr>
          <a:xfrm>
            <a:off x="731520" y="2011680"/>
            <a:ext cx="5029200" cy="365760"/>
          </a:xfrm>
          <a:prstGeom prst="rect">
            <a:avLst/>
          </a:prstGeom>
          <a:noFill/>
          <a:ln/>
        </p:spPr>
        <p:txBody>
          <a:bodyPr wrap="square" lIns="635" tIns="635" rIns="635" bIns="635"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Sulawesi Partner Sales H1</a:t>
            </a:r>
            <a:endParaRPr lang="en-US" sz="1500" dirty="0"/>
          </a:p>
        </p:txBody>
      </p:sp>
      <p:graphicFrame>
        <p:nvGraphicFramePr>
          <p:cNvPr id="8" name="Chart 0" descr=""/>
          <p:cNvGraphicFramePr/>
          <p:nvPr/>
        </p:nvGraphicFramePr>
        <p:xfrm>
          <a:off x="822960" y="237744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263640" y="1920240"/>
            <a:ext cx="5394960" cy="3977640"/>
          </a:xfrm>
          <a:prstGeom prst="roundRect">
            <a:avLst>
              <a:gd name="adj" fmla="val 2299"/>
            </a:avLst>
          </a:prstGeom>
          <a:solidFill>
            <a:srgbClr val="FFFFFF"/>
          </a:solidFill>
          <a:ln w="19050">
            <a:solidFill>
              <a:srgbClr val="E3001B"/>
            </a:solidFill>
            <a:prstDash val="solid"/>
          </a:ln>
        </p:spPr>
      </p:sp>
      <p:sp>
        <p:nvSpPr>
          <p:cNvPr id="10" name="Text 6"/>
          <p:cNvSpPr txBox="1"/>
          <p:nvPr/>
        </p:nvSpPr>
        <p:spPr>
          <a:xfrm>
            <a:off x="6446520" y="2011680"/>
            <a:ext cx="5029200" cy="82296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Sulawesi partner sales fell 18% from March, the month a competitor launched 0% instalments</a:t>
            </a:r>
            <a:endParaRPr lang="en-US" sz="1500" dirty="0"/>
          </a:p>
        </p:txBody>
      </p:sp>
      <p:sp>
        <p:nvSpPr>
          <p:cNvPr id="11" name="Text 7"/>
          <p:cNvSpPr txBox="1"/>
          <p:nvPr/>
        </p:nvSpPr>
        <p:spPr>
          <a:xfrm>
            <a:off x="6446520" y="2834640"/>
            <a:ext cx="2743200" cy="274320"/>
          </a:xfrm>
          <a:prstGeom prst="rect">
            <a:avLst/>
          </a:prstGeom>
          <a:noFill/>
          <a:ln/>
        </p:spPr>
        <p:txBody>
          <a:bodyPr wrap="square" lIns="635" tIns="635" rIns="635" bIns="635"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POS loan volume, IDR bn</a:t>
            </a:r>
            <a:endParaRPr lang="en-US" sz="1200" dirty="0"/>
          </a:p>
        </p:txBody>
      </p:sp>
      <p:graphicFrame>
        <p:nvGraphicFramePr>
          <p:cNvPr id="12" name="Chart 1" descr=""/>
          <p:cNvGraphicFramePr/>
          <p:nvPr/>
        </p:nvGraphicFramePr>
        <p:xfrm>
          <a:off x="6355080" y="3063240"/>
          <a:ext cx="5120640" cy="2697480"/>
        </p:xfrm>
        <a:graphic xmlns:a="http://schemas.openxmlformats.org/drawingml/2006/main">
          <a:graphicData uri="http://schemas.openxmlformats.org/drawingml/2006/chart">
            <c:chart xmlns:c="http://schemas.openxmlformats.org/drawingml/2006/chart" r:id="rId2"/>
          </a:graphicData>
        </a:graphic>
      </p:graphicFrame>
      <p:sp>
        <p:nvSpPr>
          <p:cNvPr id="13" name="Shape 8"/>
          <p:cNvSpPr/>
          <p:nvPr/>
        </p:nvSpPr>
        <p:spPr>
          <a:xfrm>
            <a:off x="9098280" y="3200400"/>
            <a:ext cx="0" cy="2148840"/>
          </a:xfrm>
          <a:prstGeom prst="line">
            <a:avLst/>
          </a:prstGeom>
          <a:noFill/>
          <a:ln w="12700">
            <a:solidFill>
              <a:srgbClr val="6B6B6B"/>
            </a:solidFill>
            <a:prstDash val="dash"/>
          </a:ln>
        </p:spPr>
      </p:sp>
      <p:sp>
        <p:nvSpPr>
          <p:cNvPr id="14" name="Text 9"/>
          <p:cNvSpPr txBox="1"/>
          <p:nvPr/>
        </p:nvSpPr>
        <p:spPr>
          <a:xfrm>
            <a:off x="9189720" y="3108960"/>
            <a:ext cx="2286000" cy="320040"/>
          </a:xfrm>
          <a:prstGeom prst="rect">
            <a:avLst/>
          </a:prstGeom>
          <a:noFill/>
          <a:ln/>
        </p:spPr>
        <p:txBody>
          <a:bodyPr wrap="square" lIns="635" tIns="635" rIns="635" bIns="635" rtlCol="0" anchor="ctr"/>
          <a:lstStyle/>
          <a:p>
            <a:pPr indent="0" marL="0">
              <a:buNone/>
            </a:pPr>
            <a:r>
              <a:rPr lang="en-US" sz="1200" b="1" dirty="0">
                <a:solidFill>
                  <a:srgbClr val="6B6B6B"/>
                </a:solidFill>
                <a:latin typeface="Calibri" pitchFamily="34" charset="0"/>
                <a:ea typeface="Calibri" pitchFamily="34" charset="-122"/>
                <a:cs typeface="Calibri" pitchFamily="34" charset="-120"/>
              </a:rPr>
              <a:t>Competitor 0% promo starts</a:t>
            </a:r>
            <a:endParaRPr lang="en-US" sz="1200" dirty="0"/>
          </a:p>
        </p:txBody>
      </p:sp>
      <p:sp>
        <p:nvSpPr>
          <p:cNvPr id="15" name="Text 10"/>
          <p:cNvSpPr txBox="1"/>
          <p:nvPr/>
        </p:nvSpPr>
        <p:spPr>
          <a:xfrm>
            <a:off x="548640" y="6144768"/>
            <a:ext cx="64008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Illustrative data — not actual Home Credit figures</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9E0012"/>
                </a:solidFill>
                <a:latin typeface="Arial" pitchFamily="34" charset="0"/>
                <a:ea typeface="Arial" pitchFamily="34" charset="-122"/>
                <a:cs typeface="Arial" pitchFamily="34" charset="-120"/>
              </a:rPr>
              <a:t>Exercise 3 · Make over one slide from your storyline in 10 minutes</a:t>
            </a:r>
            <a:endParaRPr lang="en-US" sz="2600" dirty="0"/>
          </a:p>
        </p:txBody>
      </p:sp>
      <p:sp>
        <p:nvSpPr>
          <p:cNvPr id="4" name="Text 1"/>
          <p:cNvSpPr txBox="1"/>
          <p:nvPr/>
        </p:nvSpPr>
        <p:spPr>
          <a:xfrm>
            <a:off x="548640" y="160020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2"/>
          <p:cNvSpPr txBox="1"/>
          <p:nvPr/>
        </p:nvSpPr>
        <p:spPr>
          <a:xfrm>
            <a:off x="1143000" y="155448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Pick one slide from your sticky-note storyline</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Its sticky note becomes the action title</a:t>
            </a:r>
            <a:endParaRPr lang="en-US" sz="1500" dirty="0"/>
          </a:p>
        </p:txBody>
      </p:sp>
      <p:sp>
        <p:nvSpPr>
          <p:cNvPr id="6" name="Text 3"/>
          <p:cNvSpPr txBox="1"/>
          <p:nvPr/>
        </p:nvSpPr>
        <p:spPr>
          <a:xfrm>
            <a:off x="548640" y="260604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Text 4"/>
          <p:cNvSpPr txBox="1"/>
          <p:nvPr/>
        </p:nvSpPr>
        <p:spPr>
          <a:xfrm>
            <a:off x="1143000" y="256032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Choose the chart from the message</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Compare · change · part · relationship · one number</a:t>
            </a:r>
            <a:endParaRPr lang="en-US" sz="1500" dirty="0"/>
          </a:p>
        </p:txBody>
      </p:sp>
      <p:sp>
        <p:nvSpPr>
          <p:cNvPr id="8" name="Text 5"/>
          <p:cNvSpPr txBox="1"/>
          <p:nvPr/>
        </p:nvSpPr>
        <p:spPr>
          <a:xfrm>
            <a:off x="548640" y="361188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9" name="Text 6"/>
          <p:cNvSpPr txBox="1"/>
          <p:nvPr/>
        </p:nvSpPr>
        <p:spPr>
          <a:xfrm>
            <a:off x="1143000" y="356616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Delete, grey, highlight</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Remove clutter; one red highlight only</a:t>
            </a:r>
            <a:endParaRPr lang="en-US" sz="1500" dirty="0"/>
          </a:p>
        </p:txBody>
      </p:sp>
      <p:sp>
        <p:nvSpPr>
          <p:cNvPr id="10" name="Text 7"/>
          <p:cNvSpPr txBox="1"/>
          <p:nvPr/>
        </p:nvSpPr>
        <p:spPr>
          <a:xfrm>
            <a:off x="548640" y="4617720"/>
            <a:ext cx="457200" cy="457200"/>
          </a:xfrm>
          <a:prstGeom prst="ellipse">
            <a:avLst/>
          </a:prstGeom>
          <a:solidFill>
            <a:srgbClr val="E3001B"/>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1" name="Text 8"/>
          <p:cNvSpPr txBox="1"/>
          <p:nvPr/>
        </p:nvSpPr>
        <p:spPr>
          <a:xfrm>
            <a:off x="1143000" y="4572000"/>
            <a:ext cx="5440680" cy="960120"/>
          </a:xfrm>
          <a:prstGeom prst="rect">
            <a:avLst/>
          </a:prstGeom>
          <a:noFill/>
          <a:ln/>
        </p:spPr>
        <p:txBody>
          <a:bodyPr wrap="square" lIns="635" tIns="635" rIns="635" bIns="635" rtlCol="0" anchor="t"/>
          <a:lstStyle/>
          <a:p>
            <a:pPr indent="0" marL="0">
              <a:buNone/>
            </a:pPr>
            <a:r>
              <a:rPr lang="en-US" sz="1500" b="1" dirty="0">
                <a:solidFill>
                  <a:srgbClr val="1A1A1A"/>
                </a:solidFill>
                <a:latin typeface="Calibri" pitchFamily="34" charset="0"/>
                <a:ea typeface="Calibri" pitchFamily="34" charset="-122"/>
                <a:cs typeface="Calibri" pitchFamily="34" charset="-120"/>
              </a:rPr>
              <a:t>Swap and check (3 min)</a:t>
            </a:r>
            <a:endParaRPr lang="en-US" sz="1500" dirty="0"/>
          </a:p>
          <a:p>
            <a:pPr indent="0" marL="0">
              <a:buNone/>
            </a:pPr>
            <a:r>
              <a:rPr lang="en-US" sz="1400" dirty="0">
                <a:solidFill>
                  <a:srgbClr val="6B6B6B"/>
                </a:solidFill>
                <a:latin typeface="Calibri" pitchFamily="34" charset="0"/>
                <a:ea typeface="Calibri" pitchFamily="34" charset="-122"/>
                <a:cs typeface="Calibri" pitchFamily="34" charset="-120"/>
              </a:rPr>
              <a:t>Another group: does the title match what the chart shows in 5 seconds?</a:t>
            </a:r>
            <a:endParaRPr lang="en-US" sz="1500" dirty="0"/>
          </a:p>
        </p:txBody>
      </p:sp>
      <p:sp>
        <p:nvSpPr>
          <p:cNvPr id="12" name="Shape 9"/>
          <p:cNvSpPr/>
          <p:nvPr/>
        </p:nvSpPr>
        <p:spPr>
          <a:xfrm>
            <a:off x="7086600" y="1600200"/>
            <a:ext cx="4572000" cy="3840480"/>
          </a:xfrm>
          <a:prstGeom prst="roundRect">
            <a:avLst>
              <a:gd name="adj" fmla="val 2381"/>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sp>
        <p:nvSpPr>
          <p:cNvPr id="13" name="Shape 10"/>
          <p:cNvSpPr/>
          <p:nvPr/>
        </p:nvSpPr>
        <p:spPr>
          <a:xfrm>
            <a:off x="8915400" y="1783080"/>
            <a:ext cx="914400" cy="914400"/>
          </a:xfrm>
          <a:prstGeom prst="ellipse">
            <a:avLst/>
          </a:prstGeom>
          <a:solidFill>
            <a:srgbClr val="E3001B"/>
          </a:solidFill>
          <a:ln w="12700">
            <a:solidFill>
              <a:srgbClr val="E3001B"/>
            </a:solidFill>
            <a:prstDash val="solid"/>
          </a:ln>
        </p:spPr>
      </p:sp>
      <p:pic>
        <p:nvPicPr>
          <p:cNvPr id="14" name="Image 0" descr="preencoded.png">    </p:cNvPr>
          <p:cNvPicPr>
            <a:picLocks noChangeAspect="1"/>
          </p:cNvPicPr>
          <p:nvPr/>
        </p:nvPicPr>
        <p:blipFill>
          <a:blip r:embed="rId1"/>
          <a:stretch>
            <a:fillRect/>
          </a:stretch>
        </p:blipFill>
        <p:spPr>
          <a:xfrm>
            <a:off x="9171432" y="2039112"/>
            <a:ext cx="402336" cy="402336"/>
          </a:xfrm>
          <a:prstGeom prst="rect">
            <a:avLst/>
          </a:prstGeom>
        </p:spPr>
      </p:pic>
      <p:sp>
        <p:nvSpPr>
          <p:cNvPr id="15" name="Text 11"/>
          <p:cNvSpPr txBox="1"/>
          <p:nvPr/>
        </p:nvSpPr>
        <p:spPr>
          <a:xfrm>
            <a:off x="7315200" y="2788920"/>
            <a:ext cx="4114800" cy="411480"/>
          </a:xfrm>
          <a:prstGeom prst="rect">
            <a:avLst/>
          </a:prstGeom>
          <a:noFill/>
          <a:ln/>
        </p:spPr>
        <p:txBody>
          <a:bodyPr wrap="square" lIns="635" tIns="635" rIns="635" bIns="635" rtlCol="0" anchor="ctr"/>
          <a:lstStyle/>
          <a:p>
            <a:pPr algn="ctr" indent="0" marL="0">
              <a:buNone/>
            </a:pPr>
            <a:r>
              <a:rPr lang="en-US" sz="1700" b="1" dirty="0">
                <a:solidFill>
                  <a:srgbClr val="9E0012"/>
                </a:solidFill>
                <a:latin typeface="Calibri" pitchFamily="34" charset="0"/>
                <a:ea typeface="Calibri" pitchFamily="34" charset="-122"/>
                <a:cs typeface="Calibri" pitchFamily="34" charset="-120"/>
              </a:rPr>
              <a:t>Self-check before you swap</a:t>
            </a:r>
            <a:endParaRPr lang="en-US" sz="1700" dirty="0"/>
          </a:p>
        </p:txBody>
      </p:sp>
      <p:sp>
        <p:nvSpPr>
          <p:cNvPr id="16" name="Text 12"/>
          <p:cNvSpPr txBox="1"/>
          <p:nvPr/>
        </p:nvSpPr>
        <p:spPr>
          <a:xfrm>
            <a:off x="7406640" y="3246120"/>
            <a:ext cx="4023360" cy="201168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Title is a full-sentence takeaway</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One message, one chart</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Only one thing in red</a:t>
            </a:r>
            <a:endParaRPr lang="en-US" sz="1600" dirty="0"/>
          </a:p>
          <a:p>
            <a:pPr marL="342900" indent="-342900">
              <a:spcAft>
                <a:spcPts val="800"/>
              </a:spcAft>
              <a:buSzPct val="100000"/>
              <a:buChar char="•"/>
            </a:pPr>
            <a:r>
              <a:rPr lang="en-US" sz="1600" dirty="0">
                <a:solidFill>
                  <a:srgbClr val="1A1A1A"/>
                </a:solidFill>
                <a:latin typeface="Calibri" pitchFamily="34" charset="0"/>
                <a:ea typeface="Calibri" pitchFamily="34" charset="-122"/>
                <a:cs typeface="Calibri" pitchFamily="34" charset="-120"/>
              </a:rPr>
              <a:t>Numbers labelled as illustrative</a:t>
            </a:r>
            <a:endParaRPr lang="en-US" sz="1600" dirty="0"/>
          </a:p>
        </p:txBody>
      </p:sp>
      <p:sp>
        <p:nvSpPr>
          <p:cNvPr id="17" name="Text 13"/>
          <p:cNvSpPr txBox="1"/>
          <p:nvPr/>
        </p:nvSpPr>
        <p:spPr>
          <a:xfrm>
            <a:off x="548640" y="5623560"/>
            <a:ext cx="237744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min  ·  groups of 3–4</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rgbClr val="9E0012"/>
          </a:solidFill>
          <a:ln w="12700">
            <a:solidFill>
              <a:srgbClr val="9E0012"/>
            </a:solidFill>
            <a:prstDash val="solid"/>
          </a:ln>
        </p:spPr>
      </p:sp>
      <p:sp>
        <p:nvSpPr>
          <p:cNvPr id="3" name="Shape 1"/>
          <p:cNvSpPr/>
          <p:nvPr/>
        </p:nvSpPr>
        <p:spPr>
          <a:xfrm>
            <a:off x="609585" y="990661"/>
            <a:ext cx="4876678" cy="4876678"/>
          </a:xfrm>
          <a:prstGeom prst="ellipse">
            <a:avLst/>
          </a:prstGeom>
          <a:solidFill>
            <a:srgbClr val="E3001B">
              <a:alpha val="60000"/>
            </a:srgbClr>
          </a:solidFill>
          <a:ln w="12700">
            <a:solidFill>
              <a:srgbClr val="E3001B">
                <a:alpha val="0"/>
              </a:srgbClr>
            </a:solidFill>
            <a:prstDash val="solid"/>
          </a:ln>
        </p:spPr>
      </p:sp>
      <p:pic>
        <p:nvPicPr>
          <p:cNvPr id="4" name="Image 0" descr="speaker answering a question from executives across a table, Asia">    </p:cNvPr>
          <p:cNvPicPr>
            <a:picLocks noChangeAspect="1"/>
          </p:cNvPicPr>
          <p:nvPr/>
        </p:nvPicPr>
        <p:blipFill>
          <a:blip r:embed="rId1">
            <a:alphaModFix amt="90000"/>
          </a:blip>
          <a:stretch>
            <a:fillRect/>
          </a:stretch>
        </p:blipFill>
        <p:spPr>
          <a:xfrm>
            <a:off x="2224964" y="2606040"/>
            <a:ext cx="1645920" cy="1645920"/>
          </a:xfrm>
          <a:prstGeom prst="rect">
            <a:avLst/>
          </a:prstGeom>
        </p:spPr>
      </p:pic>
      <p:sp>
        <p:nvSpPr>
          <p:cNvPr id="5" name="Text 2"/>
          <p:cNvSpPr txBox="1"/>
          <p:nvPr/>
        </p:nvSpPr>
        <p:spPr>
          <a:xfrm>
            <a:off x="6735928" y="1188720"/>
            <a:ext cx="4572000" cy="1371600"/>
          </a:xfrm>
          <a:prstGeom prst="rect">
            <a:avLst/>
          </a:prstGeom>
          <a:noFill/>
          <a:ln/>
        </p:spPr>
        <p:txBody>
          <a:bodyPr wrap="square" lIns="635" tIns="635" rIns="635" bIns="635" rtlCol="0" anchor="ctr"/>
          <a:lstStyle/>
          <a:p>
            <a:pPr indent="0" marL="0">
              <a:buNone/>
            </a:pPr>
            <a:r>
              <a:rPr lang="en-US" sz="9600" b="1" dirty="0">
                <a:solidFill>
                  <a:srgbClr val="FFFFFF">
                    <a:alpha val="70000"/>
                  </a:srgbClr>
                </a:solidFill>
                <a:latin typeface="Arial" pitchFamily="34" charset="0"/>
                <a:ea typeface="Arial" pitchFamily="34" charset="-122"/>
                <a:cs typeface="Arial" pitchFamily="34" charset="-120"/>
              </a:rPr>
              <a:t>04</a:t>
            </a:r>
            <a:endParaRPr lang="en-US" sz="9600" dirty="0"/>
          </a:p>
        </p:txBody>
      </p:sp>
      <p:sp>
        <p:nvSpPr>
          <p:cNvPr id="6" name="Text 3"/>
          <p:cNvSpPr txBox="1"/>
          <p:nvPr/>
        </p:nvSpPr>
        <p:spPr>
          <a:xfrm>
            <a:off x="6735928" y="2651760"/>
            <a:ext cx="5120640" cy="1737360"/>
          </a:xfrm>
          <a:prstGeom prst="rect">
            <a:avLst/>
          </a:prstGeom>
          <a:noFill/>
          <a:ln/>
        </p:spPr>
        <p:txBody>
          <a:bodyPr wrap="square" lIns="635" tIns="635" rIns="635" bIns="635" rtlCol="0" anchor="t"/>
          <a:lstStyle/>
          <a:p>
            <a:pPr indent="0" marL="0">
              <a:buNone/>
            </a:pPr>
            <a:r>
              <a:rPr lang="en-US" sz="3600" b="1" dirty="0">
                <a:solidFill>
                  <a:srgbClr val="FFFFFF"/>
                </a:solidFill>
                <a:latin typeface="Arial" pitchFamily="34" charset="0"/>
                <a:ea typeface="Arial" pitchFamily="34" charset="-122"/>
                <a:cs typeface="Arial" pitchFamily="34" charset="-120"/>
              </a:rPr>
              <a:t>Deliver and handle tough questions</a:t>
            </a:r>
            <a:endParaRPr lang="en-US" sz="3600" dirty="0"/>
          </a:p>
        </p:txBody>
      </p:sp>
      <p:sp>
        <p:nvSpPr>
          <p:cNvPr id="7" name="Text 4"/>
          <p:cNvSpPr txBox="1"/>
          <p:nvPr/>
        </p:nvSpPr>
        <p:spPr>
          <a:xfrm>
            <a:off x="6735928" y="4480560"/>
            <a:ext cx="5120640" cy="822960"/>
          </a:xfrm>
          <a:prstGeom prst="rect">
            <a:avLst/>
          </a:prstGeom>
          <a:noFill/>
          <a:ln/>
        </p:spPr>
        <p:txBody>
          <a:bodyPr wrap="square" lIns="635" tIns="635" rIns="635" bIns="635" rtlCol="0" anchor="t"/>
          <a:lstStyle/>
          <a:p>
            <a:pPr indent="0" marL="0">
              <a:buNone/>
            </a:pPr>
            <a:r>
              <a:rPr lang="en-US" sz="1800" dirty="0">
                <a:solidFill>
                  <a:srgbClr val="FFD6DA"/>
                </a:solidFill>
                <a:latin typeface="Calibri" pitchFamily="34" charset="0"/>
                <a:ea typeface="Calibri" pitchFamily="34" charset="-122"/>
                <a:cs typeface="Calibri" pitchFamily="34" charset="-120"/>
              </a:rPr>
              <a:t>85–100 min  ·  Rehearsal  ·  Pausing  ·  Executive Q&amp;A</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Rehearse out loud three times: your first run should never be in front of the Director</a:t>
            </a:r>
            <a:endParaRPr lang="en-US" sz="2600" dirty="0"/>
          </a:p>
        </p:txBody>
      </p:sp>
      <p:sp>
        <p:nvSpPr>
          <p:cNvPr id="4" name="Shape 1"/>
          <p:cNvSpPr/>
          <p:nvPr/>
        </p:nvSpPr>
        <p:spPr>
          <a:xfrm>
            <a:off x="548640" y="1600200"/>
            <a:ext cx="5440680" cy="1828800"/>
          </a:xfrm>
          <a:prstGeom prst="roundRect">
            <a:avLst>
              <a:gd name="adj" fmla="val 5000"/>
            </a:avLst>
          </a:prstGeom>
          <a:solidFill>
            <a:srgbClr val="F4F4F4"/>
          </a:solidFill>
          <a:ln w="12700">
            <a:solidFill>
              <a:srgbClr val="F4F4F4"/>
            </a:solidFill>
            <a:prstDash val="solid"/>
          </a:ln>
        </p:spPr>
      </p:sp>
      <p:sp>
        <p:nvSpPr>
          <p:cNvPr id="5" name="Shape 2"/>
          <p:cNvSpPr/>
          <p:nvPr/>
        </p:nvSpPr>
        <p:spPr>
          <a:xfrm>
            <a:off x="822960" y="2057400"/>
            <a:ext cx="914400" cy="91440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1078992" y="2313432"/>
            <a:ext cx="402336" cy="402336"/>
          </a:xfrm>
          <a:prstGeom prst="rect">
            <a:avLst/>
          </a:prstGeom>
        </p:spPr>
      </p:pic>
      <p:sp>
        <p:nvSpPr>
          <p:cNvPr id="7" name="Text 3"/>
          <p:cNvSpPr txBox="1"/>
          <p:nvPr/>
        </p:nvSpPr>
        <p:spPr>
          <a:xfrm>
            <a:off x="1965960" y="1737360"/>
            <a:ext cx="3840480" cy="15544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Rehearse aloud 3×</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Once alone, once timed, once with a colleague who asks hard questions</a:t>
            </a:r>
            <a:endParaRPr lang="en-US" sz="1500" dirty="0"/>
          </a:p>
        </p:txBody>
      </p:sp>
      <p:sp>
        <p:nvSpPr>
          <p:cNvPr id="8" name="Shape 4"/>
          <p:cNvSpPr/>
          <p:nvPr/>
        </p:nvSpPr>
        <p:spPr>
          <a:xfrm>
            <a:off x="6172200" y="1600200"/>
            <a:ext cx="5440680" cy="1828800"/>
          </a:xfrm>
          <a:prstGeom prst="roundRect">
            <a:avLst>
              <a:gd name="adj" fmla="val 5000"/>
            </a:avLst>
          </a:prstGeom>
          <a:solidFill>
            <a:srgbClr val="F4F4F4"/>
          </a:solidFill>
          <a:ln w="12700">
            <a:solidFill>
              <a:srgbClr val="F4F4F4"/>
            </a:solidFill>
            <a:prstDash val="solid"/>
          </a:ln>
        </p:spPr>
      </p:sp>
      <p:sp>
        <p:nvSpPr>
          <p:cNvPr id="9" name="Shape 5"/>
          <p:cNvSpPr/>
          <p:nvPr/>
        </p:nvSpPr>
        <p:spPr>
          <a:xfrm>
            <a:off x="6446520" y="2057400"/>
            <a:ext cx="914400" cy="914400"/>
          </a:xfrm>
          <a:prstGeom prst="ellipse">
            <a:avLst/>
          </a:prstGeom>
          <a:solidFill>
            <a:srgbClr val="E3001B"/>
          </a:solidFill>
          <a:ln w="12700">
            <a:solidFill>
              <a:srgbClr val="E3001B"/>
            </a:solidFill>
            <a:prstDash val="solid"/>
          </a:ln>
        </p:spPr>
      </p:sp>
      <p:pic>
        <p:nvPicPr>
          <p:cNvPr id="10" name="Image 1" descr="preencoded.png">    </p:cNvPr>
          <p:cNvPicPr>
            <a:picLocks noChangeAspect="1"/>
          </p:cNvPicPr>
          <p:nvPr/>
        </p:nvPicPr>
        <p:blipFill>
          <a:blip r:embed="rId2"/>
          <a:stretch>
            <a:fillRect/>
          </a:stretch>
        </p:blipFill>
        <p:spPr>
          <a:xfrm>
            <a:off x="6702552" y="2313432"/>
            <a:ext cx="402336" cy="402336"/>
          </a:xfrm>
          <a:prstGeom prst="rect">
            <a:avLst/>
          </a:prstGeom>
        </p:spPr>
      </p:pic>
      <p:sp>
        <p:nvSpPr>
          <p:cNvPr id="11" name="Text 6"/>
          <p:cNvSpPr txBox="1"/>
          <p:nvPr/>
        </p:nvSpPr>
        <p:spPr>
          <a:xfrm>
            <a:off x="7589520" y="1737360"/>
            <a:ext cx="3840480" cy="15544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Pause after key numbers</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Count to two. Silence tells the room: this matters</a:t>
            </a:r>
            <a:endParaRPr lang="en-US" sz="1500" dirty="0"/>
          </a:p>
        </p:txBody>
      </p:sp>
      <p:sp>
        <p:nvSpPr>
          <p:cNvPr id="12" name="Shape 7"/>
          <p:cNvSpPr/>
          <p:nvPr/>
        </p:nvSpPr>
        <p:spPr>
          <a:xfrm>
            <a:off x="548640" y="3657600"/>
            <a:ext cx="5440680" cy="1828800"/>
          </a:xfrm>
          <a:prstGeom prst="roundRect">
            <a:avLst>
              <a:gd name="adj" fmla="val 5000"/>
            </a:avLst>
          </a:prstGeom>
          <a:solidFill>
            <a:srgbClr val="F4F4F4"/>
          </a:solidFill>
          <a:ln w="12700">
            <a:solidFill>
              <a:srgbClr val="F4F4F4"/>
            </a:solidFill>
            <a:prstDash val="solid"/>
          </a:ln>
        </p:spPr>
      </p:sp>
      <p:sp>
        <p:nvSpPr>
          <p:cNvPr id="13" name="Shape 8"/>
          <p:cNvSpPr/>
          <p:nvPr/>
        </p:nvSpPr>
        <p:spPr>
          <a:xfrm>
            <a:off x="822960" y="4114800"/>
            <a:ext cx="914400" cy="914400"/>
          </a:xfrm>
          <a:prstGeom prst="ellipse">
            <a:avLst/>
          </a:prstGeom>
          <a:solidFill>
            <a:srgbClr val="E3001B"/>
          </a:solidFill>
          <a:ln w="12700">
            <a:solidFill>
              <a:srgbClr val="E3001B"/>
            </a:solidFill>
            <a:prstDash val="solid"/>
          </a:ln>
        </p:spPr>
      </p:sp>
      <p:pic>
        <p:nvPicPr>
          <p:cNvPr id="14" name="Image 2" descr="preencoded.png">    </p:cNvPr>
          <p:cNvPicPr>
            <a:picLocks noChangeAspect="1"/>
          </p:cNvPicPr>
          <p:nvPr/>
        </p:nvPicPr>
        <p:blipFill>
          <a:blip r:embed="rId3"/>
          <a:stretch>
            <a:fillRect/>
          </a:stretch>
        </p:blipFill>
        <p:spPr>
          <a:xfrm>
            <a:off x="1078992" y="4370832"/>
            <a:ext cx="402336" cy="402336"/>
          </a:xfrm>
          <a:prstGeom prst="rect">
            <a:avLst/>
          </a:prstGeom>
        </p:spPr>
      </p:pic>
      <p:sp>
        <p:nvSpPr>
          <p:cNvPr id="15" name="Text 9"/>
          <p:cNvSpPr txBox="1"/>
          <p:nvPr/>
        </p:nvSpPr>
        <p:spPr>
          <a:xfrm>
            <a:off x="1965960" y="3794760"/>
            <a:ext cx="3840480" cy="15544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One sentence, one person</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Include the most senior person — and the quiet ones</a:t>
            </a:r>
            <a:endParaRPr lang="en-US" sz="1500" dirty="0"/>
          </a:p>
        </p:txBody>
      </p:sp>
      <p:sp>
        <p:nvSpPr>
          <p:cNvPr id="16" name="Shape 10"/>
          <p:cNvSpPr/>
          <p:nvPr/>
        </p:nvSpPr>
        <p:spPr>
          <a:xfrm>
            <a:off x="6172200" y="3657600"/>
            <a:ext cx="5440680" cy="1828800"/>
          </a:xfrm>
          <a:prstGeom prst="roundRect">
            <a:avLst>
              <a:gd name="adj" fmla="val 5000"/>
            </a:avLst>
          </a:prstGeom>
          <a:solidFill>
            <a:srgbClr val="F4F4F4"/>
          </a:solidFill>
          <a:ln w="12700">
            <a:solidFill>
              <a:srgbClr val="F4F4F4"/>
            </a:solidFill>
            <a:prstDash val="solid"/>
          </a:ln>
        </p:spPr>
      </p:sp>
      <p:sp>
        <p:nvSpPr>
          <p:cNvPr id="17" name="Shape 11"/>
          <p:cNvSpPr/>
          <p:nvPr/>
        </p:nvSpPr>
        <p:spPr>
          <a:xfrm>
            <a:off x="6446520" y="4114800"/>
            <a:ext cx="914400" cy="914400"/>
          </a:xfrm>
          <a:prstGeom prst="ellipse">
            <a:avLst/>
          </a:prstGeom>
          <a:solidFill>
            <a:srgbClr val="E3001B"/>
          </a:solidFill>
          <a:ln w="12700">
            <a:solidFill>
              <a:srgbClr val="E3001B"/>
            </a:solidFill>
            <a:prstDash val="solid"/>
          </a:ln>
        </p:spPr>
      </p:sp>
      <p:pic>
        <p:nvPicPr>
          <p:cNvPr id="18" name="Image 3" descr="preencoded.png">    </p:cNvPr>
          <p:cNvPicPr>
            <a:picLocks noChangeAspect="1"/>
          </p:cNvPicPr>
          <p:nvPr/>
        </p:nvPicPr>
        <p:blipFill>
          <a:blip r:embed="rId4"/>
          <a:stretch>
            <a:fillRect/>
          </a:stretch>
        </p:blipFill>
        <p:spPr>
          <a:xfrm>
            <a:off x="6702552" y="4370832"/>
            <a:ext cx="402336" cy="402336"/>
          </a:xfrm>
          <a:prstGeom prst="rect">
            <a:avLst/>
          </a:prstGeom>
        </p:spPr>
      </p:pic>
      <p:sp>
        <p:nvSpPr>
          <p:cNvPr id="19" name="Text 12"/>
          <p:cNvSpPr txBox="1"/>
          <p:nvPr/>
        </p:nvSpPr>
        <p:spPr>
          <a:xfrm>
            <a:off x="7589520" y="3794760"/>
            <a:ext cx="3840480" cy="1554480"/>
          </a:xfrm>
          <a:prstGeom prst="rect">
            <a:avLst/>
          </a:prstGeom>
          <a:noFill/>
          <a:ln/>
        </p:spPr>
        <p:txBody>
          <a:bodyPr wrap="square" lIns="635" tIns="635" rIns="635" bIns="635"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Short and simple</a:t>
            </a:r>
            <a:endParaRPr lang="en-US" sz="1500" dirty="0"/>
          </a:p>
          <a:p>
            <a:pPr indent="0" marL="0">
              <a:buNone/>
            </a:pPr>
            <a:r>
              <a:rPr lang="en-US" sz="1500" dirty="0">
                <a:solidFill>
                  <a:srgbClr val="6B6B6B"/>
                </a:solidFill>
                <a:latin typeface="Calibri" pitchFamily="34" charset="0"/>
                <a:ea typeface="Calibri" pitchFamily="34" charset="-122"/>
                <a:cs typeface="Calibri" pitchFamily="34" charset="-120"/>
              </a:rPr>
              <a:t>Short sentences, rounded numbers, never read the slide</a:t>
            </a:r>
            <a:endParaRPr lang="en-US" sz="1500" dirty="0"/>
          </a:p>
        </p:txBody>
      </p:sp>
      <p:sp>
        <p:nvSpPr>
          <p:cNvPr id="20" name="Text 13"/>
          <p:cNvSpPr txBox="1"/>
          <p:nvPr/>
        </p:nvSpPr>
        <p:spPr>
          <a:xfrm>
            <a:off x="548640" y="5760720"/>
            <a:ext cx="10972800" cy="36576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Skip the tricks: </a:t>
            </a:r>
            <a:pPr indent="0" marL="0">
              <a:buNone/>
            </a:pPr>
            <a:r>
              <a:rPr lang="en-US" sz="1400" dirty="0">
                <a:solidFill>
                  <a:srgbClr val="1A1A1A"/>
                </a:solidFill>
                <a:latin typeface="Calibri" pitchFamily="34" charset="0"/>
                <a:ea typeface="Calibri" pitchFamily="34" charset="-122"/>
                <a:cs typeface="Calibri" pitchFamily="34" charset="-120"/>
              </a:rPr>
              <a:t>evidence for 'power posing' is weak. Preparation builds confidence.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Open with a promise, repeat your Big Idea, and end on what you contributed</a:t>
            </a:r>
            <a:endParaRPr lang="en-US" sz="2600" dirty="0"/>
          </a:p>
        </p:txBody>
      </p:sp>
      <p:sp>
        <p:nvSpPr>
          <p:cNvPr id="4" name="Shape 1"/>
          <p:cNvSpPr/>
          <p:nvPr/>
        </p:nvSpPr>
        <p:spPr>
          <a:xfrm>
            <a:off x="548640" y="1645920"/>
            <a:ext cx="3474720" cy="4114800"/>
          </a:xfrm>
          <a:prstGeom prst="roundRect">
            <a:avLst>
              <a:gd name="adj" fmla="val 2632"/>
            </a:avLst>
          </a:prstGeom>
          <a:solidFill>
            <a:srgbClr val="F4F4F4"/>
          </a:solidFill>
          <a:ln w="12700">
            <a:solidFill>
              <a:srgbClr val="F4F4F4"/>
            </a:solidFill>
            <a:prstDash val="solid"/>
          </a:ln>
        </p:spPr>
      </p:sp>
      <p:sp>
        <p:nvSpPr>
          <p:cNvPr id="5" name="Shape 2"/>
          <p:cNvSpPr/>
          <p:nvPr/>
        </p:nvSpPr>
        <p:spPr>
          <a:xfrm>
            <a:off x="822960" y="1920240"/>
            <a:ext cx="822960" cy="82296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1053389" y="2150669"/>
            <a:ext cx="362102" cy="362102"/>
          </a:xfrm>
          <a:prstGeom prst="rect">
            <a:avLst/>
          </a:prstGeom>
        </p:spPr>
      </p:pic>
      <p:sp>
        <p:nvSpPr>
          <p:cNvPr id="7" name="Text 3"/>
          <p:cNvSpPr txBox="1"/>
          <p:nvPr/>
        </p:nvSpPr>
        <p:spPr>
          <a:xfrm>
            <a:off x="822960" y="2926080"/>
            <a:ext cx="2926080" cy="822960"/>
          </a:xfrm>
          <a:prstGeom prst="rect">
            <a:avLst/>
          </a:prstGeom>
          <a:noFill/>
          <a:ln/>
        </p:spPr>
        <p:txBody>
          <a:bodyPr wrap="square" lIns="635" tIns="635" rIns="635" bIns="635"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Open with a promise</a:t>
            </a:r>
            <a:endParaRPr lang="en-US" sz="2000" dirty="0"/>
          </a:p>
        </p:txBody>
      </p:sp>
      <p:sp>
        <p:nvSpPr>
          <p:cNvPr id="8" name="Text 4"/>
          <p:cNvSpPr txBox="1"/>
          <p:nvPr/>
        </p:nvSpPr>
        <p:spPr>
          <a:xfrm>
            <a:off x="822960" y="3749040"/>
            <a:ext cx="2926080" cy="1828800"/>
          </a:xfrm>
          <a:prstGeom prst="rect">
            <a:avLst/>
          </a:prstGeom>
          <a:noFill/>
          <a:ln/>
        </p:spPr>
        <p:txBody>
          <a:bodyPr wrap="square" lIns="635" tIns="635" rIns="635" bIns="635" rtlCol="0" anchor="t"/>
          <a:lstStyle/>
          <a:p>
            <a:pPr indent="0" marL="0">
              <a:buNone/>
            </a:pPr>
            <a:r>
              <a:rPr lang="en-US" sz="1500" dirty="0">
                <a:solidFill>
                  <a:srgbClr val="6B6B6B"/>
                </a:solidFill>
                <a:latin typeface="Calibri" pitchFamily="34" charset="0"/>
                <a:ea typeface="Calibri" pitchFamily="34" charset="-122"/>
                <a:cs typeface="Calibri" pitchFamily="34" charset="-120"/>
              </a:rPr>
              <a:t>"In 5 minutes you'll know whether to approve the East Java pause."</a:t>
            </a:r>
            <a:endParaRPr lang="en-US" sz="1500" dirty="0"/>
          </a:p>
        </p:txBody>
      </p:sp>
      <p:sp>
        <p:nvSpPr>
          <p:cNvPr id="9" name="Shape 5"/>
          <p:cNvSpPr/>
          <p:nvPr/>
        </p:nvSpPr>
        <p:spPr>
          <a:xfrm>
            <a:off x="4297680" y="1645920"/>
            <a:ext cx="3474720" cy="4114800"/>
          </a:xfrm>
          <a:prstGeom prst="roundRect">
            <a:avLst>
              <a:gd name="adj" fmla="val 2632"/>
            </a:avLst>
          </a:prstGeom>
          <a:solidFill>
            <a:srgbClr val="F4F4F4"/>
          </a:solidFill>
          <a:ln w="12700">
            <a:solidFill>
              <a:srgbClr val="F4F4F4"/>
            </a:solidFill>
            <a:prstDash val="solid"/>
          </a:ln>
        </p:spPr>
      </p:sp>
      <p:sp>
        <p:nvSpPr>
          <p:cNvPr id="10" name="Shape 6"/>
          <p:cNvSpPr/>
          <p:nvPr/>
        </p:nvSpPr>
        <p:spPr>
          <a:xfrm>
            <a:off x="4572000" y="1920240"/>
            <a:ext cx="822960" cy="822960"/>
          </a:xfrm>
          <a:prstGeom prst="ellipse">
            <a:avLst/>
          </a:prstGeom>
          <a:solidFill>
            <a:srgbClr val="E3001B"/>
          </a:solidFill>
          <a:ln w="12700">
            <a:solidFill>
              <a:srgbClr val="E3001B"/>
            </a:solidFill>
            <a:prstDash val="solid"/>
          </a:ln>
        </p:spPr>
      </p:sp>
      <p:pic>
        <p:nvPicPr>
          <p:cNvPr id="11" name="Image 1" descr="preencoded.png">    </p:cNvPr>
          <p:cNvPicPr>
            <a:picLocks noChangeAspect="1"/>
          </p:cNvPicPr>
          <p:nvPr/>
        </p:nvPicPr>
        <p:blipFill>
          <a:blip r:embed="rId2"/>
          <a:stretch>
            <a:fillRect/>
          </a:stretch>
        </p:blipFill>
        <p:spPr>
          <a:xfrm>
            <a:off x="4802429" y="2150669"/>
            <a:ext cx="362102" cy="362102"/>
          </a:xfrm>
          <a:prstGeom prst="rect">
            <a:avLst/>
          </a:prstGeom>
        </p:spPr>
      </p:pic>
      <p:sp>
        <p:nvSpPr>
          <p:cNvPr id="12" name="Text 7"/>
          <p:cNvSpPr txBox="1"/>
          <p:nvPr/>
        </p:nvSpPr>
        <p:spPr>
          <a:xfrm>
            <a:off x="4572000" y="2926080"/>
            <a:ext cx="2926080" cy="822960"/>
          </a:xfrm>
          <a:prstGeom prst="rect">
            <a:avLst/>
          </a:prstGeom>
          <a:noFill/>
          <a:ln/>
        </p:spPr>
        <p:txBody>
          <a:bodyPr wrap="square" lIns="635" tIns="635" rIns="635" bIns="635" rtlCol="0" anchor="t"/>
          <a:lstStyle/>
          <a:p>
            <a:pPr indent="0" marL="0">
              <a:buNone/>
            </a:pPr>
            <a:r>
              <a:rPr lang="en-US" sz="2000" b="1" dirty="0">
                <a:solidFill>
                  <a:srgbClr val="1A1A1A"/>
                </a:solidFill>
                <a:latin typeface="Calibri" pitchFamily="34" charset="0"/>
                <a:ea typeface="Calibri" pitchFamily="34" charset="-122"/>
                <a:cs typeface="Calibri" pitchFamily="34" charset="-120"/>
              </a:rPr>
              <a:t>Cycle the Big Idea</a:t>
            </a:r>
            <a:endParaRPr lang="en-US" sz="2000" dirty="0"/>
          </a:p>
        </p:txBody>
      </p:sp>
      <p:sp>
        <p:nvSpPr>
          <p:cNvPr id="13" name="Text 8"/>
          <p:cNvSpPr txBox="1"/>
          <p:nvPr/>
        </p:nvSpPr>
        <p:spPr>
          <a:xfrm>
            <a:off x="4572000" y="3749040"/>
            <a:ext cx="2926080" cy="1828800"/>
          </a:xfrm>
          <a:prstGeom prst="rect">
            <a:avLst/>
          </a:prstGeom>
          <a:noFill/>
          <a:ln/>
        </p:spPr>
        <p:txBody>
          <a:bodyPr wrap="square" lIns="635" tIns="635" rIns="635" bIns="635" rtlCol="0" anchor="t"/>
          <a:lstStyle/>
          <a:p>
            <a:pPr indent="0" marL="0">
              <a:buNone/>
            </a:pPr>
            <a:r>
              <a:rPr lang="en-US" sz="1500" dirty="0">
                <a:solidFill>
                  <a:srgbClr val="6B6B6B"/>
                </a:solidFill>
                <a:latin typeface="Calibri" pitchFamily="34" charset="0"/>
                <a:ea typeface="Calibri" pitchFamily="34" charset="-122"/>
                <a:cs typeface="Calibri" pitchFamily="34" charset="-120"/>
              </a:rPr>
              <a:t>Say it at the start, the middle and the end — someone is always on their phone.</a:t>
            </a:r>
            <a:endParaRPr lang="en-US" sz="1500" dirty="0"/>
          </a:p>
        </p:txBody>
      </p:sp>
      <p:sp>
        <p:nvSpPr>
          <p:cNvPr id="14" name="Shape 9"/>
          <p:cNvSpPr/>
          <p:nvPr/>
        </p:nvSpPr>
        <p:spPr>
          <a:xfrm>
            <a:off x="8046720" y="1645920"/>
            <a:ext cx="3474720" cy="4114800"/>
          </a:xfrm>
          <a:prstGeom prst="roundRect">
            <a:avLst>
              <a:gd name="adj" fmla="val 2632"/>
            </a:avLst>
          </a:prstGeom>
          <a:solidFill>
            <a:srgbClr val="E3001B"/>
          </a:solidFill>
          <a:ln w="12700">
            <a:solidFill>
              <a:srgbClr val="E3001B"/>
            </a:solidFill>
            <a:prstDash val="solid"/>
          </a:ln>
        </p:spPr>
      </p:sp>
      <p:sp>
        <p:nvSpPr>
          <p:cNvPr id="15" name="Shape 10"/>
          <p:cNvSpPr/>
          <p:nvPr/>
        </p:nvSpPr>
        <p:spPr>
          <a:xfrm>
            <a:off x="8321040" y="1920240"/>
            <a:ext cx="822960" cy="82296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8551469" y="2150669"/>
            <a:ext cx="362102" cy="362102"/>
          </a:xfrm>
          <a:prstGeom prst="rect">
            <a:avLst/>
          </a:prstGeom>
        </p:spPr>
      </p:pic>
      <p:sp>
        <p:nvSpPr>
          <p:cNvPr id="17" name="Text 11"/>
          <p:cNvSpPr txBox="1"/>
          <p:nvPr/>
        </p:nvSpPr>
        <p:spPr>
          <a:xfrm>
            <a:off x="8321040" y="2926080"/>
            <a:ext cx="2926080" cy="822960"/>
          </a:xfrm>
          <a:prstGeom prst="rect">
            <a:avLst/>
          </a:prstGeom>
          <a:noFill/>
          <a:ln/>
        </p:spPr>
        <p:txBody>
          <a:bodyPr wrap="square" lIns="635" tIns="635" rIns="635" bIns="635"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Close with contributions</a:t>
            </a:r>
            <a:endParaRPr lang="en-US" sz="2000" dirty="0"/>
          </a:p>
        </p:txBody>
      </p:sp>
      <p:sp>
        <p:nvSpPr>
          <p:cNvPr id="18" name="Text 12"/>
          <p:cNvSpPr txBox="1"/>
          <p:nvPr/>
        </p:nvSpPr>
        <p:spPr>
          <a:xfrm>
            <a:off x="8321040" y="3749040"/>
            <a:ext cx="2926080" cy="1828800"/>
          </a:xfrm>
          <a:prstGeom prst="rect">
            <a:avLst/>
          </a:prstGeom>
          <a:noFill/>
          <a:ln/>
        </p:spPr>
        <p:txBody>
          <a:bodyPr wrap="square" lIns="635" tIns="635" rIns="635" bIns="635" rtlCol="0" anchor="t"/>
          <a:lstStyle/>
          <a:p>
            <a:pPr indent="0" marL="0">
              <a:buNone/>
            </a:pPr>
            <a:r>
              <a:rPr lang="en-US" sz="1500" dirty="0">
                <a:solidFill>
                  <a:srgbClr val="FFFFFF"/>
                </a:solidFill>
                <a:latin typeface="Calibri" pitchFamily="34" charset="0"/>
                <a:ea typeface="Calibri" pitchFamily="34" charset="-122"/>
                <a:cs typeface="Calibri" pitchFamily="34" charset="-120"/>
              </a:rPr>
              <a:t>Last slide: what we found and what we ask. Not "Thank you, any questions?"</a:t>
            </a:r>
            <a:endParaRPr lang="en-US" sz="1500" dirty="0"/>
          </a:p>
        </p:txBody>
      </p:sp>
      <p:sp>
        <p:nvSpPr>
          <p:cNvPr id="19" name="Text 13"/>
          <p:cNvSpPr txBox="1"/>
          <p:nvPr/>
        </p:nvSpPr>
        <p:spPr>
          <a:xfrm>
            <a:off x="548640" y="5943600"/>
            <a:ext cx="7315200" cy="274320"/>
          </a:xfrm>
          <a:prstGeom prst="rect">
            <a:avLst/>
          </a:prstGeom>
          <a:noFill/>
          <a:ln/>
        </p:spPr>
        <p:txBody>
          <a:bodyPr wrap="square" lIns="635" tIns="635" rIns="635" bIns="635"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Source: Patrick Winston, "How to Speak", MIT (YouTube)</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Handle tough questions in three moves: acknowledge, answer short, bridge back</a:t>
            </a:r>
            <a:endParaRPr lang="en-US" sz="2600" dirty="0"/>
          </a:p>
        </p:txBody>
      </p:sp>
      <p:sp>
        <p:nvSpPr>
          <p:cNvPr id="4" name="Text 1"/>
          <p:cNvSpPr txBox="1"/>
          <p:nvPr/>
        </p:nvSpPr>
        <p:spPr>
          <a:xfrm>
            <a:off x="548640" y="1554480"/>
            <a:ext cx="10972800" cy="502920"/>
          </a:xfrm>
          <a:prstGeom prst="rect">
            <a:avLst/>
          </a:prstGeom>
          <a:noFill/>
          <a:ln/>
        </p:spPr>
        <p:txBody>
          <a:bodyPr wrap="square" lIns="635" tIns="635" rIns="635" bIns="635" rtlCol="0" anchor="ctr"/>
          <a:lstStyle/>
          <a:p>
            <a:pPr indent="0" marL="0">
              <a:buNone/>
            </a:pPr>
            <a:r>
              <a:rPr lang="en-US" sz="1900" b="1" dirty="0">
                <a:solidFill>
                  <a:srgbClr val="E3001B"/>
                </a:solidFill>
                <a:latin typeface="Calibri" pitchFamily="34" charset="0"/>
                <a:ea typeface="Calibri" pitchFamily="34" charset="-122"/>
                <a:cs typeface="Calibri" pitchFamily="34" charset="-120"/>
              </a:rPr>
              <a:t>Director: </a:t>
            </a:r>
            <a:pPr indent="0" marL="0">
              <a:buNone/>
            </a:pPr>
            <a:r>
              <a:rPr lang="en-US" sz="1900" i="1" dirty="0">
                <a:solidFill>
                  <a:srgbClr val="1A1A1A"/>
                </a:solidFill>
                <a:latin typeface="Calibri" pitchFamily="34" charset="0"/>
                <a:ea typeface="Calibri" pitchFamily="34" charset="-122"/>
                <a:cs typeface="Calibri" pitchFamily="34" charset="-120"/>
              </a:rPr>
              <a:t>"Why didn't your team catch this in March?"</a:t>
            </a:r>
            <a:endParaRPr lang="en-US" sz="1900" dirty="0"/>
          </a:p>
        </p:txBody>
      </p:sp>
      <p:sp>
        <p:nvSpPr>
          <p:cNvPr id="5" name="Text 2"/>
          <p:cNvSpPr txBox="1"/>
          <p:nvPr/>
        </p:nvSpPr>
        <p:spPr>
          <a:xfrm>
            <a:off x="548640" y="2240280"/>
            <a:ext cx="3611880" cy="685800"/>
          </a:xfrm>
          <a:prstGeom prst="chevron">
            <a:avLst/>
          </a:prstGeom>
          <a:solidFill>
            <a:srgbClr val="E3001B"/>
          </a:solid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  Acknowledge</a:t>
            </a:r>
            <a:endParaRPr lang="en-US" sz="1900" dirty="0"/>
          </a:p>
        </p:txBody>
      </p:sp>
      <p:sp>
        <p:nvSpPr>
          <p:cNvPr id="6" name="Shape 3"/>
          <p:cNvSpPr/>
          <p:nvPr/>
        </p:nvSpPr>
        <p:spPr>
          <a:xfrm>
            <a:off x="548640" y="3108960"/>
            <a:ext cx="3474720" cy="1737360"/>
          </a:xfrm>
          <a:prstGeom prst="roundRect">
            <a:avLst>
              <a:gd name="adj" fmla="val 5263"/>
            </a:avLst>
          </a:prstGeom>
          <a:solidFill>
            <a:srgbClr val="F4F4F4"/>
          </a:solidFill>
          <a:ln w="12700">
            <a:solidFill>
              <a:srgbClr val="F4F4F4"/>
            </a:solidFill>
            <a:prstDash val="solid"/>
          </a:ln>
        </p:spPr>
      </p:sp>
      <p:sp>
        <p:nvSpPr>
          <p:cNvPr id="7" name="Text 4"/>
          <p:cNvSpPr txBox="1"/>
          <p:nvPr/>
        </p:nvSpPr>
        <p:spPr>
          <a:xfrm>
            <a:off x="731520" y="3200400"/>
            <a:ext cx="3108960" cy="1554480"/>
          </a:xfrm>
          <a:prstGeom prst="rect">
            <a:avLst/>
          </a:prstGeom>
          <a:noFill/>
          <a:ln/>
        </p:spPr>
        <p:txBody>
          <a:bodyPr wrap="square" lIns="635" tIns="635" rIns="635" bIns="635" rtlCol="0" anchor="ctr"/>
          <a:lstStyle/>
          <a:p>
            <a:pPr indent="0" marL="0">
              <a:buNone/>
            </a:pPr>
            <a:r>
              <a:rPr lang="en-US" sz="1500" i="1" dirty="0">
                <a:solidFill>
                  <a:srgbClr val="1A1A1A"/>
                </a:solidFill>
                <a:latin typeface="Calibri" pitchFamily="34" charset="0"/>
                <a:ea typeface="Calibri" pitchFamily="34" charset="-122"/>
                <a:cs typeface="Calibri" pitchFamily="34" charset="-120"/>
              </a:rPr>
              <a:t>"Fair question — we should have flagged it earlier."</a:t>
            </a:r>
            <a:endParaRPr lang="en-US" sz="1500" dirty="0"/>
          </a:p>
        </p:txBody>
      </p:sp>
      <p:sp>
        <p:nvSpPr>
          <p:cNvPr id="8" name="Text 5"/>
          <p:cNvSpPr txBox="1"/>
          <p:nvPr/>
        </p:nvSpPr>
        <p:spPr>
          <a:xfrm>
            <a:off x="4297680" y="2240280"/>
            <a:ext cx="3611880" cy="685800"/>
          </a:xfrm>
          <a:prstGeom prst="chevron">
            <a:avLst/>
          </a:prstGeom>
          <a:solidFill>
            <a:srgbClr val="B5101F"/>
          </a:solid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  Answer short</a:t>
            </a:r>
            <a:endParaRPr lang="en-US" sz="1900" dirty="0"/>
          </a:p>
        </p:txBody>
      </p:sp>
      <p:sp>
        <p:nvSpPr>
          <p:cNvPr id="9" name="Shape 6"/>
          <p:cNvSpPr/>
          <p:nvPr/>
        </p:nvSpPr>
        <p:spPr>
          <a:xfrm>
            <a:off x="4297680" y="3108960"/>
            <a:ext cx="3474720" cy="1737360"/>
          </a:xfrm>
          <a:prstGeom prst="roundRect">
            <a:avLst>
              <a:gd name="adj" fmla="val 5263"/>
            </a:avLst>
          </a:prstGeom>
          <a:solidFill>
            <a:srgbClr val="F4F4F4"/>
          </a:solidFill>
          <a:ln w="12700">
            <a:solidFill>
              <a:srgbClr val="F4F4F4"/>
            </a:solidFill>
            <a:prstDash val="solid"/>
          </a:ln>
        </p:spPr>
      </p:sp>
      <p:sp>
        <p:nvSpPr>
          <p:cNvPr id="10" name="Text 7"/>
          <p:cNvSpPr txBox="1"/>
          <p:nvPr/>
        </p:nvSpPr>
        <p:spPr>
          <a:xfrm>
            <a:off x="4480560" y="3200400"/>
            <a:ext cx="3108960" cy="1554480"/>
          </a:xfrm>
          <a:prstGeom prst="rect">
            <a:avLst/>
          </a:prstGeom>
          <a:noFill/>
          <a:ln/>
        </p:spPr>
        <p:txBody>
          <a:bodyPr wrap="square" lIns="635" tIns="635" rIns="635" bIns="635" rtlCol="0" anchor="ctr"/>
          <a:lstStyle/>
          <a:p>
            <a:pPr indent="0" marL="0">
              <a:buNone/>
            </a:pPr>
            <a:r>
              <a:rPr lang="en-US" sz="1500" i="1" dirty="0">
                <a:solidFill>
                  <a:srgbClr val="1A1A1A"/>
                </a:solidFill>
                <a:latin typeface="Calibri" pitchFamily="34" charset="0"/>
                <a:ea typeface="Calibri" pitchFamily="34" charset="-122"/>
                <a:cs typeface="Calibri" pitchFamily="34" charset="-120"/>
              </a:rPr>
              <a:t>"The signal was hidden in the national average. Region-level alerts start next month."</a:t>
            </a:r>
            <a:endParaRPr lang="en-US" sz="1500" dirty="0"/>
          </a:p>
        </p:txBody>
      </p:sp>
      <p:sp>
        <p:nvSpPr>
          <p:cNvPr id="11" name="Text 8"/>
          <p:cNvSpPr txBox="1"/>
          <p:nvPr/>
        </p:nvSpPr>
        <p:spPr>
          <a:xfrm>
            <a:off x="8046720" y="2240280"/>
            <a:ext cx="3611880" cy="685800"/>
          </a:xfrm>
          <a:prstGeom prst="chevron">
            <a:avLst/>
          </a:prstGeom>
          <a:solidFill>
            <a:srgbClr val="9E0012"/>
          </a:solid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  Bridge back</a:t>
            </a:r>
            <a:endParaRPr lang="en-US" sz="1900" dirty="0"/>
          </a:p>
        </p:txBody>
      </p:sp>
      <p:sp>
        <p:nvSpPr>
          <p:cNvPr id="12" name="Shape 9"/>
          <p:cNvSpPr/>
          <p:nvPr/>
        </p:nvSpPr>
        <p:spPr>
          <a:xfrm>
            <a:off x="8046720" y="3108960"/>
            <a:ext cx="3474720" cy="1737360"/>
          </a:xfrm>
          <a:prstGeom prst="roundRect">
            <a:avLst>
              <a:gd name="adj" fmla="val 5263"/>
            </a:avLst>
          </a:prstGeom>
          <a:solidFill>
            <a:srgbClr val="F4F4F4"/>
          </a:solidFill>
          <a:ln w="12700">
            <a:solidFill>
              <a:srgbClr val="F4F4F4"/>
            </a:solidFill>
            <a:prstDash val="solid"/>
          </a:ln>
        </p:spPr>
      </p:sp>
      <p:sp>
        <p:nvSpPr>
          <p:cNvPr id="13" name="Text 10"/>
          <p:cNvSpPr txBox="1"/>
          <p:nvPr/>
        </p:nvSpPr>
        <p:spPr>
          <a:xfrm>
            <a:off x="8229600" y="3200400"/>
            <a:ext cx="3108960" cy="1554480"/>
          </a:xfrm>
          <a:prstGeom prst="rect">
            <a:avLst/>
          </a:prstGeom>
          <a:noFill/>
          <a:ln/>
        </p:spPr>
        <p:txBody>
          <a:bodyPr wrap="square" lIns="635" tIns="635" rIns="635" bIns="635" rtlCol="0" anchor="ctr"/>
          <a:lstStyle/>
          <a:p>
            <a:pPr indent="0" marL="0">
              <a:buNone/>
            </a:pPr>
            <a:r>
              <a:rPr lang="en-US" sz="1500" i="1" dirty="0">
                <a:solidFill>
                  <a:srgbClr val="1A1A1A"/>
                </a:solidFill>
                <a:latin typeface="Calibri" pitchFamily="34" charset="0"/>
                <a:ea typeface="Calibri" pitchFamily="34" charset="-122"/>
                <a:cs typeface="Calibri" pitchFamily="34" charset="-120"/>
              </a:rPr>
              <a:t>"Which is why today's ask is to pause the 12 merchants now."</a:t>
            </a:r>
            <a:endParaRPr lang="en-US" sz="1500" dirty="0"/>
          </a:p>
        </p:txBody>
      </p:sp>
      <p:sp>
        <p:nvSpPr>
          <p:cNvPr id="14" name="Shape 11"/>
          <p:cNvSpPr/>
          <p:nvPr/>
        </p:nvSpPr>
        <p:spPr>
          <a:xfrm>
            <a:off x="548640" y="5074920"/>
            <a:ext cx="11064240" cy="777240"/>
          </a:xfrm>
          <a:prstGeom prst="roundRect">
            <a:avLst>
              <a:gd name="adj" fmla="val 11765"/>
            </a:avLst>
          </a:prstGeom>
          <a:solidFill>
            <a:srgbClr val="FDECEE"/>
          </a:solidFill>
          <a:ln w="12700">
            <a:solidFill>
              <a:srgbClr val="FDECEE"/>
            </a:solidFill>
            <a:prstDash val="solid"/>
          </a:ln>
        </p:spPr>
      </p:sp>
      <p:sp>
        <p:nvSpPr>
          <p:cNvPr id="15" name="Text 12"/>
          <p:cNvSpPr txBox="1"/>
          <p:nvPr/>
        </p:nvSpPr>
        <p:spPr>
          <a:xfrm>
            <a:off x="777240" y="5120640"/>
            <a:ext cx="10607040" cy="685800"/>
          </a:xfrm>
          <a:prstGeom prst="rect">
            <a:avLst/>
          </a:prstGeom>
          <a:noFill/>
          <a:ln/>
        </p:spPr>
        <p:txBody>
          <a:bodyPr wrap="square" lIns="635" tIns="635" rIns="635" bIns="635" rtlCol="0" anchor="ctr"/>
          <a:lstStyle/>
          <a:p>
            <a:pPr indent="0" marL="0">
              <a:buNone/>
            </a:pPr>
            <a:r>
              <a:rPr lang="en-US" sz="1600" b="1" dirty="0">
                <a:solidFill>
                  <a:srgbClr val="E3001B"/>
                </a:solidFill>
                <a:latin typeface="Calibri" pitchFamily="34" charset="0"/>
                <a:ea typeface="Calibri" pitchFamily="34" charset="-122"/>
                <a:cs typeface="Calibri" pitchFamily="34" charset="-120"/>
              </a:rPr>
              <a:t>Don't know? </a:t>
            </a:r>
            <a:pPr indent="0" marL="0">
              <a:buNone/>
            </a:pPr>
            <a:r>
              <a:rPr lang="en-US" sz="1600" dirty="0">
                <a:solidFill>
                  <a:srgbClr val="1A1A1A"/>
                </a:solidFill>
                <a:latin typeface="Calibri" pitchFamily="34" charset="0"/>
                <a:ea typeface="Calibri" pitchFamily="34" charset="-122"/>
                <a:cs typeface="Calibri" pitchFamily="34" charset="-120"/>
              </a:rPr>
              <a:t>"I'll confirm the exact figure by 3 pm today." Then do it. Respectful does not mean silent.</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9E0012"/>
                </a:solidFill>
                <a:latin typeface="Arial" pitchFamily="34" charset="0"/>
                <a:ea typeface="Arial" pitchFamily="34" charset="-122"/>
                <a:cs typeface="Arial" pitchFamily="34" charset="-120"/>
              </a:rPr>
              <a:t>Exercise 4 · Tough-question drill: three rounds with 'the Director'</a:t>
            </a:r>
            <a:endParaRPr lang="en-US" sz="2600" dirty="0"/>
          </a:p>
        </p:txBody>
      </p:sp>
      <p:sp>
        <p:nvSpPr>
          <p:cNvPr id="4" name="Shape 1"/>
          <p:cNvSpPr/>
          <p:nvPr/>
        </p:nvSpPr>
        <p:spPr>
          <a:xfrm>
            <a:off x="548640" y="1600200"/>
            <a:ext cx="822960" cy="822960"/>
          </a:xfrm>
          <a:prstGeom prst="ellipse">
            <a:avLst/>
          </a:prstGeom>
          <a:solidFill>
            <a:srgbClr val="E3001B"/>
          </a:solidFill>
          <a:ln w="12700">
            <a:solidFill>
              <a:srgbClr val="E3001B"/>
            </a:solidFill>
            <a:prstDash val="solid"/>
          </a:ln>
        </p:spPr>
      </p:sp>
      <p:pic>
        <p:nvPicPr>
          <p:cNvPr id="5" name="Image 0" descr="preencoded.png">    </p:cNvPr>
          <p:cNvPicPr>
            <a:picLocks noChangeAspect="1"/>
          </p:cNvPicPr>
          <p:nvPr/>
        </p:nvPicPr>
        <p:blipFill>
          <a:blip r:embed="rId1"/>
          <a:stretch>
            <a:fillRect/>
          </a:stretch>
        </p:blipFill>
        <p:spPr>
          <a:xfrm>
            <a:off x="779069" y="1830629"/>
            <a:ext cx="362102" cy="362102"/>
          </a:xfrm>
          <a:prstGeom prst="rect">
            <a:avLst/>
          </a:prstGeom>
        </p:spPr>
      </p:pic>
      <p:sp>
        <p:nvSpPr>
          <p:cNvPr id="6" name="Text 2"/>
          <p:cNvSpPr txBox="1"/>
          <p:nvPr/>
        </p:nvSpPr>
        <p:spPr>
          <a:xfrm>
            <a:off x="1554480" y="1600200"/>
            <a:ext cx="3931920" cy="86868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Presenter</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30-sec answer, then handles 1 question</a:t>
            </a:r>
            <a:endParaRPr lang="en-US" sz="1700" dirty="0"/>
          </a:p>
        </p:txBody>
      </p:sp>
      <p:sp>
        <p:nvSpPr>
          <p:cNvPr id="7" name="Shape 3"/>
          <p:cNvSpPr/>
          <p:nvPr/>
        </p:nvSpPr>
        <p:spPr>
          <a:xfrm>
            <a:off x="548640" y="2834640"/>
            <a:ext cx="822960" cy="822960"/>
          </a:xfrm>
          <a:prstGeom prst="ellipse">
            <a:avLst/>
          </a:prstGeom>
          <a:solidFill>
            <a:srgbClr val="E3001B"/>
          </a:solidFill>
          <a:ln w="12700">
            <a:solidFill>
              <a:srgbClr val="E3001B"/>
            </a:solidFill>
            <a:prstDash val="solid"/>
          </a:ln>
        </p:spPr>
      </p:sp>
      <p:pic>
        <p:nvPicPr>
          <p:cNvPr id="8" name="Image 1" descr="preencoded.png">    </p:cNvPr>
          <p:cNvPicPr>
            <a:picLocks noChangeAspect="1"/>
          </p:cNvPicPr>
          <p:nvPr/>
        </p:nvPicPr>
        <p:blipFill>
          <a:blip r:embed="rId2"/>
          <a:stretch>
            <a:fillRect/>
          </a:stretch>
        </p:blipFill>
        <p:spPr>
          <a:xfrm>
            <a:off x="779069" y="3065069"/>
            <a:ext cx="362102" cy="362102"/>
          </a:xfrm>
          <a:prstGeom prst="rect">
            <a:avLst/>
          </a:prstGeom>
        </p:spPr>
      </p:pic>
      <p:sp>
        <p:nvSpPr>
          <p:cNvPr id="9" name="Text 4"/>
          <p:cNvSpPr txBox="1"/>
          <p:nvPr/>
        </p:nvSpPr>
        <p:spPr>
          <a:xfrm>
            <a:off x="1554480" y="2834640"/>
            <a:ext cx="3931920" cy="86868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Director</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Picks a card, asks it firmly</a:t>
            </a:r>
            <a:endParaRPr lang="en-US" sz="1700" dirty="0"/>
          </a:p>
        </p:txBody>
      </p:sp>
      <p:sp>
        <p:nvSpPr>
          <p:cNvPr id="10" name="Shape 5"/>
          <p:cNvSpPr/>
          <p:nvPr/>
        </p:nvSpPr>
        <p:spPr>
          <a:xfrm>
            <a:off x="548640" y="4069080"/>
            <a:ext cx="822960" cy="822960"/>
          </a:xfrm>
          <a:prstGeom prst="ellipse">
            <a:avLst/>
          </a:prstGeom>
          <a:solidFill>
            <a:srgbClr val="E3001B"/>
          </a:solidFill>
          <a:ln w="12700">
            <a:solidFill>
              <a:srgbClr val="E3001B"/>
            </a:solidFill>
            <a:prstDash val="solid"/>
          </a:ln>
        </p:spPr>
      </p:sp>
      <p:pic>
        <p:nvPicPr>
          <p:cNvPr id="11" name="Image 2" descr="preencoded.png">    </p:cNvPr>
          <p:cNvPicPr>
            <a:picLocks noChangeAspect="1"/>
          </p:cNvPicPr>
          <p:nvPr/>
        </p:nvPicPr>
        <p:blipFill>
          <a:blip r:embed="rId3"/>
          <a:stretch>
            <a:fillRect/>
          </a:stretch>
        </p:blipFill>
        <p:spPr>
          <a:xfrm>
            <a:off x="779069" y="4299509"/>
            <a:ext cx="362102" cy="362102"/>
          </a:xfrm>
          <a:prstGeom prst="rect">
            <a:avLst/>
          </a:prstGeom>
        </p:spPr>
      </p:pic>
      <p:sp>
        <p:nvSpPr>
          <p:cNvPr id="12" name="Text 6"/>
          <p:cNvSpPr txBox="1"/>
          <p:nvPr/>
        </p:nvSpPr>
        <p:spPr>
          <a:xfrm>
            <a:off x="1554480" y="4069080"/>
            <a:ext cx="3931920" cy="868680"/>
          </a:xfrm>
          <a:prstGeom prst="rect">
            <a:avLst/>
          </a:prstGeom>
          <a:noFill/>
          <a:ln/>
        </p:spPr>
        <p:txBody>
          <a:bodyPr wrap="square" lIns="635" tIns="635" rIns="635" bIns="635"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Observer</a:t>
            </a:r>
            <a:endParaRPr lang="en-US" sz="1700" dirty="0"/>
          </a:p>
          <a:p>
            <a:pPr indent="0" marL="0">
              <a:buNone/>
            </a:pPr>
            <a:r>
              <a:rPr lang="en-US" sz="1400" dirty="0">
                <a:solidFill>
                  <a:srgbClr val="6B6B6B"/>
                </a:solidFill>
                <a:latin typeface="Calibri" pitchFamily="34" charset="0"/>
                <a:ea typeface="Calibri" pitchFamily="34" charset="-122"/>
                <a:cs typeface="Calibri" pitchFamily="34" charset="-120"/>
              </a:rPr>
              <a:t>Watches A-A-B, gives one tip</a:t>
            </a:r>
            <a:endParaRPr lang="en-US" sz="1700" dirty="0"/>
          </a:p>
        </p:txBody>
      </p:sp>
      <p:sp>
        <p:nvSpPr>
          <p:cNvPr id="13" name="Text 7"/>
          <p:cNvSpPr txBox="1"/>
          <p:nvPr/>
        </p:nvSpPr>
        <p:spPr>
          <a:xfrm>
            <a:off x="548640" y="5349240"/>
            <a:ext cx="4572000" cy="36576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Rotate roles every 2.5 minutes</a:t>
            </a:r>
            <a:endParaRPr lang="en-US" sz="1500" dirty="0"/>
          </a:p>
        </p:txBody>
      </p:sp>
      <p:sp>
        <p:nvSpPr>
          <p:cNvPr id="14" name="Shape 8"/>
          <p:cNvSpPr/>
          <p:nvPr/>
        </p:nvSpPr>
        <p:spPr>
          <a:xfrm>
            <a:off x="5577840" y="160020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15" name="Image 3" descr="preencoded.png">    </p:cNvPr>
          <p:cNvPicPr>
            <a:picLocks noChangeAspect="1"/>
          </p:cNvPicPr>
          <p:nvPr/>
        </p:nvPicPr>
        <p:blipFill>
          <a:blip r:embed="rId4"/>
          <a:stretch>
            <a:fillRect/>
          </a:stretch>
        </p:blipFill>
        <p:spPr>
          <a:xfrm>
            <a:off x="5715000" y="1965960"/>
            <a:ext cx="384048" cy="384048"/>
          </a:xfrm>
          <a:prstGeom prst="rect">
            <a:avLst/>
          </a:prstGeom>
        </p:spPr>
      </p:pic>
      <p:sp>
        <p:nvSpPr>
          <p:cNvPr id="16" name="Text 9"/>
          <p:cNvSpPr txBox="1"/>
          <p:nvPr/>
        </p:nvSpPr>
        <p:spPr>
          <a:xfrm>
            <a:off x="6217920" y="167335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What happens if we do nothing?</a:t>
            </a:r>
            <a:endParaRPr lang="en-US" sz="1500" dirty="0"/>
          </a:p>
        </p:txBody>
      </p:sp>
      <p:sp>
        <p:nvSpPr>
          <p:cNvPr id="17" name="Shape 10"/>
          <p:cNvSpPr/>
          <p:nvPr/>
        </p:nvSpPr>
        <p:spPr>
          <a:xfrm>
            <a:off x="8641080" y="160020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18" name="Image 4" descr="preencoded.png">    </p:cNvPr>
          <p:cNvPicPr>
            <a:picLocks noChangeAspect="1"/>
          </p:cNvPicPr>
          <p:nvPr/>
        </p:nvPicPr>
        <p:blipFill>
          <a:blip r:embed="rId5"/>
          <a:stretch>
            <a:fillRect/>
          </a:stretch>
        </p:blipFill>
        <p:spPr>
          <a:xfrm>
            <a:off x="8778240" y="1965960"/>
            <a:ext cx="384048" cy="384048"/>
          </a:xfrm>
          <a:prstGeom prst="rect">
            <a:avLst/>
          </a:prstGeom>
        </p:spPr>
      </p:pic>
      <p:sp>
        <p:nvSpPr>
          <p:cNvPr id="19" name="Text 11"/>
          <p:cNvSpPr txBox="1"/>
          <p:nvPr/>
        </p:nvSpPr>
        <p:spPr>
          <a:xfrm>
            <a:off x="9281160" y="167335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Why should I believe the pilot numbers?</a:t>
            </a:r>
            <a:endParaRPr lang="en-US" sz="1500" dirty="0"/>
          </a:p>
        </p:txBody>
      </p:sp>
      <p:sp>
        <p:nvSpPr>
          <p:cNvPr id="20" name="Shape 12"/>
          <p:cNvSpPr/>
          <p:nvPr/>
        </p:nvSpPr>
        <p:spPr>
          <a:xfrm>
            <a:off x="5577840" y="292608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21" name="Image 5" descr="preencoded.png">    </p:cNvPr>
          <p:cNvPicPr>
            <a:picLocks noChangeAspect="1"/>
          </p:cNvPicPr>
          <p:nvPr/>
        </p:nvPicPr>
        <p:blipFill>
          <a:blip r:embed="rId6"/>
          <a:stretch>
            <a:fillRect/>
          </a:stretch>
        </p:blipFill>
        <p:spPr>
          <a:xfrm>
            <a:off x="5715000" y="3291840"/>
            <a:ext cx="384048" cy="384048"/>
          </a:xfrm>
          <a:prstGeom prst="rect">
            <a:avLst/>
          </a:prstGeom>
        </p:spPr>
      </p:pic>
      <p:sp>
        <p:nvSpPr>
          <p:cNvPr id="22" name="Text 13"/>
          <p:cNvSpPr txBox="1"/>
          <p:nvPr/>
        </p:nvSpPr>
        <p:spPr>
          <a:xfrm>
            <a:off x="6217920" y="299923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What does it cost if you're wrong?</a:t>
            </a:r>
            <a:endParaRPr lang="en-US" sz="1500" dirty="0"/>
          </a:p>
        </p:txBody>
      </p:sp>
      <p:sp>
        <p:nvSpPr>
          <p:cNvPr id="23" name="Shape 14"/>
          <p:cNvSpPr/>
          <p:nvPr/>
        </p:nvSpPr>
        <p:spPr>
          <a:xfrm>
            <a:off x="8641080" y="292608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24" name="Image 6" descr="preencoded.png">    </p:cNvPr>
          <p:cNvPicPr>
            <a:picLocks noChangeAspect="1"/>
          </p:cNvPicPr>
          <p:nvPr/>
        </p:nvPicPr>
        <p:blipFill>
          <a:blip r:embed="rId7"/>
          <a:stretch>
            <a:fillRect/>
          </a:stretch>
        </p:blipFill>
        <p:spPr>
          <a:xfrm>
            <a:off x="8778240" y="3291840"/>
            <a:ext cx="384048" cy="384048"/>
          </a:xfrm>
          <a:prstGeom prst="rect">
            <a:avLst/>
          </a:prstGeom>
        </p:spPr>
      </p:pic>
      <p:sp>
        <p:nvSpPr>
          <p:cNvPr id="25" name="Text 15"/>
          <p:cNvSpPr txBox="1"/>
          <p:nvPr/>
        </p:nvSpPr>
        <p:spPr>
          <a:xfrm>
            <a:off x="9281160" y="299923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Who else supports this?</a:t>
            </a:r>
            <a:endParaRPr lang="en-US" sz="1500" dirty="0"/>
          </a:p>
        </p:txBody>
      </p:sp>
      <p:sp>
        <p:nvSpPr>
          <p:cNvPr id="26" name="Shape 16"/>
          <p:cNvSpPr/>
          <p:nvPr/>
        </p:nvSpPr>
        <p:spPr>
          <a:xfrm>
            <a:off x="5577840" y="425196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27" name="Image 7" descr="preencoded.png">    </p:cNvPr>
          <p:cNvPicPr>
            <a:picLocks noChangeAspect="1"/>
          </p:cNvPicPr>
          <p:nvPr/>
        </p:nvPicPr>
        <p:blipFill>
          <a:blip r:embed="rId8"/>
          <a:stretch>
            <a:fillRect/>
          </a:stretch>
        </p:blipFill>
        <p:spPr>
          <a:xfrm>
            <a:off x="5715000" y="4617720"/>
            <a:ext cx="384048" cy="384048"/>
          </a:xfrm>
          <a:prstGeom prst="rect">
            <a:avLst/>
          </a:prstGeom>
        </p:spPr>
      </p:pic>
      <p:sp>
        <p:nvSpPr>
          <p:cNvPr id="28" name="Text 17"/>
          <p:cNvSpPr txBox="1"/>
          <p:nvPr/>
        </p:nvSpPr>
        <p:spPr>
          <a:xfrm>
            <a:off x="6217920" y="432511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Can you do it with half the budget?</a:t>
            </a:r>
            <a:endParaRPr lang="en-US" sz="1500" dirty="0"/>
          </a:p>
        </p:txBody>
      </p:sp>
      <p:sp>
        <p:nvSpPr>
          <p:cNvPr id="29" name="Shape 18"/>
          <p:cNvSpPr/>
          <p:nvPr/>
        </p:nvSpPr>
        <p:spPr>
          <a:xfrm>
            <a:off x="8641080" y="4251960"/>
            <a:ext cx="28803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5000"/>
              </a:srgbClr>
            </a:outerShdw>
          </a:effectLst>
        </p:spPr>
      </p:sp>
      <p:pic>
        <p:nvPicPr>
          <p:cNvPr id="30" name="Image 8" descr="preencoded.png">    </p:cNvPr>
          <p:cNvPicPr>
            <a:picLocks noChangeAspect="1"/>
          </p:cNvPicPr>
          <p:nvPr/>
        </p:nvPicPr>
        <p:blipFill>
          <a:blip r:embed="rId9"/>
          <a:stretch>
            <a:fillRect/>
          </a:stretch>
        </p:blipFill>
        <p:spPr>
          <a:xfrm>
            <a:off x="8778240" y="4617720"/>
            <a:ext cx="384048" cy="384048"/>
          </a:xfrm>
          <a:prstGeom prst="rect">
            <a:avLst/>
          </a:prstGeom>
        </p:spPr>
      </p:pic>
      <p:sp>
        <p:nvSpPr>
          <p:cNvPr id="31" name="Text 19"/>
          <p:cNvSpPr txBox="1"/>
          <p:nvPr/>
        </p:nvSpPr>
        <p:spPr>
          <a:xfrm>
            <a:off x="9281160" y="4325112"/>
            <a:ext cx="2148840" cy="1005840"/>
          </a:xfrm>
          <a:prstGeom prst="rect">
            <a:avLst/>
          </a:prstGeom>
          <a:noFill/>
          <a:ln/>
        </p:spPr>
        <p:txBody>
          <a:bodyPr wrap="square" lIns="635" tIns="635" rIns="635" bIns="635"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Give me the answer in one sentence.</a:t>
            </a:r>
            <a:endParaRPr lang="en-US" sz="1500" dirty="0"/>
          </a:p>
        </p:txBody>
      </p:sp>
      <p:sp>
        <p:nvSpPr>
          <p:cNvPr id="32" name="Text 20"/>
          <p:cNvSpPr txBox="1"/>
          <p:nvPr/>
        </p:nvSpPr>
        <p:spPr>
          <a:xfrm>
            <a:off x="548640" y="5760720"/>
            <a:ext cx="182880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 min  ·  trios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9E0012"/>
                </a:solidFill>
                <a:latin typeface="Arial" pitchFamily="34" charset="0"/>
                <a:ea typeface="Arial" pitchFamily="34" charset="-122"/>
                <a:cs typeface="Arial" pitchFamily="34" charset="-120"/>
              </a:rPr>
              <a:t>Practice round · 3-minute pitch, 2 minutes of feedback, then rotate</a:t>
            </a:r>
            <a:endParaRPr lang="en-US" sz="2600" dirty="0"/>
          </a:p>
        </p:txBody>
      </p:sp>
      <p:sp>
        <p:nvSpPr>
          <p:cNvPr id="4" name="Shape 1"/>
          <p:cNvSpPr/>
          <p:nvPr/>
        </p:nvSpPr>
        <p:spPr>
          <a:xfrm>
            <a:off x="1417320" y="2606040"/>
            <a:ext cx="2926080" cy="2743200"/>
          </a:xfrm>
          <a:prstGeom prst="ellipse">
            <a:avLst/>
          </a:prstGeom>
          <a:solidFill>
            <a:srgbClr val="FDECEE"/>
          </a:solidFill>
          <a:ln w="25400">
            <a:solidFill>
              <a:srgbClr val="E3001B"/>
            </a:solidFill>
            <a:prstDash val="dash"/>
          </a:ln>
        </p:spPr>
      </p:sp>
      <p:sp>
        <p:nvSpPr>
          <p:cNvPr id="5" name="Shape 2"/>
          <p:cNvSpPr/>
          <p:nvPr/>
        </p:nvSpPr>
        <p:spPr>
          <a:xfrm>
            <a:off x="2560320" y="2148840"/>
            <a:ext cx="914400" cy="91440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2816352" y="2404872"/>
            <a:ext cx="402336" cy="402336"/>
          </a:xfrm>
          <a:prstGeom prst="rect">
            <a:avLst/>
          </a:prstGeom>
        </p:spPr>
      </p:pic>
      <p:sp>
        <p:nvSpPr>
          <p:cNvPr id="7" name="Text 3"/>
          <p:cNvSpPr txBox="1"/>
          <p:nvPr/>
        </p:nvSpPr>
        <p:spPr>
          <a:xfrm>
            <a:off x="1874520" y="3063240"/>
            <a:ext cx="2011680" cy="365760"/>
          </a:xfrm>
          <a:prstGeom prst="rect">
            <a:avLst/>
          </a:prstGeom>
          <a:noFill/>
          <a:ln/>
        </p:spPr>
        <p:txBody>
          <a:bodyPr wrap="square" lIns="635" tIns="635" rIns="635" bIns="635"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Pitch 3 min</a:t>
            </a:r>
            <a:endParaRPr lang="en-US" sz="1400" dirty="0"/>
          </a:p>
        </p:txBody>
      </p:sp>
      <p:sp>
        <p:nvSpPr>
          <p:cNvPr id="8" name="Shape 4"/>
          <p:cNvSpPr/>
          <p:nvPr/>
        </p:nvSpPr>
        <p:spPr>
          <a:xfrm>
            <a:off x="4023360" y="4434840"/>
            <a:ext cx="914400" cy="914400"/>
          </a:xfrm>
          <a:prstGeom prst="ellipse">
            <a:avLst/>
          </a:prstGeom>
          <a:solidFill>
            <a:srgbClr val="E3001B"/>
          </a:solidFill>
          <a:ln w="12700">
            <a:solidFill>
              <a:srgbClr val="E3001B"/>
            </a:solidFill>
            <a:prstDash val="solid"/>
          </a:ln>
        </p:spPr>
      </p:sp>
      <p:pic>
        <p:nvPicPr>
          <p:cNvPr id="9" name="Image 1" descr="preencoded.png">    </p:cNvPr>
          <p:cNvPicPr>
            <a:picLocks noChangeAspect="1"/>
          </p:cNvPicPr>
          <p:nvPr/>
        </p:nvPicPr>
        <p:blipFill>
          <a:blip r:embed="rId2"/>
          <a:stretch>
            <a:fillRect/>
          </a:stretch>
        </p:blipFill>
        <p:spPr>
          <a:xfrm>
            <a:off x="4279392" y="4690872"/>
            <a:ext cx="402336" cy="402336"/>
          </a:xfrm>
          <a:prstGeom prst="rect">
            <a:avLst/>
          </a:prstGeom>
        </p:spPr>
      </p:pic>
      <p:sp>
        <p:nvSpPr>
          <p:cNvPr id="10" name="Text 5"/>
          <p:cNvSpPr txBox="1"/>
          <p:nvPr/>
        </p:nvSpPr>
        <p:spPr>
          <a:xfrm>
            <a:off x="3337560" y="5349240"/>
            <a:ext cx="2011680" cy="365760"/>
          </a:xfrm>
          <a:prstGeom prst="rect">
            <a:avLst/>
          </a:prstGeom>
          <a:noFill/>
          <a:ln/>
        </p:spPr>
        <p:txBody>
          <a:bodyPr wrap="square" lIns="635" tIns="635" rIns="635" bIns="635"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Feedback 2 min</a:t>
            </a:r>
            <a:endParaRPr lang="en-US" sz="1400" dirty="0"/>
          </a:p>
        </p:txBody>
      </p:sp>
      <p:sp>
        <p:nvSpPr>
          <p:cNvPr id="11" name="Shape 6"/>
          <p:cNvSpPr/>
          <p:nvPr/>
        </p:nvSpPr>
        <p:spPr>
          <a:xfrm>
            <a:off x="1097280" y="4434840"/>
            <a:ext cx="914400" cy="914400"/>
          </a:xfrm>
          <a:prstGeom prst="ellipse">
            <a:avLst/>
          </a:prstGeom>
          <a:solidFill>
            <a:srgbClr val="E3001B"/>
          </a:solidFill>
          <a:ln w="12700">
            <a:solidFill>
              <a:srgbClr val="E3001B"/>
            </a:solidFill>
            <a:prstDash val="solid"/>
          </a:ln>
        </p:spPr>
      </p:sp>
      <p:pic>
        <p:nvPicPr>
          <p:cNvPr id="12" name="Image 2" descr="preencoded.png">    </p:cNvPr>
          <p:cNvPicPr>
            <a:picLocks noChangeAspect="1"/>
          </p:cNvPicPr>
          <p:nvPr/>
        </p:nvPicPr>
        <p:blipFill>
          <a:blip r:embed="rId3"/>
          <a:stretch>
            <a:fillRect/>
          </a:stretch>
        </p:blipFill>
        <p:spPr>
          <a:xfrm>
            <a:off x="1353312" y="4690872"/>
            <a:ext cx="402336" cy="402336"/>
          </a:xfrm>
          <a:prstGeom prst="rect">
            <a:avLst/>
          </a:prstGeom>
        </p:spPr>
      </p:pic>
      <p:sp>
        <p:nvSpPr>
          <p:cNvPr id="13" name="Text 7"/>
          <p:cNvSpPr txBox="1"/>
          <p:nvPr/>
        </p:nvSpPr>
        <p:spPr>
          <a:xfrm>
            <a:off x="411480" y="5349240"/>
            <a:ext cx="2011680" cy="365760"/>
          </a:xfrm>
          <a:prstGeom prst="rect">
            <a:avLst/>
          </a:prstGeom>
          <a:noFill/>
          <a:ln/>
        </p:spPr>
        <p:txBody>
          <a:bodyPr wrap="square" lIns="635" tIns="635" rIns="635" bIns="635"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Rotate</a:t>
            </a:r>
            <a:endParaRPr lang="en-US" sz="1400" dirty="0"/>
          </a:p>
        </p:txBody>
      </p:sp>
      <p:sp>
        <p:nvSpPr>
          <p:cNvPr id="14" name="Text 8"/>
          <p:cNvSpPr txBox="1"/>
          <p:nvPr/>
        </p:nvSpPr>
        <p:spPr>
          <a:xfrm>
            <a:off x="2103120" y="3703320"/>
            <a:ext cx="1554480" cy="457200"/>
          </a:xfrm>
          <a:prstGeom prst="rect">
            <a:avLst/>
          </a:prstGeom>
          <a:noFill/>
          <a:ln/>
        </p:spPr>
        <p:txBody>
          <a:bodyPr wrap="square" lIns="635" tIns="635" rIns="635" bIns="635" rtlCol="0" anchor="ctr"/>
          <a:lstStyle/>
          <a:p>
            <a:pPr algn="ctr" indent="0" marL="0">
              <a:buNone/>
            </a:pPr>
            <a:r>
              <a:rPr lang="en-US" sz="1800" b="1" dirty="0">
                <a:solidFill>
                  <a:srgbClr val="E3001B"/>
                </a:solidFill>
                <a:latin typeface="Calibri" pitchFamily="34" charset="0"/>
                <a:ea typeface="Calibri" pitchFamily="34" charset="-122"/>
                <a:cs typeface="Calibri" pitchFamily="34" charset="-120"/>
              </a:rPr>
              <a:t>× 3 rounds</a:t>
            </a:r>
            <a:endParaRPr lang="en-US" sz="1800" dirty="0"/>
          </a:p>
        </p:txBody>
      </p:sp>
      <p:sp>
        <p:nvSpPr>
          <p:cNvPr id="15" name="Text 9"/>
          <p:cNvSpPr txBox="1"/>
          <p:nvPr/>
        </p:nvSpPr>
        <p:spPr>
          <a:xfrm>
            <a:off x="5669280" y="1554480"/>
            <a:ext cx="5943600" cy="411480"/>
          </a:xfrm>
          <a:prstGeom prst="rect">
            <a:avLst/>
          </a:prstGeom>
          <a:noFill/>
          <a:ln/>
        </p:spPr>
        <p:txBody>
          <a:bodyPr wrap="square" lIns="635" tIns="635" rIns="635" bIns="635" rtlCol="0" anchor="ctr"/>
          <a:lstStyle/>
          <a:p>
            <a:pPr indent="0" marL="0">
              <a:buNone/>
            </a:pPr>
            <a:r>
              <a:rPr lang="en-US" sz="1800" b="1" dirty="0">
                <a:solidFill>
                  <a:srgbClr val="9E0012"/>
                </a:solidFill>
                <a:latin typeface="Calibri" pitchFamily="34" charset="0"/>
                <a:ea typeface="Calibri" pitchFamily="34" charset="-122"/>
                <a:cs typeface="Calibri" pitchFamily="34" charset="-120"/>
              </a:rPr>
              <a:t>Score with the feedback form (1–4)</a:t>
            </a:r>
            <a:endParaRPr lang="en-US" sz="1800" dirty="0"/>
          </a:p>
        </p:txBody>
      </p:sp>
      <p:sp>
        <p:nvSpPr>
          <p:cNvPr id="16" name="Shape 10"/>
          <p:cNvSpPr/>
          <p:nvPr/>
        </p:nvSpPr>
        <p:spPr>
          <a:xfrm>
            <a:off x="5669280" y="2057400"/>
            <a:ext cx="5989320" cy="566928"/>
          </a:xfrm>
          <a:prstGeom prst="roundRect">
            <a:avLst>
              <a:gd name="adj" fmla="val 16129"/>
            </a:avLst>
          </a:prstGeom>
          <a:solidFill>
            <a:srgbClr val="FFFFFF"/>
          </a:solidFill>
          <a:ln w="12700">
            <a:solidFill>
              <a:srgbClr val="FFFFFF"/>
            </a:solidFill>
            <a:prstDash val="solid"/>
          </a:ln>
        </p:spPr>
      </p:sp>
      <p:sp>
        <p:nvSpPr>
          <p:cNvPr id="17" name="Text 11"/>
          <p:cNvSpPr txBox="1"/>
          <p:nvPr/>
        </p:nvSpPr>
        <p:spPr>
          <a:xfrm>
            <a:off x="5760720" y="2130552"/>
            <a:ext cx="411480" cy="411480"/>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2"/>
          <p:cNvSpPr txBox="1"/>
          <p:nvPr/>
        </p:nvSpPr>
        <p:spPr>
          <a:xfrm>
            <a:off x="6309360" y="2057400"/>
            <a:ext cx="5257800" cy="566928"/>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One clear message: I know what they want</a:t>
            </a:r>
            <a:endParaRPr lang="en-US" sz="1500" dirty="0"/>
          </a:p>
        </p:txBody>
      </p:sp>
      <p:sp>
        <p:nvSpPr>
          <p:cNvPr id="19" name="Shape 13"/>
          <p:cNvSpPr/>
          <p:nvPr/>
        </p:nvSpPr>
        <p:spPr>
          <a:xfrm>
            <a:off x="5669280" y="2743200"/>
            <a:ext cx="5989320" cy="566928"/>
          </a:xfrm>
          <a:prstGeom prst="roundRect">
            <a:avLst>
              <a:gd name="adj" fmla="val 16129"/>
            </a:avLst>
          </a:prstGeom>
          <a:solidFill>
            <a:srgbClr val="FFFFFF"/>
          </a:solidFill>
          <a:ln w="12700">
            <a:solidFill>
              <a:srgbClr val="FFFFFF"/>
            </a:solidFill>
            <a:prstDash val="solid"/>
          </a:ln>
        </p:spPr>
      </p:sp>
      <p:sp>
        <p:nvSpPr>
          <p:cNvPr id="20" name="Text 14"/>
          <p:cNvSpPr txBox="1"/>
          <p:nvPr/>
        </p:nvSpPr>
        <p:spPr>
          <a:xfrm>
            <a:off x="5760720" y="2816352"/>
            <a:ext cx="411480" cy="411480"/>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5"/>
          <p:cNvSpPr txBox="1"/>
          <p:nvPr/>
        </p:nvSpPr>
        <p:spPr>
          <a:xfrm>
            <a:off x="6309360" y="2743200"/>
            <a:ext cx="5257800" cy="566928"/>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Answer first: recommendation in the first 30 seconds</a:t>
            </a:r>
            <a:endParaRPr lang="en-US" sz="1500" dirty="0"/>
          </a:p>
        </p:txBody>
      </p:sp>
      <p:sp>
        <p:nvSpPr>
          <p:cNvPr id="22" name="Shape 16"/>
          <p:cNvSpPr/>
          <p:nvPr/>
        </p:nvSpPr>
        <p:spPr>
          <a:xfrm>
            <a:off x="5669280" y="3429000"/>
            <a:ext cx="5989320" cy="566928"/>
          </a:xfrm>
          <a:prstGeom prst="roundRect">
            <a:avLst>
              <a:gd name="adj" fmla="val 16129"/>
            </a:avLst>
          </a:prstGeom>
          <a:solidFill>
            <a:srgbClr val="FFFFFF"/>
          </a:solidFill>
          <a:ln w="12700">
            <a:solidFill>
              <a:srgbClr val="FFFFFF"/>
            </a:solidFill>
            <a:prstDash val="solid"/>
          </a:ln>
        </p:spPr>
      </p:sp>
      <p:sp>
        <p:nvSpPr>
          <p:cNvPr id="23" name="Text 17"/>
          <p:cNvSpPr txBox="1"/>
          <p:nvPr/>
        </p:nvSpPr>
        <p:spPr>
          <a:xfrm>
            <a:off x="5760720" y="3502152"/>
            <a:ext cx="411480" cy="411480"/>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18"/>
          <p:cNvSpPr txBox="1"/>
          <p:nvPr/>
        </p:nvSpPr>
        <p:spPr>
          <a:xfrm>
            <a:off x="6309360" y="3429000"/>
            <a:ext cx="5257800" cy="566928"/>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Titles tell the story: action titles pass the headline test</a:t>
            </a:r>
            <a:endParaRPr lang="en-US" sz="1500" dirty="0"/>
          </a:p>
        </p:txBody>
      </p:sp>
      <p:sp>
        <p:nvSpPr>
          <p:cNvPr id="25" name="Shape 19"/>
          <p:cNvSpPr/>
          <p:nvPr/>
        </p:nvSpPr>
        <p:spPr>
          <a:xfrm>
            <a:off x="5669280" y="4114800"/>
            <a:ext cx="5989320" cy="566928"/>
          </a:xfrm>
          <a:prstGeom prst="roundRect">
            <a:avLst>
              <a:gd name="adj" fmla="val 16129"/>
            </a:avLst>
          </a:prstGeom>
          <a:solidFill>
            <a:srgbClr val="FFFFFF"/>
          </a:solidFill>
          <a:ln w="12700">
            <a:solidFill>
              <a:srgbClr val="FFFFFF"/>
            </a:solidFill>
            <a:prstDash val="solid"/>
          </a:ln>
        </p:spPr>
      </p:sp>
      <p:sp>
        <p:nvSpPr>
          <p:cNvPr id="26" name="Text 20"/>
          <p:cNvSpPr txBox="1"/>
          <p:nvPr/>
        </p:nvSpPr>
        <p:spPr>
          <a:xfrm>
            <a:off x="5760720" y="4187952"/>
            <a:ext cx="411480" cy="411480"/>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1"/>
          <p:cNvSpPr txBox="1"/>
          <p:nvPr/>
        </p:nvSpPr>
        <p:spPr>
          <a:xfrm>
            <a:off x="6309360" y="4114800"/>
            <a:ext cx="5257800" cy="566928"/>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Data makes one point: right chart, one highlight</a:t>
            </a:r>
            <a:endParaRPr lang="en-US" sz="1500" dirty="0"/>
          </a:p>
        </p:txBody>
      </p:sp>
      <p:sp>
        <p:nvSpPr>
          <p:cNvPr id="28" name="Shape 22"/>
          <p:cNvSpPr/>
          <p:nvPr/>
        </p:nvSpPr>
        <p:spPr>
          <a:xfrm>
            <a:off x="5669280" y="4800600"/>
            <a:ext cx="5989320" cy="566928"/>
          </a:xfrm>
          <a:prstGeom prst="roundRect">
            <a:avLst>
              <a:gd name="adj" fmla="val 16129"/>
            </a:avLst>
          </a:prstGeom>
          <a:solidFill>
            <a:srgbClr val="FFFFFF"/>
          </a:solidFill>
          <a:ln w="12700">
            <a:solidFill>
              <a:srgbClr val="FFFFFF"/>
            </a:solidFill>
            <a:prstDash val="solid"/>
          </a:ln>
        </p:spPr>
      </p:sp>
      <p:sp>
        <p:nvSpPr>
          <p:cNvPr id="29" name="Text 23"/>
          <p:cNvSpPr txBox="1"/>
          <p:nvPr/>
        </p:nvSpPr>
        <p:spPr>
          <a:xfrm>
            <a:off x="5760720" y="4873752"/>
            <a:ext cx="411480" cy="411480"/>
          </a:xfrm>
          <a:prstGeom prst="ellipse">
            <a:avLst/>
          </a:prstGeom>
          <a:solidFill>
            <a:srgbClr val="E300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4"/>
          <p:cNvSpPr txBox="1"/>
          <p:nvPr/>
        </p:nvSpPr>
        <p:spPr>
          <a:xfrm>
            <a:off x="6309360" y="4800600"/>
            <a:ext cx="5257800" cy="566928"/>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Clear ask, calm Q&amp;A: acknowledge, answer, bridge</a:t>
            </a:r>
            <a:endParaRPr lang="en-US" sz="1500" dirty="0"/>
          </a:p>
        </p:txBody>
      </p:sp>
      <p:sp>
        <p:nvSpPr>
          <p:cNvPr id="31" name="Text 25"/>
          <p:cNvSpPr txBox="1"/>
          <p:nvPr/>
        </p:nvSpPr>
        <p:spPr>
          <a:xfrm>
            <a:off x="5669280" y="5532120"/>
            <a:ext cx="5943600" cy="41148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Feedback rule: </a:t>
            </a:r>
            <a:pPr indent="0" marL="0">
              <a:buNone/>
            </a:pPr>
            <a:r>
              <a:rPr lang="en-US" sz="1500" dirty="0">
                <a:solidFill>
                  <a:srgbClr val="1A1A1A"/>
                </a:solidFill>
                <a:latin typeface="Calibri" pitchFamily="34" charset="0"/>
                <a:ea typeface="Calibri" pitchFamily="34" charset="-122"/>
                <a:cs typeface="Calibri" pitchFamily="34" charset="-120"/>
              </a:rPr>
              <a:t>one thing that worked, then one thing to try</a:t>
            </a:r>
            <a:endParaRPr lang="en-US" sz="1500" dirty="0"/>
          </a:p>
        </p:txBody>
      </p:sp>
      <p:sp>
        <p:nvSpPr>
          <p:cNvPr id="32" name="Text 26"/>
          <p:cNvSpPr txBox="1"/>
          <p:nvPr/>
        </p:nvSpPr>
        <p:spPr>
          <a:xfrm>
            <a:off x="548640" y="5760720"/>
            <a:ext cx="1828800" cy="329184"/>
          </a:xfrm>
          <a:prstGeom prst="roundRect">
            <a:avLst>
              <a:gd name="adj" fmla="val 50000"/>
            </a:avLst>
          </a:prstGeom>
          <a:solidFill>
            <a:srgbClr val="E3001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 min  ·  trios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005840"/>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Write one commitment you will use in your next presentation this month</a:t>
            </a:r>
            <a:endParaRPr lang="en-US" sz="2600" dirty="0"/>
          </a:p>
        </p:txBody>
      </p:sp>
      <p:sp>
        <p:nvSpPr>
          <p:cNvPr id="4" name="Shape 1"/>
          <p:cNvSpPr/>
          <p:nvPr/>
        </p:nvSpPr>
        <p:spPr>
          <a:xfrm>
            <a:off x="548640" y="1645920"/>
            <a:ext cx="5852160" cy="4114800"/>
          </a:xfrm>
          <a:prstGeom prst="roundRect">
            <a:avLst>
              <a:gd name="adj" fmla="val 2222"/>
            </a:avLst>
          </a:prstGeom>
          <a:solidFill>
            <a:srgbClr val="FFFFFF"/>
          </a:solidFill>
          <a:ln w="25400">
            <a:solidFill>
              <a:srgbClr val="E3001B"/>
            </a:solidFill>
            <a:prstDash val="solid"/>
          </a:ln>
          <a:effectLst>
            <a:outerShdw sx="100000" sy="100000" kx="0" ky="0" algn="bl" rotWithShape="0" blurRad="76200" dist="25400" dir="5400000">
              <a:srgbClr val="000000">
                <a:alpha val="15000"/>
              </a:srgbClr>
            </a:outerShdw>
          </a:effectLst>
        </p:spPr>
      </p:sp>
      <p:sp>
        <p:nvSpPr>
          <p:cNvPr id="5" name="Shape 2"/>
          <p:cNvSpPr/>
          <p:nvPr/>
        </p:nvSpPr>
        <p:spPr>
          <a:xfrm>
            <a:off x="822960" y="1874520"/>
            <a:ext cx="731520" cy="731520"/>
          </a:xfrm>
          <a:prstGeom prst="ellipse">
            <a:avLst/>
          </a:prstGeom>
          <a:solidFill>
            <a:srgbClr val="E3001B"/>
          </a:solidFill>
          <a:ln w="12700">
            <a:solidFill>
              <a:srgbClr val="E3001B"/>
            </a:solidFill>
            <a:prstDash val="solid"/>
          </a:ln>
        </p:spPr>
      </p:sp>
      <p:pic>
        <p:nvPicPr>
          <p:cNvPr id="6" name="Image 0" descr="preencoded.png">    </p:cNvPr>
          <p:cNvPicPr>
            <a:picLocks noChangeAspect="1"/>
          </p:cNvPicPr>
          <p:nvPr/>
        </p:nvPicPr>
        <p:blipFill>
          <a:blip r:embed="rId1"/>
          <a:stretch>
            <a:fillRect/>
          </a:stretch>
        </p:blipFill>
        <p:spPr>
          <a:xfrm>
            <a:off x="1027786" y="2079346"/>
            <a:ext cx="321869" cy="321869"/>
          </a:xfrm>
          <a:prstGeom prst="rect">
            <a:avLst/>
          </a:prstGeom>
        </p:spPr>
      </p:pic>
      <p:sp>
        <p:nvSpPr>
          <p:cNvPr id="7" name="Text 3"/>
          <p:cNvSpPr txBox="1"/>
          <p:nvPr/>
        </p:nvSpPr>
        <p:spPr>
          <a:xfrm>
            <a:off x="1737360" y="1965960"/>
            <a:ext cx="4114800" cy="548640"/>
          </a:xfrm>
          <a:prstGeom prst="rect">
            <a:avLst/>
          </a:prstGeom>
          <a:noFill/>
          <a:ln/>
        </p:spPr>
        <p:txBody>
          <a:bodyPr wrap="square" lIns="635" tIns="635" rIns="635" bIns="635" rtlCol="0" anchor="ctr"/>
          <a:lstStyle/>
          <a:p>
            <a:pPr indent="0" marL="0">
              <a:buNone/>
            </a:pPr>
            <a:r>
              <a:rPr lang="en-US" sz="2100" b="1" dirty="0">
                <a:solidFill>
                  <a:srgbClr val="9E0012"/>
                </a:solidFill>
                <a:latin typeface="Calibri" pitchFamily="34" charset="0"/>
                <a:ea typeface="Calibri" pitchFamily="34" charset="-122"/>
                <a:cs typeface="Calibri" pitchFamily="34" charset="-120"/>
              </a:rPr>
              <a:t>My commitment</a:t>
            </a:r>
            <a:endParaRPr lang="en-US" sz="2100" dirty="0"/>
          </a:p>
        </p:txBody>
      </p:sp>
      <p:sp>
        <p:nvSpPr>
          <p:cNvPr id="8" name="Text 4"/>
          <p:cNvSpPr txBox="1"/>
          <p:nvPr/>
        </p:nvSpPr>
        <p:spPr>
          <a:xfrm>
            <a:off x="868680" y="2743200"/>
            <a:ext cx="5303520" cy="2743200"/>
          </a:xfrm>
          <a:prstGeom prst="rect">
            <a:avLst/>
          </a:prstGeom>
          <a:noFill/>
          <a:ln/>
        </p:spPr>
        <p:txBody>
          <a:bodyPr wrap="square" lIns="635" tIns="635" rIns="635" bIns="635" rtlCol="0" anchor="t"/>
          <a:lstStyle/>
          <a:p>
            <a:pPr indent="0" marL="0">
              <a:spcAft>
                <a:spcPts val="1400"/>
              </a:spcAft>
              <a:buNone/>
            </a:pPr>
            <a:r>
              <a:rPr lang="en-US" sz="1700" dirty="0">
                <a:solidFill>
                  <a:srgbClr val="1A1A1A"/>
                </a:solidFill>
                <a:latin typeface="Calibri" pitchFamily="34" charset="0"/>
                <a:ea typeface="Calibri" pitchFamily="34" charset="-122"/>
                <a:cs typeface="Calibri" pitchFamily="34" charset="-120"/>
              </a:rPr>
              <a:t>In my ______________________ (presentation)</a:t>
            </a:r>
            <a:endParaRPr lang="en-US" sz="1700" dirty="0"/>
          </a:p>
          <a:p>
            <a:pPr indent="0" marL="0">
              <a:spcAft>
                <a:spcPts val="1400"/>
              </a:spcAft>
              <a:buNone/>
            </a:pPr>
            <a:r>
              <a:rPr lang="en-US" sz="1700" dirty="0">
                <a:solidFill>
                  <a:srgbClr val="1A1A1A"/>
                </a:solidFill>
                <a:latin typeface="Calibri" pitchFamily="34" charset="0"/>
                <a:ea typeface="Calibri" pitchFamily="34" charset="-122"/>
                <a:cs typeface="Calibri" pitchFamily="34" charset="-120"/>
              </a:rPr>
              <a:t>on ____________ (date),</a:t>
            </a:r>
            <a:endParaRPr lang="en-US" sz="1700" dirty="0"/>
          </a:p>
          <a:p>
            <a:pPr indent="0" marL="0">
              <a:spcAft>
                <a:spcPts val="1400"/>
              </a:spcAft>
              <a:buNone/>
            </a:pPr>
            <a:r>
              <a:rPr lang="en-US" sz="1700" dirty="0">
                <a:solidFill>
                  <a:srgbClr val="1A1A1A"/>
                </a:solidFill>
                <a:latin typeface="Calibri" pitchFamily="34" charset="0"/>
                <a:ea typeface="Calibri" pitchFamily="34" charset="-122"/>
                <a:cs typeface="Calibri" pitchFamily="34" charset="-120"/>
              </a:rPr>
              <a:t>I will use ______________________ (one technique).</a:t>
            </a:r>
            <a:endParaRPr lang="en-US" sz="1700" dirty="0"/>
          </a:p>
          <a:p>
            <a:pPr indent="0" marL="0">
              <a:spcAft>
                <a:spcPts val="1400"/>
              </a:spcAft>
              <a:buNone/>
            </a:pPr>
            <a:r>
              <a:rPr lang="en-US" sz="1700" dirty="0">
                <a:solidFill>
                  <a:srgbClr val="1A1A1A"/>
                </a:solidFill>
                <a:latin typeface="Calibri" pitchFamily="34" charset="0"/>
                <a:ea typeface="Calibri" pitchFamily="34" charset="-122"/>
                <a:cs typeface="Calibri" pitchFamily="34" charset="-120"/>
              </a:rPr>
              <a:t>I will ask ____________ for feedback.</a:t>
            </a:r>
            <a:endParaRPr lang="en-US" sz="1700" dirty="0"/>
          </a:p>
        </p:txBody>
      </p:sp>
      <p:sp>
        <p:nvSpPr>
          <p:cNvPr id="9" name="Text 5"/>
          <p:cNvSpPr txBox="1"/>
          <p:nvPr/>
        </p:nvSpPr>
        <p:spPr>
          <a:xfrm>
            <a:off x="6858000" y="1645920"/>
            <a:ext cx="4572000" cy="411480"/>
          </a:xfrm>
          <a:prstGeom prst="rect">
            <a:avLst/>
          </a:prstGeom>
          <a:noFill/>
          <a:ln/>
        </p:spPr>
        <p:txBody>
          <a:bodyPr wrap="square" lIns="635" tIns="635" rIns="635" bIns="635" rtlCol="0" anchor="ctr"/>
          <a:lstStyle/>
          <a:p>
            <a:pPr indent="0" marL="0">
              <a:buNone/>
            </a:pPr>
            <a:r>
              <a:rPr lang="en-US" sz="1800" b="1" dirty="0">
                <a:solidFill>
                  <a:srgbClr val="9E0012"/>
                </a:solidFill>
                <a:latin typeface="Calibri" pitchFamily="34" charset="0"/>
                <a:ea typeface="Calibri" pitchFamily="34" charset="-122"/>
                <a:cs typeface="Calibri" pitchFamily="34" charset="-120"/>
              </a:rPr>
              <a:t>Your 30-day plan</a:t>
            </a:r>
            <a:endParaRPr lang="en-US" sz="1800" dirty="0"/>
          </a:p>
        </p:txBody>
      </p:sp>
      <p:sp>
        <p:nvSpPr>
          <p:cNvPr id="10" name="Shape 6"/>
          <p:cNvSpPr/>
          <p:nvPr/>
        </p:nvSpPr>
        <p:spPr>
          <a:xfrm>
            <a:off x="6858000" y="2148840"/>
            <a:ext cx="4800600" cy="777240"/>
          </a:xfrm>
          <a:prstGeom prst="roundRect">
            <a:avLst>
              <a:gd name="adj" fmla="val 11765"/>
            </a:avLst>
          </a:prstGeom>
          <a:solidFill>
            <a:srgbClr val="F4F4F4"/>
          </a:solidFill>
          <a:ln w="12700">
            <a:solidFill>
              <a:srgbClr val="F4F4F4"/>
            </a:solidFill>
            <a:prstDash val="solid"/>
          </a:ln>
        </p:spPr>
      </p:sp>
      <p:sp>
        <p:nvSpPr>
          <p:cNvPr id="11" name="Text 7"/>
          <p:cNvSpPr txBox="1"/>
          <p:nvPr/>
        </p:nvSpPr>
        <p:spPr>
          <a:xfrm>
            <a:off x="6995160" y="2148840"/>
            <a:ext cx="1005840" cy="77724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Week 1</a:t>
            </a:r>
            <a:endParaRPr lang="en-US" sz="1500" dirty="0"/>
          </a:p>
        </p:txBody>
      </p:sp>
      <p:sp>
        <p:nvSpPr>
          <p:cNvPr id="12" name="Text 8"/>
          <p:cNvSpPr txBox="1"/>
          <p:nvPr/>
        </p:nvSpPr>
        <p:spPr>
          <a:xfrm>
            <a:off x="8001000" y="2148840"/>
            <a:ext cx="3566160" cy="77724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Rewrite one old deck's titles as action titles</a:t>
            </a:r>
            <a:endParaRPr lang="en-US" sz="1500" dirty="0"/>
          </a:p>
        </p:txBody>
      </p:sp>
      <p:sp>
        <p:nvSpPr>
          <p:cNvPr id="13" name="Shape 9"/>
          <p:cNvSpPr/>
          <p:nvPr/>
        </p:nvSpPr>
        <p:spPr>
          <a:xfrm>
            <a:off x="6858000" y="3044952"/>
            <a:ext cx="4800600" cy="777240"/>
          </a:xfrm>
          <a:prstGeom prst="roundRect">
            <a:avLst>
              <a:gd name="adj" fmla="val 11765"/>
            </a:avLst>
          </a:prstGeom>
          <a:solidFill>
            <a:srgbClr val="FFFFFF"/>
          </a:solidFill>
          <a:ln w="12700">
            <a:solidFill>
              <a:srgbClr val="FFFFFF"/>
            </a:solidFill>
            <a:prstDash val="solid"/>
          </a:ln>
        </p:spPr>
      </p:sp>
      <p:sp>
        <p:nvSpPr>
          <p:cNvPr id="14" name="Text 10"/>
          <p:cNvSpPr txBox="1"/>
          <p:nvPr/>
        </p:nvSpPr>
        <p:spPr>
          <a:xfrm>
            <a:off x="6995160" y="3044952"/>
            <a:ext cx="1005840" cy="77724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Week 2</a:t>
            </a:r>
            <a:endParaRPr lang="en-US" sz="1500" dirty="0"/>
          </a:p>
        </p:txBody>
      </p:sp>
      <p:sp>
        <p:nvSpPr>
          <p:cNvPr id="15" name="Text 11"/>
          <p:cNvSpPr txBox="1"/>
          <p:nvPr/>
        </p:nvSpPr>
        <p:spPr>
          <a:xfrm>
            <a:off x="8001000" y="3044952"/>
            <a:ext cx="3566160" cy="77724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Open one meeting with SCQA in 4 sentences</a:t>
            </a:r>
            <a:endParaRPr lang="en-US" sz="1500" dirty="0"/>
          </a:p>
        </p:txBody>
      </p:sp>
      <p:sp>
        <p:nvSpPr>
          <p:cNvPr id="16" name="Shape 12"/>
          <p:cNvSpPr/>
          <p:nvPr/>
        </p:nvSpPr>
        <p:spPr>
          <a:xfrm>
            <a:off x="6858000" y="3941064"/>
            <a:ext cx="4800600" cy="777240"/>
          </a:xfrm>
          <a:prstGeom prst="roundRect">
            <a:avLst>
              <a:gd name="adj" fmla="val 11765"/>
            </a:avLst>
          </a:prstGeom>
          <a:solidFill>
            <a:srgbClr val="F4F4F4"/>
          </a:solidFill>
          <a:ln w="12700">
            <a:solidFill>
              <a:srgbClr val="F4F4F4"/>
            </a:solidFill>
            <a:prstDash val="solid"/>
          </a:ln>
        </p:spPr>
      </p:sp>
      <p:sp>
        <p:nvSpPr>
          <p:cNvPr id="17" name="Text 13"/>
          <p:cNvSpPr txBox="1"/>
          <p:nvPr/>
        </p:nvSpPr>
        <p:spPr>
          <a:xfrm>
            <a:off x="6995160" y="3941064"/>
            <a:ext cx="1005840" cy="77724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Week 3</a:t>
            </a:r>
            <a:endParaRPr lang="en-US" sz="1500" dirty="0"/>
          </a:p>
        </p:txBody>
      </p:sp>
      <p:sp>
        <p:nvSpPr>
          <p:cNvPr id="18" name="Text 14"/>
          <p:cNvSpPr txBox="1"/>
          <p:nvPr/>
        </p:nvSpPr>
        <p:spPr>
          <a:xfrm>
            <a:off x="8001000" y="3941064"/>
            <a:ext cx="3566160" cy="77724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Declutter one chart: delete, grey, highlight</a:t>
            </a:r>
            <a:endParaRPr lang="en-US" sz="1500" dirty="0"/>
          </a:p>
        </p:txBody>
      </p:sp>
      <p:sp>
        <p:nvSpPr>
          <p:cNvPr id="19" name="Shape 15"/>
          <p:cNvSpPr/>
          <p:nvPr/>
        </p:nvSpPr>
        <p:spPr>
          <a:xfrm>
            <a:off x="6858000" y="4837176"/>
            <a:ext cx="4800600" cy="777240"/>
          </a:xfrm>
          <a:prstGeom prst="roundRect">
            <a:avLst>
              <a:gd name="adj" fmla="val 11765"/>
            </a:avLst>
          </a:prstGeom>
          <a:solidFill>
            <a:srgbClr val="FFFFFF"/>
          </a:solidFill>
          <a:ln w="12700">
            <a:solidFill>
              <a:srgbClr val="FFFFFF"/>
            </a:solidFill>
            <a:prstDash val="solid"/>
          </a:ln>
        </p:spPr>
      </p:sp>
      <p:sp>
        <p:nvSpPr>
          <p:cNvPr id="20" name="Text 16"/>
          <p:cNvSpPr txBox="1"/>
          <p:nvPr/>
        </p:nvSpPr>
        <p:spPr>
          <a:xfrm>
            <a:off x="6995160" y="4837176"/>
            <a:ext cx="1005840" cy="777240"/>
          </a:xfrm>
          <a:prstGeom prst="rect">
            <a:avLst/>
          </a:prstGeom>
          <a:noFill/>
          <a:ln/>
        </p:spPr>
        <p:txBody>
          <a:bodyPr wrap="square" lIns="635" tIns="635" rIns="635" bIns="635" rtlCol="0" anchor="ctr"/>
          <a:lstStyle/>
          <a:p>
            <a:pPr indent="0" marL="0">
              <a:buNone/>
            </a:pPr>
            <a:r>
              <a:rPr lang="en-US" sz="1500" b="1" dirty="0">
                <a:solidFill>
                  <a:srgbClr val="E3001B"/>
                </a:solidFill>
                <a:latin typeface="Calibri" pitchFamily="34" charset="0"/>
                <a:ea typeface="Calibri" pitchFamily="34" charset="-122"/>
                <a:cs typeface="Calibri" pitchFamily="34" charset="-120"/>
              </a:rPr>
              <a:t>Week 4</a:t>
            </a:r>
            <a:endParaRPr lang="en-US" sz="1500" dirty="0"/>
          </a:p>
        </p:txBody>
      </p:sp>
      <p:sp>
        <p:nvSpPr>
          <p:cNvPr id="21" name="Text 17"/>
          <p:cNvSpPr txBox="1"/>
          <p:nvPr/>
        </p:nvSpPr>
        <p:spPr>
          <a:xfrm>
            <a:off x="8001000" y="4837176"/>
            <a:ext cx="3566160" cy="777240"/>
          </a:xfrm>
          <a:prstGeom prst="rect">
            <a:avLst/>
          </a:prstGeom>
          <a:noFill/>
          <a:ln/>
        </p:spPr>
        <p:txBody>
          <a:bodyPr wrap="square" lIns="635" tIns="635" rIns="635" bIns="635" rtlCol="0" anchor="ctr"/>
          <a:lstStyle/>
          <a:p>
            <a:pPr indent="0" marL="0">
              <a:buNone/>
            </a:pPr>
            <a:r>
              <a:rPr lang="en-US" sz="1500" dirty="0">
                <a:solidFill>
                  <a:srgbClr val="1A1A1A"/>
                </a:solidFill>
                <a:latin typeface="Calibri" pitchFamily="34" charset="0"/>
                <a:ea typeface="Calibri" pitchFamily="34" charset="-122"/>
                <a:cs typeface="Calibri" pitchFamily="34" charset="-120"/>
              </a:rPr>
              <a:t>Rehearse aloud and run the headline test before a real meeting</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7071183" y="0"/>
            <a:ext cx="5120512" cy="6858000"/>
          </a:xfrm>
          <a:prstGeom prst="rect">
            <a:avLst/>
          </a:prstGeom>
          <a:solidFill>
            <a:srgbClr val="9E0012"/>
          </a:solidFill>
          <a:ln w="12700">
            <a:solidFill>
              <a:srgbClr val="9E0012"/>
            </a:solidFill>
            <a:prstDash val="solid"/>
          </a:ln>
        </p:spPr>
      </p:sp>
      <p:sp>
        <p:nvSpPr>
          <p:cNvPr id="3" name="Shape 1"/>
          <p:cNvSpPr/>
          <p:nvPr/>
        </p:nvSpPr>
        <p:spPr>
          <a:xfrm>
            <a:off x="7583234" y="1380795"/>
            <a:ext cx="4096410" cy="4096410"/>
          </a:xfrm>
          <a:prstGeom prst="ellipse">
            <a:avLst/>
          </a:prstGeom>
          <a:solidFill>
            <a:srgbClr val="E3001B">
              <a:alpha val="60000"/>
            </a:srgbClr>
          </a:solidFill>
          <a:ln w="12700">
            <a:solidFill>
              <a:srgbClr val="E3001B">
                <a:alpha val="0"/>
              </a:srgbClr>
            </a:solidFill>
            <a:prstDash val="solid"/>
          </a:ln>
        </p:spPr>
      </p:sp>
      <p:pic>
        <p:nvPicPr>
          <p:cNvPr id="4" name="Image 0" descr="diverse Indonesian team applauding at the end of a workshop">    </p:cNvPr>
          <p:cNvPicPr>
            <a:picLocks noChangeAspect="1"/>
          </p:cNvPicPr>
          <p:nvPr/>
        </p:nvPicPr>
        <p:blipFill>
          <a:blip r:embed="rId1">
            <a:alphaModFix amt="90000"/>
          </a:blip>
          <a:stretch>
            <a:fillRect/>
          </a:stretch>
        </p:blipFill>
        <p:spPr>
          <a:xfrm>
            <a:off x="8853121" y="2650682"/>
            <a:ext cx="1556636" cy="1556636"/>
          </a:xfrm>
          <a:prstGeom prst="rect">
            <a:avLst/>
          </a:prstGeom>
        </p:spPr>
      </p:pic>
      <p:sp>
        <p:nvSpPr>
          <p:cNvPr id="5" name="Text 2"/>
          <p:cNvSpPr txBox="1"/>
          <p:nvPr/>
        </p:nvSpPr>
        <p:spPr>
          <a:xfrm>
            <a:off x="548640" y="640080"/>
            <a:ext cx="6309360" cy="1371600"/>
          </a:xfrm>
          <a:prstGeom prst="rect">
            <a:avLst/>
          </a:prstGeom>
          <a:noFill/>
          <a:ln/>
        </p:spPr>
        <p:txBody>
          <a:bodyPr wrap="square" lIns="635" tIns="635" rIns="635" bIns="635" rtlCol="0" anchor="t"/>
          <a:lstStyle/>
          <a:p>
            <a:pPr indent="0" marL="0">
              <a:buNone/>
            </a:pPr>
            <a:r>
              <a:rPr lang="en-US" sz="3200" b="1" dirty="0">
                <a:solidFill>
                  <a:srgbClr val="FFFFFF"/>
                </a:solidFill>
                <a:latin typeface="Arial" pitchFamily="34" charset="0"/>
                <a:ea typeface="Arial" pitchFamily="34" charset="-122"/>
                <a:cs typeface="Arial" pitchFamily="34" charset="-120"/>
              </a:rPr>
              <a:t>Today you practised the three moves that get decisions</a:t>
            </a:r>
            <a:endParaRPr lang="en-US" sz="3200" dirty="0"/>
          </a:p>
        </p:txBody>
      </p:sp>
      <p:sp>
        <p:nvSpPr>
          <p:cNvPr id="6" name="Text 3"/>
          <p:cNvSpPr txBox="1"/>
          <p:nvPr/>
        </p:nvSpPr>
        <p:spPr>
          <a:xfrm>
            <a:off x="548640" y="2286000"/>
            <a:ext cx="548640" cy="548640"/>
          </a:xfrm>
          <a:prstGeom prst="ellipse">
            <a:avLst/>
          </a:prstGeom>
          <a:solidFill>
            <a:srgbClr val="FFFFFF"/>
          </a:solidFill>
          <a:ln/>
        </p:spPr>
        <p:txBody>
          <a:bodyPr wrap="square" lIns="0" tIns="0" rIns="0" bIns="0" rtlCol="0" anchor="ctr"/>
          <a:lstStyle/>
          <a:p>
            <a:pPr algn="ctr" indent="0" marL="0">
              <a:buNone/>
            </a:pPr>
            <a:r>
              <a:rPr lang="en-US" sz="2000" b="1" dirty="0">
                <a:solidFill>
                  <a:srgbClr val="9E0012"/>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280160" y="2194560"/>
            <a:ext cx="5577840" cy="1005840"/>
          </a:xfrm>
          <a:prstGeom prst="rect">
            <a:avLst/>
          </a:prstGeom>
          <a:noFill/>
          <a:ln/>
        </p:spPr>
        <p:txBody>
          <a:bodyPr wrap="square" lIns="635" tIns="635" rIns="635" bIns="635"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Answer first</a:t>
            </a:r>
            <a:endParaRPr lang="en-US" sz="1500" dirty="0"/>
          </a:p>
          <a:p>
            <a:pPr indent="0" marL="0">
              <a:buNone/>
            </a:pPr>
            <a:r>
              <a:rPr lang="en-US" sz="1500" dirty="0">
                <a:solidFill>
                  <a:srgbClr val="FFD6DA"/>
                </a:solidFill>
                <a:latin typeface="Calibri" pitchFamily="34" charset="0"/>
                <a:ea typeface="Calibri" pitchFamily="34" charset="-122"/>
                <a:cs typeface="Calibri" pitchFamily="34" charset="-120"/>
              </a:rPr>
              <a:t>Pyramid and SCQA: your recommendation in the first 30 seconds</a:t>
            </a:r>
            <a:endParaRPr lang="en-US" sz="1500" dirty="0"/>
          </a:p>
        </p:txBody>
      </p:sp>
      <p:sp>
        <p:nvSpPr>
          <p:cNvPr id="8" name="Text 5"/>
          <p:cNvSpPr txBox="1"/>
          <p:nvPr/>
        </p:nvSpPr>
        <p:spPr>
          <a:xfrm>
            <a:off x="548640" y="3429000"/>
            <a:ext cx="548640" cy="548640"/>
          </a:xfrm>
          <a:prstGeom prst="ellipse">
            <a:avLst/>
          </a:prstGeom>
          <a:solidFill>
            <a:srgbClr val="FFFFFF"/>
          </a:solidFill>
          <a:ln/>
        </p:spPr>
        <p:txBody>
          <a:bodyPr wrap="square" lIns="0" tIns="0" rIns="0" bIns="0" rtlCol="0" anchor="ctr"/>
          <a:lstStyle/>
          <a:p>
            <a:pPr algn="ctr" indent="0" marL="0">
              <a:buNone/>
            </a:pPr>
            <a:r>
              <a:rPr lang="en-US" sz="2000" b="1" dirty="0">
                <a:solidFill>
                  <a:srgbClr val="9E0012"/>
                </a:solidFill>
                <a:latin typeface="Calibri" pitchFamily="34" charset="0"/>
                <a:ea typeface="Calibri" pitchFamily="34" charset="-122"/>
                <a:cs typeface="Calibri" pitchFamily="34" charset="-120"/>
              </a:rPr>
              <a:t>2</a:t>
            </a:r>
            <a:endParaRPr lang="en-US" sz="2000" dirty="0"/>
          </a:p>
        </p:txBody>
      </p:sp>
      <p:sp>
        <p:nvSpPr>
          <p:cNvPr id="9" name="Text 6"/>
          <p:cNvSpPr txBox="1"/>
          <p:nvPr/>
        </p:nvSpPr>
        <p:spPr>
          <a:xfrm>
            <a:off x="1280160" y="3337560"/>
            <a:ext cx="5577840" cy="1005840"/>
          </a:xfrm>
          <a:prstGeom prst="rect">
            <a:avLst/>
          </a:prstGeom>
          <a:noFill/>
          <a:ln/>
        </p:spPr>
        <p:txBody>
          <a:bodyPr wrap="square" lIns="635" tIns="635" rIns="635" bIns="635"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Story in the titles</a:t>
            </a:r>
            <a:endParaRPr lang="en-US" sz="1500" dirty="0"/>
          </a:p>
          <a:p>
            <a:pPr indent="0" marL="0">
              <a:buNone/>
            </a:pPr>
            <a:r>
              <a:rPr lang="en-US" sz="1500" dirty="0">
                <a:solidFill>
                  <a:srgbClr val="FFD6DA"/>
                </a:solidFill>
                <a:latin typeface="Calibri" pitchFamily="34" charset="0"/>
                <a:ea typeface="Calibri" pitchFamily="34" charset="-122"/>
                <a:cs typeface="Calibri" pitchFamily="34" charset="-120"/>
              </a:rPr>
              <a:t>Action titles that pass the headline test</a:t>
            </a:r>
            <a:endParaRPr lang="en-US" sz="1500" dirty="0"/>
          </a:p>
        </p:txBody>
      </p:sp>
      <p:sp>
        <p:nvSpPr>
          <p:cNvPr id="10" name="Text 7"/>
          <p:cNvSpPr txBox="1"/>
          <p:nvPr/>
        </p:nvSpPr>
        <p:spPr>
          <a:xfrm>
            <a:off x="548640" y="4572000"/>
            <a:ext cx="548640" cy="548640"/>
          </a:xfrm>
          <a:prstGeom prst="ellipse">
            <a:avLst/>
          </a:prstGeom>
          <a:solidFill>
            <a:srgbClr val="FFFFFF"/>
          </a:solidFill>
          <a:ln/>
        </p:spPr>
        <p:txBody>
          <a:bodyPr wrap="square" lIns="0" tIns="0" rIns="0" bIns="0" rtlCol="0" anchor="ctr"/>
          <a:lstStyle/>
          <a:p>
            <a:pPr algn="ctr" indent="0" marL="0">
              <a:buNone/>
            </a:pPr>
            <a:r>
              <a:rPr lang="en-US" sz="2000" b="1" dirty="0">
                <a:solidFill>
                  <a:srgbClr val="9E0012"/>
                </a:solidFill>
                <a:latin typeface="Calibri" pitchFamily="34" charset="0"/>
                <a:ea typeface="Calibri" pitchFamily="34" charset="-122"/>
                <a:cs typeface="Calibri" pitchFamily="34" charset="-120"/>
              </a:rPr>
              <a:t>3</a:t>
            </a:r>
            <a:endParaRPr lang="en-US" sz="2000" dirty="0"/>
          </a:p>
        </p:txBody>
      </p:sp>
      <p:sp>
        <p:nvSpPr>
          <p:cNvPr id="11" name="Text 8"/>
          <p:cNvSpPr txBox="1"/>
          <p:nvPr/>
        </p:nvSpPr>
        <p:spPr>
          <a:xfrm>
            <a:off x="1280160" y="4480560"/>
            <a:ext cx="5577840" cy="1005840"/>
          </a:xfrm>
          <a:prstGeom prst="rect">
            <a:avLst/>
          </a:prstGeom>
          <a:noFill/>
          <a:ln/>
        </p:spPr>
        <p:txBody>
          <a:bodyPr wrap="square" lIns="635" tIns="635" rIns="635" bIns="635"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One number, one ask</a:t>
            </a:r>
            <a:endParaRPr lang="en-US" sz="1500" dirty="0"/>
          </a:p>
          <a:p>
            <a:pPr indent="0" marL="0">
              <a:buNone/>
            </a:pPr>
            <a:r>
              <a:rPr lang="en-US" sz="1500" dirty="0">
                <a:solidFill>
                  <a:srgbClr val="FFD6DA"/>
                </a:solidFill>
                <a:latin typeface="Calibri" pitchFamily="34" charset="0"/>
                <a:ea typeface="Calibri" pitchFamily="34" charset="-122"/>
                <a:cs typeface="Calibri" pitchFamily="34" charset="-120"/>
              </a:rPr>
              <a:t>Clean charts, a clear decision, calm answers to tough questions</a:t>
            </a:r>
            <a:endParaRPr lang="en-US" sz="1500" dirty="0"/>
          </a:p>
        </p:txBody>
      </p:sp>
      <p:sp>
        <p:nvSpPr>
          <p:cNvPr id="12" name="Text 9"/>
          <p:cNvSpPr txBox="1"/>
          <p:nvPr/>
        </p:nvSpPr>
        <p:spPr>
          <a:xfrm>
            <a:off x="548640" y="5760720"/>
            <a:ext cx="6309360" cy="457200"/>
          </a:xfrm>
          <a:prstGeom prst="rect">
            <a:avLst/>
          </a:prstGeom>
          <a:noFill/>
          <a:ln/>
        </p:spPr>
        <p:txBody>
          <a:bodyPr wrap="square" lIns="635" tIns="635" rIns="635" bIns="635" rtlCol="0" anchor="ctr"/>
          <a:lstStyle/>
          <a:p>
            <a:pPr indent="0" marL="0">
              <a:buNone/>
            </a:pPr>
            <a:r>
              <a:rPr lang="en-US" sz="1800" b="1" i="1" dirty="0">
                <a:solidFill>
                  <a:srgbClr val="FFFFFF"/>
                </a:solidFill>
                <a:latin typeface="Calibri" pitchFamily="34" charset="0"/>
                <a:ea typeface="Calibri" pitchFamily="34" charset="-122"/>
                <a:cs typeface="Calibri" pitchFamily="34" charset="-120"/>
              </a:rPr>
              <a:t>Your next presentation is your next practice round.</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Presentation cheat sheet: check every box before you present</a:t>
            </a:r>
            <a:endParaRPr lang="en-US" sz="2400" dirty="0"/>
          </a:p>
        </p:txBody>
      </p:sp>
      <p:sp>
        <p:nvSpPr>
          <p:cNvPr id="3" name="Shape 1"/>
          <p:cNvSpPr/>
          <p:nvPr/>
        </p:nvSpPr>
        <p:spPr>
          <a:xfrm>
            <a:off x="548640" y="1234440"/>
            <a:ext cx="3566160" cy="2331720"/>
          </a:xfrm>
          <a:prstGeom prst="roundRect">
            <a:avLst>
              <a:gd name="adj" fmla="val 3922"/>
            </a:avLst>
          </a:prstGeom>
          <a:solidFill>
            <a:srgbClr val="F4F4F4"/>
          </a:solidFill>
          <a:ln w="12700">
            <a:solidFill>
              <a:srgbClr val="E0E0E0"/>
            </a:solidFill>
            <a:prstDash val="solid"/>
          </a:ln>
        </p:spPr>
      </p:sp>
      <p:sp>
        <p:nvSpPr>
          <p:cNvPr id="4" name="Text 2"/>
          <p:cNvSpPr txBox="1"/>
          <p:nvPr/>
        </p:nvSpPr>
        <p:spPr>
          <a:xfrm>
            <a:off x="73152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1 · Audience</a:t>
            </a:r>
            <a:endParaRPr lang="en-US" sz="1700" dirty="0"/>
          </a:p>
        </p:txBody>
      </p:sp>
      <p:sp>
        <p:nvSpPr>
          <p:cNvPr id="5" name="Text 3"/>
          <p:cNvSpPr txBox="1"/>
          <p:nvPr/>
        </p:nvSpPr>
        <p:spPr>
          <a:xfrm>
            <a:off x="73152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know who decides and what they can approve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wrote Know / Feel / Do for that person</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know their likely push-back</a:t>
            </a:r>
            <a:endParaRPr lang="en-US" sz="1400" dirty="0"/>
          </a:p>
        </p:txBody>
      </p:sp>
      <p:sp>
        <p:nvSpPr>
          <p:cNvPr id="6" name="Shape 4"/>
          <p:cNvSpPr/>
          <p:nvPr/>
        </p:nvSpPr>
        <p:spPr>
          <a:xfrm>
            <a:off x="4297680" y="1234440"/>
            <a:ext cx="3566160" cy="2331720"/>
          </a:xfrm>
          <a:prstGeom prst="roundRect">
            <a:avLst>
              <a:gd name="adj" fmla="val 3922"/>
            </a:avLst>
          </a:prstGeom>
          <a:solidFill>
            <a:srgbClr val="FFFFFF"/>
          </a:solidFill>
          <a:ln w="12700">
            <a:solidFill>
              <a:srgbClr val="E0E0E0"/>
            </a:solidFill>
            <a:prstDash val="solid"/>
          </a:ln>
        </p:spPr>
      </p:sp>
      <p:sp>
        <p:nvSpPr>
          <p:cNvPr id="7" name="Text 5"/>
          <p:cNvSpPr txBox="1"/>
          <p:nvPr/>
        </p:nvSpPr>
        <p:spPr>
          <a:xfrm>
            <a:off x="448056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2 · Message</a:t>
            </a:r>
            <a:endParaRPr lang="en-US" sz="1700" dirty="0"/>
          </a:p>
        </p:txBody>
      </p:sp>
      <p:sp>
        <p:nvSpPr>
          <p:cNvPr id="8" name="Text 6"/>
          <p:cNvSpPr txBox="1"/>
          <p:nvPr/>
        </p:nvSpPr>
        <p:spPr>
          <a:xfrm>
            <a:off x="448056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My answer fits in one sentence and starts with a verb</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I can say my SCQA in under 30 seconds</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Someone in the room could disagree with my Big Idea</a:t>
            </a:r>
            <a:endParaRPr lang="en-US" sz="1400" dirty="0"/>
          </a:p>
        </p:txBody>
      </p:sp>
      <p:sp>
        <p:nvSpPr>
          <p:cNvPr id="9" name="Shape 7"/>
          <p:cNvSpPr/>
          <p:nvPr/>
        </p:nvSpPr>
        <p:spPr>
          <a:xfrm>
            <a:off x="8046720" y="1234440"/>
            <a:ext cx="3566160" cy="2331720"/>
          </a:xfrm>
          <a:prstGeom prst="roundRect">
            <a:avLst>
              <a:gd name="adj" fmla="val 3922"/>
            </a:avLst>
          </a:prstGeom>
          <a:solidFill>
            <a:srgbClr val="F4F4F4"/>
          </a:solidFill>
          <a:ln w="12700">
            <a:solidFill>
              <a:srgbClr val="E0E0E0"/>
            </a:solidFill>
            <a:prstDash val="solid"/>
          </a:ln>
        </p:spPr>
      </p:sp>
      <p:sp>
        <p:nvSpPr>
          <p:cNvPr id="10" name="Text 8"/>
          <p:cNvSpPr txBox="1"/>
          <p:nvPr/>
        </p:nvSpPr>
        <p:spPr>
          <a:xfrm>
            <a:off x="8229600" y="13258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3 · Storyline</a:t>
            </a:r>
            <a:endParaRPr lang="en-US" sz="1700" dirty="0"/>
          </a:p>
        </p:txBody>
      </p:sp>
      <p:sp>
        <p:nvSpPr>
          <p:cNvPr id="11" name="Text 9"/>
          <p:cNvSpPr txBox="1"/>
          <p:nvPr/>
        </p:nvSpPr>
        <p:spPr>
          <a:xfrm>
            <a:off x="8229600" y="17830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Every title is a full-sentence takeaway</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Reading only the titles tells the whole story</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Slide 1 = the answer; last slide = the ask</a:t>
            </a:r>
            <a:endParaRPr lang="en-US" sz="1400" dirty="0"/>
          </a:p>
        </p:txBody>
      </p:sp>
      <p:sp>
        <p:nvSpPr>
          <p:cNvPr id="12" name="Shape 10"/>
          <p:cNvSpPr/>
          <p:nvPr/>
        </p:nvSpPr>
        <p:spPr>
          <a:xfrm>
            <a:off x="548640" y="3749040"/>
            <a:ext cx="3566160" cy="2331720"/>
          </a:xfrm>
          <a:prstGeom prst="roundRect">
            <a:avLst>
              <a:gd name="adj" fmla="val 3922"/>
            </a:avLst>
          </a:prstGeom>
          <a:solidFill>
            <a:srgbClr val="FFFFFF"/>
          </a:solidFill>
          <a:ln w="12700">
            <a:solidFill>
              <a:srgbClr val="E0E0E0"/>
            </a:solidFill>
            <a:prstDash val="solid"/>
          </a:ln>
        </p:spPr>
      </p:sp>
      <p:sp>
        <p:nvSpPr>
          <p:cNvPr id="13" name="Text 11"/>
          <p:cNvSpPr txBox="1"/>
          <p:nvPr/>
        </p:nvSpPr>
        <p:spPr>
          <a:xfrm>
            <a:off x="73152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4 · Slides and data</a:t>
            </a:r>
            <a:endParaRPr lang="en-US" sz="1700" dirty="0"/>
          </a:p>
        </p:txBody>
      </p:sp>
      <p:sp>
        <p:nvSpPr>
          <p:cNvPr id="14" name="Text 12"/>
          <p:cNvSpPr txBox="1"/>
          <p:nvPr/>
        </p:nvSpPr>
        <p:spPr>
          <a:xfrm>
            <a:off x="73152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One message and one chart per slide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Chart type matches the message</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Clutter removed; one red highlight; sources and units shown</a:t>
            </a:r>
            <a:endParaRPr lang="en-US" sz="1400" dirty="0"/>
          </a:p>
        </p:txBody>
      </p:sp>
      <p:sp>
        <p:nvSpPr>
          <p:cNvPr id="15" name="Shape 13"/>
          <p:cNvSpPr/>
          <p:nvPr/>
        </p:nvSpPr>
        <p:spPr>
          <a:xfrm>
            <a:off x="4297680" y="3749040"/>
            <a:ext cx="3566160" cy="2331720"/>
          </a:xfrm>
          <a:prstGeom prst="roundRect">
            <a:avLst>
              <a:gd name="adj" fmla="val 3922"/>
            </a:avLst>
          </a:prstGeom>
          <a:solidFill>
            <a:srgbClr val="F4F4F4"/>
          </a:solidFill>
          <a:ln w="12700">
            <a:solidFill>
              <a:srgbClr val="E0E0E0"/>
            </a:solidFill>
            <a:prstDash val="solid"/>
          </a:ln>
        </p:spPr>
      </p:sp>
      <p:sp>
        <p:nvSpPr>
          <p:cNvPr id="16" name="Text 14"/>
          <p:cNvSpPr txBox="1"/>
          <p:nvPr/>
        </p:nvSpPr>
        <p:spPr>
          <a:xfrm>
            <a:off x="448056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5 · Delivery</a:t>
            </a:r>
            <a:endParaRPr lang="en-US" sz="1700" dirty="0"/>
          </a:p>
        </p:txBody>
      </p:sp>
      <p:sp>
        <p:nvSpPr>
          <p:cNvPr id="17" name="Text 15"/>
          <p:cNvSpPr txBox="1"/>
          <p:nvPr/>
        </p:nvSpPr>
        <p:spPr>
          <a:xfrm>
            <a:off x="448056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Rehearsed aloud 3 times, once timed</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Opening promise ready; pause after key numbers</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Last slide shows contributions, not 'Thank you'</a:t>
            </a:r>
            <a:endParaRPr lang="en-US" sz="1400" dirty="0"/>
          </a:p>
        </p:txBody>
      </p:sp>
      <p:sp>
        <p:nvSpPr>
          <p:cNvPr id="18" name="Shape 16"/>
          <p:cNvSpPr/>
          <p:nvPr/>
        </p:nvSpPr>
        <p:spPr>
          <a:xfrm>
            <a:off x="8046720" y="3749040"/>
            <a:ext cx="3566160" cy="2331720"/>
          </a:xfrm>
          <a:prstGeom prst="roundRect">
            <a:avLst>
              <a:gd name="adj" fmla="val 3922"/>
            </a:avLst>
          </a:prstGeom>
          <a:solidFill>
            <a:srgbClr val="FFFFFF"/>
          </a:solidFill>
          <a:ln w="12700">
            <a:solidFill>
              <a:srgbClr val="E0E0E0"/>
            </a:solidFill>
            <a:prstDash val="solid"/>
          </a:ln>
        </p:spPr>
      </p:sp>
      <p:sp>
        <p:nvSpPr>
          <p:cNvPr id="19" name="Text 17"/>
          <p:cNvSpPr txBox="1"/>
          <p:nvPr/>
        </p:nvSpPr>
        <p:spPr>
          <a:xfrm>
            <a:off x="8229600" y="3840480"/>
            <a:ext cx="3200400" cy="411480"/>
          </a:xfrm>
          <a:prstGeom prst="rect">
            <a:avLst/>
          </a:prstGeom>
          <a:noFill/>
          <a:ln/>
        </p:spPr>
        <p:txBody>
          <a:bodyPr wrap="square" lIns="635" tIns="635" rIns="635" bIns="635" rtlCol="0" anchor="ctr"/>
          <a:lstStyle/>
          <a:p>
            <a:pPr indent="0" marL="0">
              <a:buNone/>
            </a:pPr>
            <a:r>
              <a:rPr lang="en-US" sz="1700" b="1" dirty="0">
                <a:solidFill>
                  <a:srgbClr val="E3001B"/>
                </a:solidFill>
                <a:latin typeface="Calibri" pitchFamily="34" charset="0"/>
                <a:ea typeface="Calibri" pitchFamily="34" charset="-122"/>
                <a:cs typeface="Calibri" pitchFamily="34" charset="-120"/>
              </a:rPr>
              <a:t>6 · Q&amp;A</a:t>
            </a:r>
            <a:endParaRPr lang="en-US" sz="1700" dirty="0"/>
          </a:p>
        </p:txBody>
      </p:sp>
      <p:sp>
        <p:nvSpPr>
          <p:cNvPr id="20" name="Text 18"/>
          <p:cNvSpPr txBox="1"/>
          <p:nvPr/>
        </p:nvSpPr>
        <p:spPr>
          <a:xfrm>
            <a:off x="8229600" y="4297680"/>
            <a:ext cx="3246120" cy="1691640"/>
          </a:xfrm>
          <a:prstGeom prst="rect">
            <a:avLst/>
          </a:prstGeom>
          <a:noFill/>
          <a:ln/>
        </p:spPr>
        <p:txBody>
          <a:bodyPr wrap="square" lIns="635" tIns="635" rIns="635" bIns="635" rtlCol="0" anchor="t"/>
          <a:lstStyle/>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Top 5 tough questions listed and answered</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Acknowledge → answer short → bridge back</a:t>
            </a:r>
            <a:endParaRPr lang="en-US" sz="1400" dirty="0"/>
          </a:p>
          <a:p>
            <a:pPr indent="0" marL="0">
              <a:spcAft>
                <a:spcPts val="600"/>
              </a:spcAft>
              <a:buNone/>
            </a:pPr>
            <a:r>
              <a:rPr lang="en-US" sz="1400" dirty="0">
                <a:solidFill>
                  <a:srgbClr val="1A1A1A"/>
                </a:solidFill>
                <a:latin typeface="Calibri" pitchFamily="34" charset="0"/>
                <a:ea typeface="Calibri" pitchFamily="34" charset="-122"/>
                <a:cs typeface="Calibri" pitchFamily="34" charset="-120"/>
              </a:rPr>
              <a:t>☐  Backup data in appendix; follow-ups promised with a time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731520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Peer feedback form</a:t>
            </a:r>
            <a:endParaRPr lang="en-US" sz="2400" dirty="0"/>
          </a:p>
        </p:txBody>
      </p:sp>
      <p:sp>
        <p:nvSpPr>
          <p:cNvPr id="3" name="Text 1"/>
          <p:cNvSpPr txBox="1"/>
          <p:nvPr/>
        </p:nvSpPr>
        <p:spPr>
          <a:xfrm>
            <a:off x="548640" y="1051560"/>
            <a:ext cx="11064240" cy="365760"/>
          </a:xfrm>
          <a:prstGeom prst="rect">
            <a:avLst/>
          </a:prstGeom>
          <a:noFill/>
          <a:ln/>
        </p:spPr>
        <p:txBody>
          <a:bodyPr wrap="square" lIns="635" tIns="635" rIns="635" bIns="635" rtlCol="0" anchor="ctr"/>
          <a:lstStyle/>
          <a:p>
            <a:pPr indent="0" marL="0">
              <a:buNone/>
            </a:pPr>
            <a:r>
              <a:rPr lang="en-US" sz="1400" dirty="0">
                <a:solidFill>
                  <a:srgbClr val="6B6B6B"/>
                </a:solidFill>
                <a:latin typeface="Calibri" pitchFamily="34" charset="0"/>
                <a:ea typeface="Calibri" pitchFamily="34" charset="-122"/>
                <a:cs typeface="Calibri" pitchFamily="34" charset="-120"/>
              </a:rPr>
              <a:t>Presenter: ____________   Feedback from: ____________   Topic: ______________________</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3291840"/>
                <a:gridCol w="502920"/>
                <a:gridCol w="502920"/>
                <a:gridCol w="502920"/>
                <a:gridCol w="502920"/>
                <a:gridCol w="35661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good looks like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One specific note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3001B"/>
                    </a:solidFill>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One clear message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I can repeat what they want in one sentence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Answer first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Recommendation in the first 30 seconds</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Titles tell the story</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Action titles; headline test passes</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Data makes one point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Right chart; one highlight; no clutter</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Clear ask, calm Q&amp;A</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6B6B6B"/>
                          </a:solidFill>
                          <a:latin typeface="Calibri" pitchFamily="34" charset="0"/>
                          <a:ea typeface="Calibri" pitchFamily="34" charset="-122"/>
                          <a:cs typeface="Calibri" pitchFamily="34" charset="-120"/>
                        </a:rPr>
                        <a:t>Specific ask; acknowledge → answer → bridge</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5" name="Text 2"/>
          <p:cNvSpPr txBox="1"/>
          <p:nvPr/>
        </p:nvSpPr>
        <p:spPr>
          <a:xfrm>
            <a:off x="548640" y="4892040"/>
            <a:ext cx="10972800" cy="320040"/>
          </a:xfrm>
          <a:prstGeom prst="rect">
            <a:avLst/>
          </a:prstGeom>
          <a:noFill/>
          <a:ln/>
        </p:spPr>
        <p:txBody>
          <a:bodyPr wrap="square" lIns="635" tIns="635" rIns="635" bIns="635"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Scale: 1 = not yet · 2 = partly · 3 = clearly · 4 = executive-ready</a:t>
            </a:r>
            <a:endParaRPr lang="en-US" sz="1300" dirty="0"/>
          </a:p>
        </p:txBody>
      </p:sp>
      <p:sp>
        <p:nvSpPr>
          <p:cNvPr id="6" name="Shape 3"/>
          <p:cNvSpPr/>
          <p:nvPr/>
        </p:nvSpPr>
        <p:spPr>
          <a:xfrm>
            <a:off x="548640" y="5303520"/>
            <a:ext cx="5394960" cy="960120"/>
          </a:xfrm>
          <a:prstGeom prst="roundRect">
            <a:avLst>
              <a:gd name="adj" fmla="val 9524"/>
            </a:avLst>
          </a:prstGeom>
          <a:solidFill>
            <a:srgbClr val="FDECEE"/>
          </a:solidFill>
          <a:ln w="12700">
            <a:solidFill>
              <a:srgbClr val="FDECEE"/>
            </a:solidFill>
            <a:prstDash val="solid"/>
          </a:ln>
        </p:spPr>
      </p:sp>
      <p:sp>
        <p:nvSpPr>
          <p:cNvPr id="7" name="Text 4"/>
          <p:cNvSpPr txBox="1"/>
          <p:nvPr/>
        </p:nvSpPr>
        <p:spPr>
          <a:xfrm>
            <a:off x="731520" y="5349240"/>
            <a:ext cx="5029200" cy="36576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One thing that worked:</a:t>
            </a:r>
            <a:endParaRPr lang="en-US" sz="1400" dirty="0"/>
          </a:p>
        </p:txBody>
      </p:sp>
      <p:sp>
        <p:nvSpPr>
          <p:cNvPr id="8" name="Shape 5"/>
          <p:cNvSpPr/>
          <p:nvPr/>
        </p:nvSpPr>
        <p:spPr>
          <a:xfrm>
            <a:off x="6263640" y="5303520"/>
            <a:ext cx="5394960" cy="960120"/>
          </a:xfrm>
          <a:prstGeom prst="roundRect">
            <a:avLst>
              <a:gd name="adj" fmla="val 9524"/>
            </a:avLst>
          </a:prstGeom>
          <a:solidFill>
            <a:srgbClr val="F4F4F4"/>
          </a:solidFill>
          <a:ln w="12700">
            <a:solidFill>
              <a:srgbClr val="F4F4F4"/>
            </a:solidFill>
            <a:prstDash val="solid"/>
          </a:ln>
        </p:spPr>
      </p:sp>
      <p:sp>
        <p:nvSpPr>
          <p:cNvPr id="9" name="Text 6"/>
          <p:cNvSpPr txBox="1"/>
          <p:nvPr/>
        </p:nvSpPr>
        <p:spPr>
          <a:xfrm>
            <a:off x="6446520" y="5349240"/>
            <a:ext cx="5029200" cy="365760"/>
          </a:xfrm>
          <a:prstGeom prst="rect">
            <a:avLst/>
          </a:prstGeom>
          <a:noFill/>
          <a:ln/>
        </p:spPr>
        <p:txBody>
          <a:bodyPr wrap="square" lIns="635" tIns="635" rIns="635" bIns="635"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One thing to try next time:</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635" tIns="635" rIns="635" bIns="635" rtlCol="0" anchor="ctr"/>
          <a:lstStyle/>
          <a:p>
            <a:pPr indent="0" marL="0">
              <a:buNone/>
            </a:pPr>
            <a:r>
              <a:rPr lang="en-US" sz="2400" b="1" dirty="0">
                <a:solidFill>
                  <a:srgbClr val="1A1A1A"/>
                </a:solidFill>
                <a:latin typeface="Arial" pitchFamily="34" charset="0"/>
                <a:ea typeface="Arial" pitchFamily="34" charset="-122"/>
                <a:cs typeface="Arial" pitchFamily="34" charset="-120"/>
              </a:rPr>
              <a:t>30-day practice plan: one small habit per week, about 20 minutes each</a:t>
            </a:r>
            <a:endParaRPr lang="en-US" sz="2400" dirty="0"/>
          </a:p>
        </p:txBody>
      </p:sp>
      <p:sp>
        <p:nvSpPr>
          <p:cNvPr id="3" name="Shape 1"/>
          <p:cNvSpPr/>
          <p:nvPr/>
        </p:nvSpPr>
        <p:spPr>
          <a:xfrm>
            <a:off x="548640" y="1234440"/>
            <a:ext cx="2606040" cy="4983480"/>
          </a:xfrm>
          <a:prstGeom prst="roundRect">
            <a:avLst>
              <a:gd name="adj" fmla="val 3509"/>
            </a:avLst>
          </a:prstGeom>
          <a:solidFill>
            <a:srgbClr val="F4F4F4"/>
          </a:solidFill>
          <a:ln w="12700">
            <a:solidFill>
              <a:srgbClr val="E0E0E0"/>
            </a:solidFill>
            <a:prstDash val="solid"/>
          </a:ln>
        </p:spPr>
      </p:sp>
      <p:sp>
        <p:nvSpPr>
          <p:cNvPr id="4" name="Shape 2"/>
          <p:cNvSpPr/>
          <p:nvPr/>
        </p:nvSpPr>
        <p:spPr>
          <a:xfrm>
            <a:off x="731520" y="1417320"/>
            <a:ext cx="685800" cy="685800"/>
          </a:xfrm>
          <a:prstGeom prst="ellipse">
            <a:avLst/>
          </a:prstGeom>
          <a:solidFill>
            <a:srgbClr val="E3001B"/>
          </a:solidFill>
          <a:ln w="12700">
            <a:solidFill>
              <a:srgbClr val="E3001B"/>
            </a:solidFill>
            <a:prstDash val="solid"/>
          </a:ln>
        </p:spPr>
      </p:sp>
      <p:pic>
        <p:nvPicPr>
          <p:cNvPr id="5" name="Image 0" descr="preencoded.png">    </p:cNvPr>
          <p:cNvPicPr>
            <a:picLocks noChangeAspect="1"/>
          </p:cNvPicPr>
          <p:nvPr/>
        </p:nvPicPr>
        <p:blipFill>
          <a:blip r:embed="rId1"/>
          <a:stretch>
            <a:fillRect/>
          </a:stretch>
        </p:blipFill>
        <p:spPr>
          <a:xfrm>
            <a:off x="923544" y="1609344"/>
            <a:ext cx="301752" cy="301752"/>
          </a:xfrm>
          <a:prstGeom prst="rect">
            <a:avLst/>
          </a:prstGeom>
        </p:spPr>
      </p:pic>
      <p:sp>
        <p:nvSpPr>
          <p:cNvPr id="6" name="Text 3"/>
          <p:cNvSpPr txBox="1"/>
          <p:nvPr/>
        </p:nvSpPr>
        <p:spPr>
          <a:xfrm>
            <a:off x="1508760"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1</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Titles</a:t>
            </a:r>
            <a:endParaRPr lang="en-US" sz="1500" dirty="0"/>
          </a:p>
        </p:txBody>
      </p:sp>
      <p:sp>
        <p:nvSpPr>
          <p:cNvPr id="7" name="Text 4"/>
          <p:cNvSpPr txBox="1"/>
          <p:nvPr/>
        </p:nvSpPr>
        <p:spPr>
          <a:xfrm>
            <a:off x="731520"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Take your last monthly deck</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Rewrite every title as an action title</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Run the headline test: read titles only</a:t>
            </a:r>
            <a:endParaRPr lang="en-US" sz="1400" dirty="0"/>
          </a:p>
        </p:txBody>
      </p:sp>
      <p:sp>
        <p:nvSpPr>
          <p:cNvPr id="8" name="Text 5"/>
          <p:cNvSpPr txBox="1"/>
          <p:nvPr/>
        </p:nvSpPr>
        <p:spPr>
          <a:xfrm>
            <a:off x="731520"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a colleague understands the story from titles alone</a:t>
            </a:r>
            <a:endParaRPr lang="en-US" sz="1300" dirty="0"/>
          </a:p>
        </p:txBody>
      </p:sp>
      <p:sp>
        <p:nvSpPr>
          <p:cNvPr id="9" name="Shape 6"/>
          <p:cNvSpPr/>
          <p:nvPr/>
        </p:nvSpPr>
        <p:spPr>
          <a:xfrm>
            <a:off x="3355848" y="1234440"/>
            <a:ext cx="2606040" cy="4983480"/>
          </a:xfrm>
          <a:prstGeom prst="roundRect">
            <a:avLst>
              <a:gd name="adj" fmla="val 3509"/>
            </a:avLst>
          </a:prstGeom>
          <a:solidFill>
            <a:srgbClr val="FFFFFF"/>
          </a:solidFill>
          <a:ln w="12700">
            <a:solidFill>
              <a:srgbClr val="E0E0E0"/>
            </a:solidFill>
            <a:prstDash val="solid"/>
          </a:ln>
        </p:spPr>
      </p:sp>
      <p:sp>
        <p:nvSpPr>
          <p:cNvPr id="10" name="Shape 7"/>
          <p:cNvSpPr/>
          <p:nvPr/>
        </p:nvSpPr>
        <p:spPr>
          <a:xfrm>
            <a:off x="3538728" y="1417320"/>
            <a:ext cx="685800" cy="685800"/>
          </a:xfrm>
          <a:prstGeom prst="ellipse">
            <a:avLst/>
          </a:prstGeom>
          <a:solidFill>
            <a:srgbClr val="E3001B"/>
          </a:solidFill>
          <a:ln w="12700">
            <a:solidFill>
              <a:srgbClr val="E3001B"/>
            </a:solidFill>
            <a:prstDash val="solid"/>
          </a:ln>
        </p:spPr>
      </p:sp>
      <p:pic>
        <p:nvPicPr>
          <p:cNvPr id="11" name="Image 1" descr="preencoded.png">    </p:cNvPr>
          <p:cNvPicPr>
            <a:picLocks noChangeAspect="1"/>
          </p:cNvPicPr>
          <p:nvPr/>
        </p:nvPicPr>
        <p:blipFill>
          <a:blip r:embed="rId2"/>
          <a:stretch>
            <a:fillRect/>
          </a:stretch>
        </p:blipFill>
        <p:spPr>
          <a:xfrm>
            <a:off x="3730752" y="1609344"/>
            <a:ext cx="301752" cy="301752"/>
          </a:xfrm>
          <a:prstGeom prst="rect">
            <a:avLst/>
          </a:prstGeom>
        </p:spPr>
      </p:pic>
      <p:sp>
        <p:nvSpPr>
          <p:cNvPr id="12" name="Text 8"/>
          <p:cNvSpPr txBox="1"/>
          <p:nvPr/>
        </p:nvSpPr>
        <p:spPr>
          <a:xfrm>
            <a:off x="4315968"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2</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Answer first</a:t>
            </a:r>
            <a:endParaRPr lang="en-US" sz="1500" dirty="0"/>
          </a:p>
        </p:txBody>
      </p:sp>
      <p:sp>
        <p:nvSpPr>
          <p:cNvPr id="13" name="Text 9"/>
          <p:cNvSpPr txBox="1"/>
          <p:nvPr/>
        </p:nvSpPr>
        <p:spPr>
          <a:xfrm>
            <a:off x="3538728"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Before your next meeting, write SCQA in 4 lines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Open with the Answer</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Time it: under 30 seconds</a:t>
            </a:r>
            <a:endParaRPr lang="en-US" sz="1400" dirty="0"/>
          </a:p>
        </p:txBody>
      </p:sp>
      <p:sp>
        <p:nvSpPr>
          <p:cNvPr id="14" name="Text 10"/>
          <p:cNvSpPr txBox="1"/>
          <p:nvPr/>
        </p:nvSpPr>
        <p:spPr>
          <a:xfrm>
            <a:off x="3538728"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your manager knows your ask in the first minute</a:t>
            </a:r>
            <a:endParaRPr lang="en-US" sz="1300" dirty="0"/>
          </a:p>
        </p:txBody>
      </p:sp>
      <p:sp>
        <p:nvSpPr>
          <p:cNvPr id="15" name="Shape 11"/>
          <p:cNvSpPr/>
          <p:nvPr/>
        </p:nvSpPr>
        <p:spPr>
          <a:xfrm>
            <a:off x="6163056" y="1234440"/>
            <a:ext cx="2606040" cy="4983480"/>
          </a:xfrm>
          <a:prstGeom prst="roundRect">
            <a:avLst>
              <a:gd name="adj" fmla="val 3509"/>
            </a:avLst>
          </a:prstGeom>
          <a:solidFill>
            <a:srgbClr val="F4F4F4"/>
          </a:solidFill>
          <a:ln w="12700">
            <a:solidFill>
              <a:srgbClr val="E0E0E0"/>
            </a:solidFill>
            <a:prstDash val="solid"/>
          </a:ln>
        </p:spPr>
      </p:sp>
      <p:sp>
        <p:nvSpPr>
          <p:cNvPr id="16" name="Shape 12"/>
          <p:cNvSpPr/>
          <p:nvPr/>
        </p:nvSpPr>
        <p:spPr>
          <a:xfrm>
            <a:off x="6345936" y="1417320"/>
            <a:ext cx="685800" cy="685800"/>
          </a:xfrm>
          <a:prstGeom prst="ellipse">
            <a:avLst/>
          </a:prstGeom>
          <a:solidFill>
            <a:srgbClr val="E3001B"/>
          </a:solidFill>
          <a:ln w="12700">
            <a:solidFill>
              <a:srgbClr val="E3001B"/>
            </a:solidFill>
            <a:prstDash val="solid"/>
          </a:ln>
        </p:spPr>
      </p:sp>
      <p:pic>
        <p:nvPicPr>
          <p:cNvPr id="17" name="Image 2" descr="preencoded.png">    </p:cNvPr>
          <p:cNvPicPr>
            <a:picLocks noChangeAspect="1"/>
          </p:cNvPicPr>
          <p:nvPr/>
        </p:nvPicPr>
        <p:blipFill>
          <a:blip r:embed="rId3"/>
          <a:stretch>
            <a:fillRect/>
          </a:stretch>
        </p:blipFill>
        <p:spPr>
          <a:xfrm>
            <a:off x="6537960" y="1609344"/>
            <a:ext cx="301752" cy="301752"/>
          </a:xfrm>
          <a:prstGeom prst="rect">
            <a:avLst/>
          </a:prstGeom>
        </p:spPr>
      </p:pic>
      <p:sp>
        <p:nvSpPr>
          <p:cNvPr id="18" name="Text 13"/>
          <p:cNvSpPr txBox="1"/>
          <p:nvPr/>
        </p:nvSpPr>
        <p:spPr>
          <a:xfrm>
            <a:off x="7123176"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3</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One chart</a:t>
            </a:r>
            <a:endParaRPr lang="en-US" sz="1500" dirty="0"/>
          </a:p>
        </p:txBody>
      </p:sp>
      <p:sp>
        <p:nvSpPr>
          <p:cNvPr id="19" name="Text 14"/>
          <p:cNvSpPr txBox="1"/>
          <p:nvPr/>
        </p:nvSpPr>
        <p:spPr>
          <a:xfrm>
            <a:off x="6345936"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Pick one chart you use every month</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Delete, grey, highlight</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Move the old version to appendix</a:t>
            </a:r>
            <a:endParaRPr lang="en-US" sz="1400" dirty="0"/>
          </a:p>
        </p:txBody>
      </p:sp>
      <p:sp>
        <p:nvSpPr>
          <p:cNvPr id="20" name="Text 15"/>
          <p:cNvSpPr txBox="1"/>
          <p:nvPr/>
        </p:nvSpPr>
        <p:spPr>
          <a:xfrm>
            <a:off x="6345936"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the new chart is in the real monthly pack</a:t>
            </a:r>
            <a:endParaRPr lang="en-US" sz="1300" dirty="0"/>
          </a:p>
        </p:txBody>
      </p:sp>
      <p:sp>
        <p:nvSpPr>
          <p:cNvPr id="21" name="Shape 16"/>
          <p:cNvSpPr/>
          <p:nvPr/>
        </p:nvSpPr>
        <p:spPr>
          <a:xfrm>
            <a:off x="8970264" y="1234440"/>
            <a:ext cx="2606040" cy="4983480"/>
          </a:xfrm>
          <a:prstGeom prst="roundRect">
            <a:avLst>
              <a:gd name="adj" fmla="val 3509"/>
            </a:avLst>
          </a:prstGeom>
          <a:solidFill>
            <a:srgbClr val="FFFFFF"/>
          </a:solidFill>
          <a:ln w="12700">
            <a:solidFill>
              <a:srgbClr val="E0E0E0"/>
            </a:solidFill>
            <a:prstDash val="solid"/>
          </a:ln>
        </p:spPr>
      </p:sp>
      <p:sp>
        <p:nvSpPr>
          <p:cNvPr id="22" name="Shape 17"/>
          <p:cNvSpPr/>
          <p:nvPr/>
        </p:nvSpPr>
        <p:spPr>
          <a:xfrm>
            <a:off x="9153144" y="1417320"/>
            <a:ext cx="685800" cy="685800"/>
          </a:xfrm>
          <a:prstGeom prst="ellipse">
            <a:avLst/>
          </a:prstGeom>
          <a:solidFill>
            <a:srgbClr val="E3001B"/>
          </a:solidFill>
          <a:ln w="12700">
            <a:solidFill>
              <a:srgbClr val="E3001B"/>
            </a:solidFill>
            <a:prstDash val="solid"/>
          </a:ln>
        </p:spPr>
      </p:sp>
      <p:pic>
        <p:nvPicPr>
          <p:cNvPr id="23" name="Image 3" descr="preencoded.png">    </p:cNvPr>
          <p:cNvPicPr>
            <a:picLocks noChangeAspect="1"/>
          </p:cNvPicPr>
          <p:nvPr/>
        </p:nvPicPr>
        <p:blipFill>
          <a:blip r:embed="rId4"/>
          <a:stretch>
            <a:fillRect/>
          </a:stretch>
        </p:blipFill>
        <p:spPr>
          <a:xfrm>
            <a:off x="9345168" y="1609344"/>
            <a:ext cx="301752" cy="301752"/>
          </a:xfrm>
          <a:prstGeom prst="rect">
            <a:avLst/>
          </a:prstGeom>
        </p:spPr>
      </p:pic>
      <p:sp>
        <p:nvSpPr>
          <p:cNvPr id="24" name="Text 18"/>
          <p:cNvSpPr txBox="1"/>
          <p:nvPr/>
        </p:nvSpPr>
        <p:spPr>
          <a:xfrm>
            <a:off x="9930384" y="1371600"/>
            <a:ext cx="1600200" cy="777240"/>
          </a:xfrm>
          <a:prstGeom prst="rect">
            <a:avLst/>
          </a:prstGeom>
          <a:noFill/>
          <a:ln/>
        </p:spPr>
        <p:txBody>
          <a:bodyPr wrap="square" lIns="635" tIns="635" rIns="635" bIns="635" rtlCol="0" anchor="ctr"/>
          <a:lstStyle/>
          <a:p>
            <a:pPr indent="0" marL="0">
              <a:buNone/>
            </a:pPr>
            <a:r>
              <a:rPr lang="en-US" sz="1400" b="1" dirty="0">
                <a:solidFill>
                  <a:srgbClr val="E3001B"/>
                </a:solidFill>
                <a:latin typeface="Calibri" pitchFamily="34" charset="0"/>
                <a:ea typeface="Calibri" pitchFamily="34" charset="-122"/>
                <a:cs typeface="Calibri" pitchFamily="34" charset="-120"/>
              </a:rPr>
              <a:t>Week 4</a:t>
            </a:r>
            <a:endParaRPr lang="en-US" sz="1500" dirty="0"/>
          </a:p>
          <a:p>
            <a:pPr indent="0" marL="0">
              <a:buNone/>
            </a:pPr>
            <a:r>
              <a:rPr lang="en-US" sz="1900" b="1" dirty="0">
                <a:solidFill>
                  <a:srgbClr val="1A1A1A"/>
                </a:solidFill>
                <a:latin typeface="Calibri" pitchFamily="34" charset="0"/>
                <a:ea typeface="Calibri" pitchFamily="34" charset="-122"/>
                <a:cs typeface="Calibri" pitchFamily="34" charset="-120"/>
              </a:rPr>
              <a:t>Deliver</a:t>
            </a:r>
            <a:endParaRPr lang="en-US" sz="1500" dirty="0"/>
          </a:p>
        </p:txBody>
      </p:sp>
      <p:sp>
        <p:nvSpPr>
          <p:cNvPr id="25" name="Text 19"/>
          <p:cNvSpPr txBox="1"/>
          <p:nvPr/>
        </p:nvSpPr>
        <p:spPr>
          <a:xfrm>
            <a:off x="9153144" y="2331720"/>
            <a:ext cx="2286000" cy="2468880"/>
          </a:xfrm>
          <a:prstGeom prst="rect">
            <a:avLst/>
          </a:prstGeom>
          <a:noFill/>
          <a:ln/>
        </p:spPr>
        <p:txBody>
          <a:bodyPr wrap="square" lIns="635" tIns="635" rIns="635" bIns="635" rtlCol="0" anchor="t"/>
          <a:lstStyle/>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Rehearse a real presentation aloud 3 times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List 5 tough questions and A-A-B answers</a:t>
            </a:r>
            <a:endParaRPr lang="en-US" sz="1400" dirty="0"/>
          </a:p>
          <a:p>
            <a:pPr indent="0" marL="0">
              <a:spcAft>
                <a:spcPts val="800"/>
              </a:spcAft>
              <a:buNone/>
            </a:pPr>
            <a:r>
              <a:rPr lang="en-US" sz="1400" dirty="0">
                <a:solidFill>
                  <a:srgbClr val="1A1A1A"/>
                </a:solidFill>
                <a:latin typeface="Calibri" pitchFamily="34" charset="0"/>
                <a:ea typeface="Calibri" pitchFamily="34" charset="-122"/>
                <a:cs typeface="Calibri" pitchFamily="34" charset="-120"/>
              </a:rPr>
              <a:t>☐  Ask one peer to score you on the feedback form</a:t>
            </a:r>
            <a:endParaRPr lang="en-US" sz="1400" dirty="0"/>
          </a:p>
        </p:txBody>
      </p:sp>
      <p:sp>
        <p:nvSpPr>
          <p:cNvPr id="26" name="Text 20"/>
          <p:cNvSpPr txBox="1"/>
          <p:nvPr/>
        </p:nvSpPr>
        <p:spPr>
          <a:xfrm>
            <a:off x="9153144" y="4937760"/>
            <a:ext cx="2286000" cy="114300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Done when you send your before/after slide to the facilitator</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3001B"/>
                </a:solidFill>
                <a:latin typeface="Calibri"/>
                <a:ea typeface="Calibri"/>
                <a:cs typeface="Calibri"/>
              </a:defRPr>
            </a:lvl1pPr>
          </a:lstStyle>
          <a:p>
            <a:pPr algn="l"/>
            <a:fld id="{F7021451-1387-4CA6-816F-3879F97B5CBC}" type="slidenum">
              <a:rPr b="1" lang="en-US"/>
              <a:t>37</a:t>
            </a:fld>
            <a:endParaRPr lang="en-US"/>
          </a:p>
        </p:txBody>
      </p:sp>
    </p:spTree>
  </p:cSld>
  <p:clrMapOvr>
    <a:masterClrMapping/>
  </p:clrMapOvr>
</p:sld>
</file>

<file path=ppt/theme/theme1.xml><?xml version="1.0" encoding="utf-8"?>
<a:theme xmlns:a="http://schemas.openxmlformats.org/drawingml/2006/main" name="HCI Workshop Red">
  <a:themeElements>
    <a:clrScheme name="HCI Workshop Red">
      <a:dk1>
        <a:srgbClr val="1A1A1A"/>
      </a:dk1>
      <a:lt1>
        <a:srgbClr val="FFFFFF"/>
      </a:lt1>
      <a:dk2>
        <a:srgbClr val="4A4A4A"/>
      </a:dk2>
      <a:lt2>
        <a:srgbClr val="F4F4F4"/>
      </a:lt2>
      <a:accent1>
        <a:srgbClr val="E3001B"/>
      </a:accent1>
      <a:accent2>
        <a:srgbClr val="9E0012"/>
      </a:accent2>
      <a:accent3>
        <a:srgbClr val="8A8A8A"/>
      </a:accent3>
      <a:accent4>
        <a:srgbClr val="F28C96"/>
      </a:accent4>
      <a:accent5>
        <a:srgbClr val="333333"/>
      </a:accent5>
      <a:accent6>
        <a:srgbClr val="D9D9D9"/>
      </a:accent6>
      <a:hlink>
        <a:srgbClr val="E3001B"/>
      </a:hlink>
      <a:folHlink>
        <a:srgbClr val="9E0012"/>
      </a:folHlink>
    </a:clrScheme>
    <a:fontScheme name="HCI Workshop R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Presenting to Decide — HCI Talent Pool Workshop</dc:title>
  <dc:subject>PptxGenJS Presentation</dc:subject>
  <dc:creator>Workshop facilitator</dc:creator>
  <cp:lastModifiedBy>Workshop facilitator</cp:lastModifiedBy>
  <cp:revision>1</cp:revision>
  <dcterms:created xsi:type="dcterms:W3CDTF">2026-10-28T12:14:19Z</dcterms:created>
  <dcterms:modified xsi:type="dcterms:W3CDTF">2026-10-28T12:14:19Z</dcterms:modified>
</cp:coreProperties>
</file>